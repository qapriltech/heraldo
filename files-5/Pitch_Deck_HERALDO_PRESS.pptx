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B8862E"/>
          </a:solidFill>
          <a:ln/>
        </p:spPr>
      </p:sp>
      <p:pic>
        <p:nvPicPr>
          <p:cNvPr id="3" name="Image 0" descr="/home/claude/heraldo/logo_blanc.png">    </p:cNvPr>
          <p:cNvPicPr>
            <a:picLocks noChangeAspect="1"/>
          </p:cNvPicPr>
          <p:nvPr/>
        </p:nvPicPr>
        <p:blipFill>
          <a:blip r:embed="rId1"/>
          <a:stretch>
            <a:fillRect/>
          </a:stretch>
        </p:blipFill>
        <p:spPr>
          <a:xfrm>
            <a:off x="1371600" y="548640"/>
            <a:ext cx="5029200" cy="1554480"/>
          </a:xfrm>
          <a:prstGeom prst="rect">
            <a:avLst/>
          </a:prstGeom>
        </p:spPr>
      </p:pic>
      <p:sp>
        <p:nvSpPr>
          <p:cNvPr id="4" name="Text 1"/>
          <p:cNvSpPr/>
          <p:nvPr/>
        </p:nvSpPr>
        <p:spPr>
          <a:xfrm>
            <a:off x="1371600" y="2560320"/>
            <a:ext cx="10058400" cy="1005840"/>
          </a:xfrm>
          <a:prstGeom prst="rect">
            <a:avLst/>
          </a:prstGeom>
          <a:noFill/>
          <a:ln/>
        </p:spPr>
        <p:txBody>
          <a:bodyPr wrap="square"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Reprenez la main</a:t>
            </a:r>
            <a:endParaRPr lang="en-US" sz="5600" dirty="0"/>
          </a:p>
        </p:txBody>
      </p:sp>
      <p:sp>
        <p:nvSpPr>
          <p:cNvPr id="5" name="Text 2"/>
          <p:cNvSpPr/>
          <p:nvPr/>
        </p:nvSpPr>
        <p:spPr>
          <a:xfrm>
            <a:off x="1371600" y="3474720"/>
            <a:ext cx="10058400" cy="1005840"/>
          </a:xfrm>
          <a:prstGeom prst="rect">
            <a:avLst/>
          </a:prstGeom>
          <a:noFill/>
          <a:ln/>
        </p:spPr>
        <p:txBody>
          <a:bodyPr wrap="square" rtlCol="0" anchor="ctr"/>
          <a:lstStyle/>
          <a:p>
            <a:pPr algn="l" indent="0" marL="0">
              <a:buNone/>
            </a:pPr>
            <a:r>
              <a:rPr lang="en-US" sz="5600" b="1" i="1" dirty="0">
                <a:solidFill>
                  <a:srgbClr val="E5B85C"/>
                </a:solidFill>
                <a:latin typeface="Georgia" pitchFamily="34" charset="0"/>
                <a:ea typeface="Georgia" pitchFamily="34" charset="-122"/>
                <a:cs typeface="Georgia" pitchFamily="34" charset="-120"/>
              </a:rPr>
              <a:t>sur votre voix.</a:t>
            </a:r>
            <a:endParaRPr lang="en-US" sz="5600" dirty="0"/>
          </a:p>
        </p:txBody>
      </p:sp>
      <p:sp>
        <p:nvSpPr>
          <p:cNvPr id="6" name="Text 3"/>
          <p:cNvSpPr/>
          <p:nvPr/>
        </p:nvSpPr>
        <p:spPr>
          <a:xfrm>
            <a:off x="1371600" y="4663440"/>
            <a:ext cx="10058400" cy="548640"/>
          </a:xfrm>
          <a:prstGeom prst="rect">
            <a:avLst/>
          </a:prstGeom>
          <a:noFill/>
          <a:ln/>
        </p:spPr>
        <p:txBody>
          <a:bodyPr wrap="square"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La plateforme de communication médiatique institutionnelle de référence en Afrique de l'Ouest</a:t>
            </a:r>
            <a:endParaRPr lang="en-US" sz="1600" dirty="0"/>
          </a:p>
        </p:txBody>
      </p:sp>
      <p:sp>
        <p:nvSpPr>
          <p:cNvPr id="7" name="Shape 4"/>
          <p:cNvSpPr/>
          <p:nvPr/>
        </p:nvSpPr>
        <p:spPr>
          <a:xfrm>
            <a:off x="1371600" y="5943600"/>
            <a:ext cx="2743200" cy="0"/>
          </a:xfrm>
          <a:prstGeom prst="line">
            <a:avLst/>
          </a:prstGeom>
          <a:noFill/>
          <a:ln w="12700">
            <a:solidFill>
              <a:srgbClr val="B8862E"/>
            </a:solidFill>
            <a:prstDash val="solid"/>
          </a:ln>
        </p:spPr>
      </p:sp>
      <p:sp>
        <p:nvSpPr>
          <p:cNvPr id="8" name="Text 5"/>
          <p:cNvSpPr/>
          <p:nvPr/>
        </p:nvSpPr>
        <p:spPr>
          <a:xfrm>
            <a:off x="1371600" y="6035040"/>
            <a:ext cx="5486400" cy="274320"/>
          </a:xfrm>
          <a:prstGeom prst="rect">
            <a:avLst/>
          </a:prstGeom>
          <a:noFill/>
          <a:ln/>
        </p:spPr>
        <p:txBody>
          <a:bodyPr wrap="square" rtlCol="0" anchor="ctr"/>
          <a:lstStyle/>
          <a:p>
            <a:pPr indent="0" marL="0">
              <a:buNone/>
            </a:pPr>
            <a:r>
              <a:rPr lang="en-US" sz="1100" b="1" spc="400" kern="0" dirty="0">
                <a:solidFill>
                  <a:srgbClr val="B8862E"/>
                </a:solidFill>
                <a:latin typeface="Calibri" pitchFamily="34" charset="0"/>
                <a:ea typeface="Calibri" pitchFamily="34" charset="-122"/>
                <a:cs typeface="Calibri" pitchFamily="34" charset="-120"/>
              </a:rPr>
              <a:t>Pitch deck investisseurs</a:t>
            </a:r>
            <a:endParaRPr lang="en-US" sz="1100" dirty="0"/>
          </a:p>
        </p:txBody>
      </p:sp>
      <p:sp>
        <p:nvSpPr>
          <p:cNvPr id="9" name="Text 6"/>
          <p:cNvSpPr/>
          <p:nvPr/>
        </p:nvSpPr>
        <p:spPr>
          <a:xfrm>
            <a:off x="1371600" y="6355080"/>
            <a:ext cx="7315200" cy="274320"/>
          </a:xfrm>
          <a:prstGeom prst="rect">
            <a:avLst/>
          </a:prstGeom>
          <a:noFill/>
          <a:ln/>
        </p:spPr>
        <p:txBody>
          <a:bodyPr wrap="square" rtlCol="0" anchor="ctr"/>
          <a:lstStyle/>
          <a:p>
            <a:pPr indent="0" marL="0">
              <a:buNone/>
            </a:pPr>
            <a:r>
              <a:rPr lang="en-US" sz="900" dirty="0">
                <a:solidFill>
                  <a:srgbClr val="C5CDD5"/>
                </a:solidFill>
                <a:latin typeface="Calibri" pitchFamily="34" charset="0"/>
                <a:ea typeface="Calibri" pitchFamily="34" charset="-122"/>
                <a:cs typeface="Calibri" pitchFamily="34" charset="-120"/>
              </a:rPr>
              <a:t>Avril 2026  ·  Abidjan, Côte d'Ivoire  ·  Document confidentiel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01  ·  LE PROBLÈME</a:t>
            </a:r>
            <a:endParaRPr lang="en-US" sz="1000" dirty="0"/>
          </a:p>
        </p:txBody>
      </p:sp>
      <p:sp>
        <p:nvSpPr>
          <p:cNvPr id="3" name="Text 1"/>
          <p:cNvSpPr/>
          <p:nvPr/>
        </p:nvSpPr>
        <p:spPr>
          <a:xfrm>
            <a:off x="457200" y="868680"/>
            <a:ext cx="10972800" cy="1280160"/>
          </a:xfrm>
          <a:prstGeom prst="rect">
            <a:avLst/>
          </a:prstGeom>
          <a:noFill/>
          <a:ln/>
        </p:spPr>
        <p:txBody>
          <a:bodyPr wrap="square" rtlCol="0" anchor="ctr"/>
          <a:lstStyle/>
          <a:p>
            <a:pPr indent="0" marL="0">
              <a:lnSpc>
                <a:spcPct val="105000"/>
              </a:lnSpc>
              <a:buNone/>
            </a:pPr>
            <a:r>
              <a:rPr lang="en-US" sz="3600" b="1" dirty="0">
                <a:solidFill>
                  <a:srgbClr val="0A2540"/>
                </a:solidFill>
                <a:latin typeface="Georgia" pitchFamily="34" charset="0"/>
                <a:ea typeface="Georgia" pitchFamily="34" charset="-122"/>
                <a:cs typeface="Georgia" pitchFamily="34" charset="-120"/>
              </a:rPr>
              <a:t>La communication institutionnelle</a:t>
            </a:r>
            <a:endParaRPr lang="en-US" sz="3600" dirty="0"/>
          </a:p>
          <a:p>
            <a:pPr indent="0" marL="0">
              <a:lnSpc>
                <a:spcPct val="105000"/>
              </a:lnSpc>
              <a:buNone/>
            </a:pPr>
            <a:r>
              <a:rPr lang="en-US" sz="3600" b="1" dirty="0">
                <a:solidFill>
                  <a:srgbClr val="0A2540"/>
                </a:solidFill>
                <a:latin typeface="Georgia" pitchFamily="34" charset="0"/>
                <a:ea typeface="Georgia" pitchFamily="34" charset="-122"/>
                <a:cs typeface="Georgia" pitchFamily="34" charset="-120"/>
              </a:rPr>
              <a:t>fonctionne dans le noir.</a:t>
            </a:r>
            <a:endParaRPr lang="en-US" sz="3600" dirty="0"/>
          </a:p>
        </p:txBody>
      </p:sp>
      <p:sp>
        <p:nvSpPr>
          <p:cNvPr id="4" name="Shape 2"/>
          <p:cNvSpPr/>
          <p:nvPr/>
        </p:nvSpPr>
        <p:spPr>
          <a:xfrm>
            <a:off x="457200" y="2468880"/>
            <a:ext cx="5486400" cy="2011680"/>
          </a:xfrm>
          <a:prstGeom prst="rect">
            <a:avLst/>
          </a:prstGeom>
          <a:solidFill>
            <a:srgbClr val="F7F9FB"/>
          </a:solidFill>
          <a:ln/>
        </p:spPr>
      </p:sp>
      <p:sp>
        <p:nvSpPr>
          <p:cNvPr id="5" name="Shape 3"/>
          <p:cNvSpPr/>
          <p:nvPr/>
        </p:nvSpPr>
        <p:spPr>
          <a:xfrm>
            <a:off x="457200" y="2468880"/>
            <a:ext cx="73152" cy="2011680"/>
          </a:xfrm>
          <a:prstGeom prst="rect">
            <a:avLst/>
          </a:prstGeom>
          <a:solidFill>
            <a:srgbClr val="B8862E"/>
          </a:solidFill>
          <a:ln/>
        </p:spPr>
      </p:sp>
      <p:sp>
        <p:nvSpPr>
          <p:cNvPr id="6" name="Text 4"/>
          <p:cNvSpPr/>
          <p:nvPr/>
        </p:nvSpPr>
        <p:spPr>
          <a:xfrm>
            <a:off x="731520" y="2606040"/>
            <a:ext cx="5120640" cy="731520"/>
          </a:xfrm>
          <a:prstGeom prst="rect">
            <a:avLst/>
          </a:prstGeom>
          <a:noFill/>
          <a:ln/>
        </p:spPr>
        <p:txBody>
          <a:bodyPr wrap="square" rtlCol="0" anchor="ctr"/>
          <a:lstStyle/>
          <a:p>
            <a:pPr indent="0" marL="0">
              <a:buNone/>
            </a:pPr>
            <a:r>
              <a:rPr lang="en-US" sz="3600" b="1" dirty="0">
                <a:solidFill>
                  <a:srgbClr val="0A2540"/>
                </a:solidFill>
                <a:latin typeface="Georgia" pitchFamily="34" charset="0"/>
                <a:ea typeface="Georgia" pitchFamily="34" charset="-122"/>
                <a:cs typeface="Georgia" pitchFamily="34" charset="-120"/>
              </a:rPr>
              <a:t>13–30 M</a:t>
            </a:r>
            <a:endParaRPr lang="en-US" sz="3600" dirty="0"/>
          </a:p>
        </p:txBody>
      </p:sp>
      <p:sp>
        <p:nvSpPr>
          <p:cNvPr id="7" name="Text 5"/>
          <p:cNvSpPr/>
          <p:nvPr/>
        </p:nvSpPr>
        <p:spPr>
          <a:xfrm>
            <a:off x="731520" y="3246120"/>
            <a:ext cx="5120640" cy="365760"/>
          </a:xfrm>
          <a:prstGeom prst="rect">
            <a:avLst/>
          </a:prstGeom>
          <a:noFill/>
          <a:ln/>
        </p:spPr>
        <p:txBody>
          <a:bodyPr wrap="square" rtlCol="0" anchor="ctr"/>
          <a:lstStyle/>
          <a:p>
            <a:pPr indent="0" marL="0">
              <a:buNone/>
            </a:pPr>
            <a:r>
              <a:rPr lang="en-US" sz="1100" b="1" spc="200" kern="0" dirty="0">
                <a:solidFill>
                  <a:srgbClr val="B8862E"/>
                </a:solidFill>
                <a:latin typeface="Calibri" pitchFamily="34" charset="0"/>
                <a:ea typeface="Calibri" pitchFamily="34" charset="-122"/>
                <a:cs typeface="Calibri" pitchFamily="34" charset="-120"/>
              </a:rPr>
              <a:t>FCFA / an</a:t>
            </a:r>
            <a:endParaRPr lang="en-US" sz="1100" dirty="0"/>
          </a:p>
        </p:txBody>
      </p:sp>
      <p:sp>
        <p:nvSpPr>
          <p:cNvPr id="8" name="Text 6"/>
          <p:cNvSpPr/>
          <p:nvPr/>
        </p:nvSpPr>
        <p:spPr>
          <a:xfrm>
            <a:off x="731520" y="3611880"/>
            <a:ext cx="5120640" cy="82296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dépensés en réalité par une commune</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moyenne en CI — éclatés dans 8 lignes</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budgétaires invisibles</a:t>
            </a:r>
            <a:endParaRPr lang="en-US" sz="1000" dirty="0"/>
          </a:p>
        </p:txBody>
      </p:sp>
      <p:sp>
        <p:nvSpPr>
          <p:cNvPr id="9" name="Shape 7"/>
          <p:cNvSpPr/>
          <p:nvPr/>
        </p:nvSpPr>
        <p:spPr>
          <a:xfrm>
            <a:off x="6126480" y="2468880"/>
            <a:ext cx="5486400" cy="2011680"/>
          </a:xfrm>
          <a:prstGeom prst="rect">
            <a:avLst/>
          </a:prstGeom>
          <a:solidFill>
            <a:srgbClr val="F7F9FB"/>
          </a:solidFill>
          <a:ln/>
        </p:spPr>
      </p:sp>
      <p:sp>
        <p:nvSpPr>
          <p:cNvPr id="10" name="Shape 8"/>
          <p:cNvSpPr/>
          <p:nvPr/>
        </p:nvSpPr>
        <p:spPr>
          <a:xfrm>
            <a:off x="6126480" y="2468880"/>
            <a:ext cx="73152" cy="2011680"/>
          </a:xfrm>
          <a:prstGeom prst="rect">
            <a:avLst/>
          </a:prstGeom>
          <a:solidFill>
            <a:srgbClr val="B8862E"/>
          </a:solidFill>
          <a:ln/>
        </p:spPr>
      </p:sp>
      <p:sp>
        <p:nvSpPr>
          <p:cNvPr id="11" name="Text 9"/>
          <p:cNvSpPr/>
          <p:nvPr/>
        </p:nvSpPr>
        <p:spPr>
          <a:xfrm>
            <a:off x="6400800" y="2606040"/>
            <a:ext cx="5120640" cy="731520"/>
          </a:xfrm>
          <a:prstGeom prst="rect">
            <a:avLst/>
          </a:prstGeom>
          <a:noFill/>
          <a:ln/>
        </p:spPr>
        <p:txBody>
          <a:bodyPr wrap="square" rtlCol="0" anchor="ctr"/>
          <a:lstStyle/>
          <a:p>
            <a:pPr indent="0" marL="0">
              <a:buNone/>
            </a:pPr>
            <a:r>
              <a:rPr lang="en-US" sz="3600" b="1" dirty="0">
                <a:solidFill>
                  <a:srgbClr val="0A2540"/>
                </a:solidFill>
                <a:latin typeface="Georgia" pitchFamily="34" charset="0"/>
                <a:ea typeface="Georgia" pitchFamily="34" charset="-122"/>
                <a:cs typeface="Georgia" pitchFamily="34" charset="-120"/>
              </a:rPr>
              <a:t>&lt; 20%</a:t>
            </a:r>
            <a:endParaRPr lang="en-US" sz="3600" dirty="0"/>
          </a:p>
        </p:txBody>
      </p:sp>
      <p:sp>
        <p:nvSpPr>
          <p:cNvPr id="12" name="Text 10"/>
          <p:cNvSpPr/>
          <p:nvPr/>
        </p:nvSpPr>
        <p:spPr>
          <a:xfrm>
            <a:off x="6400800" y="3246120"/>
            <a:ext cx="5120640" cy="365760"/>
          </a:xfrm>
          <a:prstGeom prst="rect">
            <a:avLst/>
          </a:prstGeom>
          <a:noFill/>
          <a:ln/>
        </p:spPr>
        <p:txBody>
          <a:bodyPr wrap="square" rtlCol="0" anchor="ctr"/>
          <a:lstStyle/>
          <a:p>
            <a:pPr indent="0" marL="0">
              <a:buNone/>
            </a:pPr>
            <a:r>
              <a:rPr lang="en-US" sz="1100" b="1" spc="200" kern="0" dirty="0">
                <a:solidFill>
                  <a:srgbClr val="B8862E"/>
                </a:solidFill>
                <a:latin typeface="Calibri" pitchFamily="34" charset="0"/>
                <a:ea typeface="Calibri" pitchFamily="34" charset="-122"/>
                <a:cs typeface="Calibri" pitchFamily="34" charset="-120"/>
              </a:rPr>
              <a:t>Taux de publication</a:t>
            </a:r>
            <a:endParaRPr lang="en-US" sz="1100" dirty="0"/>
          </a:p>
        </p:txBody>
      </p:sp>
      <p:sp>
        <p:nvSpPr>
          <p:cNvPr id="13" name="Text 11"/>
          <p:cNvSpPr/>
          <p:nvPr/>
        </p:nvSpPr>
        <p:spPr>
          <a:xfrm>
            <a:off x="6400800" y="3611880"/>
            <a:ext cx="5120640" cy="82296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des communiqués envoyés par WhatsApp</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finissent réellement publiés dans la presse</a:t>
            </a:r>
            <a:endParaRPr lang="en-US" sz="1000" dirty="0"/>
          </a:p>
        </p:txBody>
      </p:sp>
      <p:sp>
        <p:nvSpPr>
          <p:cNvPr id="14" name="Shape 12"/>
          <p:cNvSpPr/>
          <p:nvPr/>
        </p:nvSpPr>
        <p:spPr>
          <a:xfrm>
            <a:off x="457200" y="4663440"/>
            <a:ext cx="5486400" cy="2011680"/>
          </a:xfrm>
          <a:prstGeom prst="rect">
            <a:avLst/>
          </a:prstGeom>
          <a:solidFill>
            <a:srgbClr val="F7F9FB"/>
          </a:solidFill>
          <a:ln/>
        </p:spPr>
      </p:sp>
      <p:sp>
        <p:nvSpPr>
          <p:cNvPr id="15" name="Shape 13"/>
          <p:cNvSpPr/>
          <p:nvPr/>
        </p:nvSpPr>
        <p:spPr>
          <a:xfrm>
            <a:off x="457200" y="4663440"/>
            <a:ext cx="73152" cy="2011680"/>
          </a:xfrm>
          <a:prstGeom prst="rect">
            <a:avLst/>
          </a:prstGeom>
          <a:solidFill>
            <a:srgbClr val="B8862E"/>
          </a:solidFill>
          <a:ln/>
        </p:spPr>
      </p:sp>
      <p:sp>
        <p:nvSpPr>
          <p:cNvPr id="16" name="Text 14"/>
          <p:cNvSpPr/>
          <p:nvPr/>
        </p:nvSpPr>
        <p:spPr>
          <a:xfrm>
            <a:off x="731520" y="4800600"/>
            <a:ext cx="5120640" cy="731520"/>
          </a:xfrm>
          <a:prstGeom prst="rect">
            <a:avLst/>
          </a:prstGeom>
          <a:noFill/>
          <a:ln/>
        </p:spPr>
        <p:txBody>
          <a:bodyPr wrap="square" rtlCol="0" anchor="ctr"/>
          <a:lstStyle/>
          <a:p>
            <a:pPr indent="0" marL="0">
              <a:buNone/>
            </a:pPr>
            <a:r>
              <a:rPr lang="en-US" sz="3600" b="1" dirty="0">
                <a:solidFill>
                  <a:srgbClr val="0A2540"/>
                </a:solidFill>
                <a:latin typeface="Georgia" pitchFamily="34" charset="0"/>
                <a:ea typeface="Georgia" pitchFamily="34" charset="-122"/>
                <a:cs typeface="Georgia" pitchFamily="34" charset="-120"/>
              </a:rPr>
              <a:t>0</a:t>
            </a:r>
            <a:endParaRPr lang="en-US" sz="3600" dirty="0"/>
          </a:p>
        </p:txBody>
      </p:sp>
      <p:sp>
        <p:nvSpPr>
          <p:cNvPr id="17" name="Text 15"/>
          <p:cNvSpPr/>
          <p:nvPr/>
        </p:nvSpPr>
        <p:spPr>
          <a:xfrm>
            <a:off x="731520" y="5440680"/>
            <a:ext cx="5120640" cy="365760"/>
          </a:xfrm>
          <a:prstGeom prst="rect">
            <a:avLst/>
          </a:prstGeom>
          <a:noFill/>
          <a:ln/>
        </p:spPr>
        <p:txBody>
          <a:bodyPr wrap="square" rtlCol="0" anchor="ctr"/>
          <a:lstStyle/>
          <a:p>
            <a:pPr indent="0" marL="0">
              <a:buNone/>
            </a:pPr>
            <a:r>
              <a:rPr lang="en-US" sz="1100" b="1" spc="200" kern="0" dirty="0">
                <a:solidFill>
                  <a:srgbClr val="B8862E"/>
                </a:solidFill>
                <a:latin typeface="Calibri" pitchFamily="34" charset="0"/>
                <a:ea typeface="Calibri" pitchFamily="34" charset="-122"/>
                <a:cs typeface="Calibri" pitchFamily="34" charset="-120"/>
              </a:rPr>
              <a:t>Mesure d'impact</a:t>
            </a:r>
            <a:endParaRPr lang="en-US" sz="1100" dirty="0"/>
          </a:p>
        </p:txBody>
      </p:sp>
      <p:sp>
        <p:nvSpPr>
          <p:cNvPr id="18" name="Text 16"/>
          <p:cNvSpPr/>
          <p:nvPr/>
        </p:nvSpPr>
        <p:spPr>
          <a:xfrm>
            <a:off x="731520" y="5806440"/>
            <a:ext cx="5120640" cy="82296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Aucun outil de reporting consolidé.</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Aucune justification possible du budget</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communication.</a:t>
            </a:r>
            <a:endParaRPr lang="en-US" sz="1000" dirty="0"/>
          </a:p>
        </p:txBody>
      </p:sp>
      <p:sp>
        <p:nvSpPr>
          <p:cNvPr id="19" name="Shape 17"/>
          <p:cNvSpPr/>
          <p:nvPr/>
        </p:nvSpPr>
        <p:spPr>
          <a:xfrm>
            <a:off x="6126480" y="4663440"/>
            <a:ext cx="5486400" cy="2011680"/>
          </a:xfrm>
          <a:prstGeom prst="rect">
            <a:avLst/>
          </a:prstGeom>
          <a:solidFill>
            <a:srgbClr val="F7F9FB"/>
          </a:solidFill>
          <a:ln/>
        </p:spPr>
      </p:sp>
      <p:sp>
        <p:nvSpPr>
          <p:cNvPr id="20" name="Shape 18"/>
          <p:cNvSpPr/>
          <p:nvPr/>
        </p:nvSpPr>
        <p:spPr>
          <a:xfrm>
            <a:off x="6126480" y="4663440"/>
            <a:ext cx="73152" cy="2011680"/>
          </a:xfrm>
          <a:prstGeom prst="rect">
            <a:avLst/>
          </a:prstGeom>
          <a:solidFill>
            <a:srgbClr val="B8862E"/>
          </a:solidFill>
          <a:ln/>
        </p:spPr>
      </p:sp>
      <p:sp>
        <p:nvSpPr>
          <p:cNvPr id="21" name="Text 19"/>
          <p:cNvSpPr/>
          <p:nvPr/>
        </p:nvSpPr>
        <p:spPr>
          <a:xfrm>
            <a:off x="6400800" y="4800600"/>
            <a:ext cx="5120640" cy="731520"/>
          </a:xfrm>
          <a:prstGeom prst="rect">
            <a:avLst/>
          </a:prstGeom>
          <a:noFill/>
          <a:ln/>
        </p:spPr>
        <p:txBody>
          <a:bodyPr wrap="square" rtlCol="0" anchor="ctr"/>
          <a:lstStyle/>
          <a:p>
            <a:pPr indent="0" marL="0">
              <a:buNone/>
            </a:pPr>
            <a:r>
              <a:rPr lang="en-US" sz="3600" b="1" dirty="0">
                <a:solidFill>
                  <a:srgbClr val="0A2540"/>
                </a:solidFill>
                <a:latin typeface="Georgia" pitchFamily="34" charset="0"/>
                <a:ea typeface="Georgia" pitchFamily="34" charset="-122"/>
                <a:cs typeface="Georgia" pitchFamily="34" charset="-120"/>
              </a:rPr>
              <a:t>0</a:t>
            </a:r>
            <a:endParaRPr lang="en-US" sz="3600" dirty="0"/>
          </a:p>
        </p:txBody>
      </p:sp>
      <p:sp>
        <p:nvSpPr>
          <p:cNvPr id="22" name="Text 20"/>
          <p:cNvSpPr/>
          <p:nvPr/>
        </p:nvSpPr>
        <p:spPr>
          <a:xfrm>
            <a:off x="6400800" y="5440680"/>
            <a:ext cx="5120640" cy="365760"/>
          </a:xfrm>
          <a:prstGeom prst="rect">
            <a:avLst/>
          </a:prstGeom>
          <a:noFill/>
          <a:ln/>
        </p:spPr>
        <p:txBody>
          <a:bodyPr wrap="square" rtlCol="0" anchor="ctr"/>
          <a:lstStyle/>
          <a:p>
            <a:pPr indent="0" marL="0">
              <a:buNone/>
            </a:pPr>
            <a:r>
              <a:rPr lang="en-US" sz="1100" b="1" spc="200" kern="0" dirty="0">
                <a:solidFill>
                  <a:srgbClr val="B8862E"/>
                </a:solidFill>
                <a:latin typeface="Calibri" pitchFamily="34" charset="0"/>
                <a:ea typeface="Calibri" pitchFamily="34" charset="-122"/>
                <a:cs typeface="Calibri" pitchFamily="34" charset="-120"/>
              </a:rPr>
              <a:t>Traçabilité per diem</a:t>
            </a:r>
            <a:endParaRPr lang="en-US" sz="1100" dirty="0"/>
          </a:p>
        </p:txBody>
      </p:sp>
      <p:sp>
        <p:nvSpPr>
          <p:cNvPr id="23" name="Text 21"/>
          <p:cNvSpPr/>
          <p:nvPr/>
        </p:nvSpPr>
        <p:spPr>
          <a:xfrm>
            <a:off x="6400800" y="5806440"/>
            <a:ext cx="5120640" cy="82296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Cash versé avant l'événement, sans</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garantie ni preuve, sans recours</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en cas de non-publication</a:t>
            </a:r>
            <a:endParaRPr lang="en-US" sz="1000" dirty="0"/>
          </a:p>
        </p:txBody>
      </p:sp>
      <p:sp>
        <p:nvSpPr>
          <p:cNvPr id="24" name="Text 22"/>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02  ·  POURQUOI MAINTENANT</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Trois fenêtres alignées qui ne se rouvriront pas.</a:t>
            </a:r>
            <a:endParaRPr lang="en-US" sz="3200" dirty="0"/>
          </a:p>
        </p:txBody>
      </p:sp>
      <p:sp>
        <p:nvSpPr>
          <p:cNvPr id="4" name="Shape 2"/>
          <p:cNvSpPr/>
          <p:nvPr/>
        </p:nvSpPr>
        <p:spPr>
          <a:xfrm>
            <a:off x="457200" y="2286000"/>
            <a:ext cx="3657600" cy="45720"/>
          </a:xfrm>
          <a:prstGeom prst="rect">
            <a:avLst/>
          </a:prstGeom>
          <a:solidFill>
            <a:srgbClr val="B8862E"/>
          </a:solidFill>
          <a:ln/>
        </p:spPr>
      </p:sp>
      <p:sp>
        <p:nvSpPr>
          <p:cNvPr id="5" name="Text 3"/>
          <p:cNvSpPr/>
          <p:nvPr/>
        </p:nvSpPr>
        <p:spPr>
          <a:xfrm>
            <a:off x="457200" y="2468880"/>
            <a:ext cx="3657600" cy="640080"/>
          </a:xfrm>
          <a:prstGeom prst="rect">
            <a:avLst/>
          </a:prstGeom>
          <a:noFill/>
          <a:ln/>
        </p:spPr>
        <p:txBody>
          <a:bodyPr wrap="square" rtlCol="0" anchor="ctr"/>
          <a:lstStyle/>
          <a:p>
            <a:pPr indent="0" marL="0">
              <a:buNone/>
            </a:pPr>
            <a:r>
              <a:rPr lang="en-US" sz="3600" b="1" dirty="0">
                <a:solidFill>
                  <a:srgbClr val="B8862E"/>
                </a:solidFill>
                <a:latin typeface="Georgia" pitchFamily="34" charset="0"/>
                <a:ea typeface="Georgia" pitchFamily="34" charset="-122"/>
                <a:cs typeface="Georgia" pitchFamily="34" charset="-120"/>
              </a:rPr>
              <a:t>01</a:t>
            </a:r>
            <a:endParaRPr lang="en-US" sz="3600" dirty="0"/>
          </a:p>
        </p:txBody>
      </p:sp>
      <p:sp>
        <p:nvSpPr>
          <p:cNvPr id="6" name="Text 4"/>
          <p:cNvSpPr/>
          <p:nvPr/>
        </p:nvSpPr>
        <p:spPr>
          <a:xfrm>
            <a:off x="457200" y="3200400"/>
            <a:ext cx="3657600" cy="365760"/>
          </a:xfrm>
          <a:prstGeom prst="rect">
            <a:avLst/>
          </a:prstGeom>
          <a:noFill/>
          <a:ln/>
        </p:spPr>
        <p:txBody>
          <a:bodyPr wrap="square" rtlCol="0" anchor="ctr"/>
          <a:lstStyle/>
          <a:p>
            <a:pPr indent="0" marL="0">
              <a:buNone/>
            </a:pPr>
            <a:r>
              <a:rPr lang="en-US" sz="1400" b="1" spc="400" kern="0" dirty="0">
                <a:solidFill>
                  <a:srgbClr val="0A2540"/>
                </a:solidFill>
                <a:latin typeface="Calibri" pitchFamily="34" charset="0"/>
                <a:ea typeface="Calibri" pitchFamily="34" charset="-122"/>
                <a:cs typeface="Calibri" pitchFamily="34" charset="-120"/>
              </a:rPr>
              <a:t>TECHNIQUE</a:t>
            </a:r>
            <a:endParaRPr lang="en-US" sz="1400" dirty="0"/>
          </a:p>
        </p:txBody>
      </p:sp>
      <p:sp>
        <p:nvSpPr>
          <p:cNvPr id="7" name="Text 5"/>
          <p:cNvSpPr/>
          <p:nvPr/>
        </p:nvSpPr>
        <p:spPr>
          <a:xfrm>
            <a:off x="457200" y="3657600"/>
            <a:ext cx="3657600" cy="2286000"/>
          </a:xfrm>
          <a:prstGeom prst="rect">
            <a:avLst/>
          </a:prstGeom>
          <a:noFill/>
          <a:ln/>
        </p:spPr>
        <p:txBody>
          <a:bodyPr wrap="square" rtlCol="0" anchor="ctr"/>
          <a:lstStyle/>
          <a:p>
            <a:pPr indent="0" marL="0">
              <a:buNone/>
            </a:pPr>
            <a:r>
              <a:rPr lang="en-US" sz="1200" dirty="0">
                <a:solidFill>
                  <a:srgbClr val="5A6470"/>
                </a:solidFill>
                <a:latin typeface="Calibri" pitchFamily="34" charset="0"/>
                <a:ea typeface="Calibri" pitchFamily="34" charset="-122"/>
                <a:cs typeface="Calibri" pitchFamily="34" charset="-120"/>
              </a:rPr>
              <a:t>Pénétration Mobile Money massive (Wave, Orange, MTN, Moov). Les paiements digitaux conditionnés sont devenus un standard accepté.</a:t>
            </a:r>
            <a:endParaRPr lang="en-US" sz="1200" dirty="0"/>
          </a:p>
        </p:txBody>
      </p:sp>
      <p:sp>
        <p:nvSpPr>
          <p:cNvPr id="8" name="Shape 6"/>
          <p:cNvSpPr/>
          <p:nvPr/>
        </p:nvSpPr>
        <p:spPr>
          <a:xfrm>
            <a:off x="4297680" y="2286000"/>
            <a:ext cx="3657600" cy="45720"/>
          </a:xfrm>
          <a:prstGeom prst="rect">
            <a:avLst/>
          </a:prstGeom>
          <a:solidFill>
            <a:srgbClr val="B8862E"/>
          </a:solidFill>
          <a:ln/>
        </p:spPr>
      </p:sp>
      <p:sp>
        <p:nvSpPr>
          <p:cNvPr id="9" name="Text 7"/>
          <p:cNvSpPr/>
          <p:nvPr/>
        </p:nvSpPr>
        <p:spPr>
          <a:xfrm>
            <a:off x="4297680" y="2468880"/>
            <a:ext cx="3657600" cy="640080"/>
          </a:xfrm>
          <a:prstGeom prst="rect">
            <a:avLst/>
          </a:prstGeom>
          <a:noFill/>
          <a:ln/>
        </p:spPr>
        <p:txBody>
          <a:bodyPr wrap="square" rtlCol="0" anchor="ctr"/>
          <a:lstStyle/>
          <a:p>
            <a:pPr indent="0" marL="0">
              <a:buNone/>
            </a:pPr>
            <a:r>
              <a:rPr lang="en-US" sz="3600" b="1" dirty="0">
                <a:solidFill>
                  <a:srgbClr val="B8862E"/>
                </a:solidFill>
                <a:latin typeface="Georgia" pitchFamily="34" charset="0"/>
                <a:ea typeface="Georgia" pitchFamily="34" charset="-122"/>
                <a:cs typeface="Georgia" pitchFamily="34" charset="-120"/>
              </a:rPr>
              <a:t>02</a:t>
            </a:r>
            <a:endParaRPr lang="en-US" sz="3600" dirty="0"/>
          </a:p>
        </p:txBody>
      </p:sp>
      <p:sp>
        <p:nvSpPr>
          <p:cNvPr id="10" name="Text 8"/>
          <p:cNvSpPr/>
          <p:nvPr/>
        </p:nvSpPr>
        <p:spPr>
          <a:xfrm>
            <a:off x="4297680" y="3200400"/>
            <a:ext cx="3657600" cy="365760"/>
          </a:xfrm>
          <a:prstGeom prst="rect">
            <a:avLst/>
          </a:prstGeom>
          <a:noFill/>
          <a:ln/>
        </p:spPr>
        <p:txBody>
          <a:bodyPr wrap="square" rtlCol="0" anchor="ctr"/>
          <a:lstStyle/>
          <a:p>
            <a:pPr indent="0" marL="0">
              <a:buNone/>
            </a:pPr>
            <a:r>
              <a:rPr lang="en-US" sz="1400" b="1" spc="400" kern="0" dirty="0">
                <a:solidFill>
                  <a:srgbClr val="0A2540"/>
                </a:solidFill>
                <a:latin typeface="Calibri" pitchFamily="34" charset="0"/>
                <a:ea typeface="Calibri" pitchFamily="34" charset="-122"/>
                <a:cs typeface="Calibri" pitchFamily="34" charset="-120"/>
              </a:rPr>
              <a:t>RÉGLEMENTAIRE</a:t>
            </a:r>
            <a:endParaRPr lang="en-US" sz="1400" dirty="0"/>
          </a:p>
        </p:txBody>
      </p:sp>
      <p:sp>
        <p:nvSpPr>
          <p:cNvPr id="11" name="Text 9"/>
          <p:cNvSpPr/>
          <p:nvPr/>
        </p:nvSpPr>
        <p:spPr>
          <a:xfrm>
            <a:off x="4297680" y="3657600"/>
            <a:ext cx="3657600" cy="2286000"/>
          </a:xfrm>
          <a:prstGeom prst="rect">
            <a:avLst/>
          </a:prstGeom>
          <a:noFill/>
          <a:ln/>
        </p:spPr>
        <p:txBody>
          <a:bodyPr wrap="square" rtlCol="0" anchor="ctr"/>
          <a:lstStyle/>
          <a:p>
            <a:pPr indent="0" marL="0">
              <a:buNone/>
            </a:pPr>
            <a:r>
              <a:rPr lang="en-US" sz="1200" dirty="0">
                <a:solidFill>
                  <a:srgbClr val="5A6470"/>
                </a:solidFill>
                <a:latin typeface="Calibri" pitchFamily="34" charset="0"/>
                <a:ea typeface="Calibri" pitchFamily="34" charset="-122"/>
                <a:cs typeface="Calibri" pitchFamily="34" charset="-120"/>
              </a:rPr>
              <a:t>Instruction BCEAO 001-01-2024 sécurise les transactions. Loi CI N°2013-450 cadre les données personnelles. Le cadre est mature.</a:t>
            </a:r>
            <a:endParaRPr lang="en-US" sz="1200" dirty="0"/>
          </a:p>
        </p:txBody>
      </p:sp>
      <p:sp>
        <p:nvSpPr>
          <p:cNvPr id="12" name="Shape 10"/>
          <p:cNvSpPr/>
          <p:nvPr/>
        </p:nvSpPr>
        <p:spPr>
          <a:xfrm>
            <a:off x="8138160" y="2286000"/>
            <a:ext cx="3657600" cy="45720"/>
          </a:xfrm>
          <a:prstGeom prst="rect">
            <a:avLst/>
          </a:prstGeom>
          <a:solidFill>
            <a:srgbClr val="B8862E"/>
          </a:solidFill>
          <a:ln/>
        </p:spPr>
      </p:sp>
      <p:sp>
        <p:nvSpPr>
          <p:cNvPr id="13" name="Text 11"/>
          <p:cNvSpPr/>
          <p:nvPr/>
        </p:nvSpPr>
        <p:spPr>
          <a:xfrm>
            <a:off x="8138160" y="2468880"/>
            <a:ext cx="3657600" cy="640080"/>
          </a:xfrm>
          <a:prstGeom prst="rect">
            <a:avLst/>
          </a:prstGeom>
          <a:noFill/>
          <a:ln/>
        </p:spPr>
        <p:txBody>
          <a:bodyPr wrap="square" rtlCol="0" anchor="ctr"/>
          <a:lstStyle/>
          <a:p>
            <a:pPr indent="0" marL="0">
              <a:buNone/>
            </a:pPr>
            <a:r>
              <a:rPr lang="en-US" sz="3600" b="1" dirty="0">
                <a:solidFill>
                  <a:srgbClr val="B8862E"/>
                </a:solidFill>
                <a:latin typeface="Georgia" pitchFamily="34" charset="0"/>
                <a:ea typeface="Georgia" pitchFamily="34" charset="-122"/>
                <a:cs typeface="Georgia" pitchFamily="34" charset="-120"/>
              </a:rPr>
              <a:t>03</a:t>
            </a:r>
            <a:endParaRPr lang="en-US" sz="3600" dirty="0"/>
          </a:p>
        </p:txBody>
      </p:sp>
      <p:sp>
        <p:nvSpPr>
          <p:cNvPr id="14" name="Text 12"/>
          <p:cNvSpPr/>
          <p:nvPr/>
        </p:nvSpPr>
        <p:spPr>
          <a:xfrm>
            <a:off x="8138160" y="3200400"/>
            <a:ext cx="3657600" cy="365760"/>
          </a:xfrm>
          <a:prstGeom prst="rect">
            <a:avLst/>
          </a:prstGeom>
          <a:noFill/>
          <a:ln/>
        </p:spPr>
        <p:txBody>
          <a:bodyPr wrap="square" rtlCol="0" anchor="ctr"/>
          <a:lstStyle/>
          <a:p>
            <a:pPr indent="0" marL="0">
              <a:buNone/>
            </a:pPr>
            <a:r>
              <a:rPr lang="en-US" sz="1400" b="1" spc="400" kern="0" dirty="0">
                <a:solidFill>
                  <a:srgbClr val="0A2540"/>
                </a:solidFill>
                <a:latin typeface="Calibri" pitchFamily="34" charset="0"/>
                <a:ea typeface="Calibri" pitchFamily="34" charset="-122"/>
                <a:cs typeface="Calibri" pitchFamily="34" charset="-120"/>
              </a:rPr>
              <a:t>POLITIQUE</a:t>
            </a:r>
            <a:endParaRPr lang="en-US" sz="1400" dirty="0"/>
          </a:p>
        </p:txBody>
      </p:sp>
      <p:sp>
        <p:nvSpPr>
          <p:cNvPr id="15" name="Text 13"/>
          <p:cNvSpPr/>
          <p:nvPr/>
        </p:nvSpPr>
        <p:spPr>
          <a:xfrm>
            <a:off x="8138160" y="3657600"/>
            <a:ext cx="3657600" cy="2286000"/>
          </a:xfrm>
          <a:prstGeom prst="rect">
            <a:avLst/>
          </a:prstGeom>
          <a:noFill/>
          <a:ln/>
        </p:spPr>
        <p:txBody>
          <a:bodyPr wrap="square" rtlCol="0" anchor="ctr"/>
          <a:lstStyle/>
          <a:p>
            <a:pPr indent="0" marL="0">
              <a:buNone/>
            </a:pPr>
            <a:r>
              <a:rPr lang="en-US" sz="1200" dirty="0">
                <a:solidFill>
                  <a:srgbClr val="5A6470"/>
                </a:solidFill>
                <a:latin typeface="Calibri" pitchFamily="34" charset="0"/>
                <a:ea typeface="Calibri" pitchFamily="34" charset="-122"/>
                <a:cs typeface="Calibri" pitchFamily="34" charset="-120"/>
              </a:rPr>
              <a:t>Pression croissante de redevabilité sur les élus et institutions. La demande de transparence budgétaire devient un argument électoral.</a:t>
            </a:r>
            <a:endParaRPr lang="en-US" sz="1200" dirty="0"/>
          </a:p>
        </p:txBody>
      </p:sp>
      <p:sp>
        <p:nvSpPr>
          <p:cNvPr id="16" name="Text 14"/>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E5B85C"/>
                </a:solidFill>
                <a:latin typeface="Calibri" pitchFamily="34" charset="0"/>
                <a:ea typeface="Calibri" pitchFamily="34" charset="-122"/>
                <a:cs typeface="Calibri" pitchFamily="34" charset="-120"/>
              </a:rPr>
              <a:t>03  ·  LA SOLUTION</a:t>
            </a:r>
            <a:endParaRPr lang="en-US" sz="1000" dirty="0"/>
          </a:p>
        </p:txBody>
      </p:sp>
      <p:sp>
        <p:nvSpPr>
          <p:cNvPr id="3" name="Text 1"/>
          <p:cNvSpPr/>
          <p:nvPr/>
        </p:nvSpPr>
        <p:spPr>
          <a:xfrm>
            <a:off x="457200" y="868680"/>
            <a:ext cx="109728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HERALDO PRESS</a:t>
            </a:r>
            <a:endParaRPr lang="en-US" sz="4800" dirty="0"/>
          </a:p>
        </p:txBody>
      </p:sp>
      <p:sp>
        <p:nvSpPr>
          <p:cNvPr id="4" name="Text 2"/>
          <p:cNvSpPr/>
          <p:nvPr/>
        </p:nvSpPr>
        <p:spPr>
          <a:xfrm>
            <a:off x="457200" y="1783080"/>
            <a:ext cx="10972800" cy="548640"/>
          </a:xfrm>
          <a:prstGeom prst="rect">
            <a:avLst/>
          </a:prstGeom>
          <a:noFill/>
          <a:ln/>
        </p:spPr>
        <p:txBody>
          <a:bodyPr wrap="square" rtlCol="0" anchor="ctr"/>
          <a:lstStyle/>
          <a:p>
            <a:pPr indent="0" marL="0">
              <a:buNone/>
            </a:pPr>
            <a:r>
              <a:rPr lang="en-US" sz="2000" i="1" dirty="0">
                <a:solidFill>
                  <a:srgbClr val="E5B85C"/>
                </a:solidFill>
                <a:latin typeface="Georgia" pitchFamily="34" charset="0"/>
                <a:ea typeface="Georgia" pitchFamily="34" charset="-122"/>
                <a:cs typeface="Georgia" pitchFamily="34" charset="-120"/>
              </a:rPr>
              <a:t>L'infrastructure de communication médiatique institutionnelle.</a:t>
            </a:r>
            <a:endParaRPr lang="en-US" sz="2000" dirty="0"/>
          </a:p>
        </p:txBody>
      </p:sp>
      <p:sp>
        <p:nvSpPr>
          <p:cNvPr id="5" name="Shape 3"/>
          <p:cNvSpPr/>
          <p:nvPr/>
        </p:nvSpPr>
        <p:spPr>
          <a:xfrm>
            <a:off x="457200" y="2606040"/>
            <a:ext cx="1828800" cy="0"/>
          </a:xfrm>
          <a:prstGeom prst="line">
            <a:avLst/>
          </a:prstGeom>
          <a:noFill/>
          <a:ln w="12700">
            <a:solidFill>
              <a:srgbClr val="B8862E"/>
            </a:solidFill>
            <a:prstDash val="solid"/>
          </a:ln>
        </p:spPr>
      </p:sp>
      <p:sp>
        <p:nvSpPr>
          <p:cNvPr id="6" name="Text 4"/>
          <p:cNvSpPr/>
          <p:nvPr/>
        </p:nvSpPr>
        <p:spPr>
          <a:xfrm>
            <a:off x="457200" y="2834640"/>
            <a:ext cx="10972800" cy="1371600"/>
          </a:xfrm>
          <a:prstGeom prst="rect">
            <a:avLst/>
          </a:prstGeom>
          <a:noFill/>
          <a:ln/>
        </p:spPr>
        <p:txBody>
          <a:bodyPr wrap="square" rtlCol="0" anchor="ctr"/>
          <a:lstStyle/>
          <a:p>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Une plateforme SaaS B2B en 6 modules intégrés, web et application mobile, qui structure de bout en bout la communication institutionnelle : diffusion de communiqués, salles de presse virtuelles, fonds de couverture digitalisé, amplification multicanal et mesure d'impact temps réel.</a:t>
            </a:r>
            <a:endParaRPr lang="en-US" sz="1400" dirty="0"/>
          </a:p>
        </p:txBody>
      </p:sp>
      <p:sp>
        <p:nvSpPr>
          <p:cNvPr id="7" name="Shape 5"/>
          <p:cNvSpPr/>
          <p:nvPr/>
        </p:nvSpPr>
        <p:spPr>
          <a:xfrm>
            <a:off x="457200" y="4663440"/>
            <a:ext cx="3657600" cy="1463040"/>
          </a:xfrm>
          <a:prstGeom prst="rect">
            <a:avLst/>
          </a:prstGeom>
          <a:solidFill>
            <a:srgbClr val="071A2E"/>
          </a:solidFill>
          <a:ln w="12700">
            <a:solidFill>
              <a:srgbClr val="B8862E"/>
            </a:solidFill>
            <a:prstDash val="solid"/>
          </a:ln>
        </p:spPr>
      </p:sp>
      <p:sp>
        <p:nvSpPr>
          <p:cNvPr id="8" name="Text 6"/>
          <p:cNvSpPr/>
          <p:nvPr/>
        </p:nvSpPr>
        <p:spPr>
          <a:xfrm>
            <a:off x="457200" y="4754880"/>
            <a:ext cx="3657600" cy="822960"/>
          </a:xfrm>
          <a:prstGeom prst="rect">
            <a:avLst/>
          </a:prstGeom>
          <a:noFill/>
          <a:ln/>
        </p:spPr>
        <p:txBody>
          <a:bodyPr wrap="square" rtlCol="0" anchor="ctr"/>
          <a:lstStyle/>
          <a:p>
            <a:pPr algn="ctr" indent="0" marL="0">
              <a:buNone/>
            </a:pPr>
            <a:r>
              <a:rPr lang="en-US" sz="5000" b="1" dirty="0">
                <a:solidFill>
                  <a:srgbClr val="E5B85C"/>
                </a:solidFill>
                <a:latin typeface="Georgia" pitchFamily="34" charset="0"/>
                <a:ea typeface="Georgia" pitchFamily="34" charset="-122"/>
                <a:cs typeface="Georgia" pitchFamily="34" charset="-120"/>
              </a:rPr>
              <a:t>6</a:t>
            </a:r>
            <a:endParaRPr lang="en-US" sz="5000" dirty="0"/>
          </a:p>
        </p:txBody>
      </p:sp>
      <p:sp>
        <p:nvSpPr>
          <p:cNvPr id="9" name="Text 7"/>
          <p:cNvSpPr/>
          <p:nvPr/>
        </p:nvSpPr>
        <p:spPr>
          <a:xfrm>
            <a:off x="457200" y="5623560"/>
            <a:ext cx="3657600" cy="365760"/>
          </a:xfrm>
          <a:prstGeom prst="rect">
            <a:avLst/>
          </a:prstGeom>
          <a:noFill/>
          <a:ln/>
        </p:spPr>
        <p:txBody>
          <a:bodyPr wrap="square"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MODULES INTÉGRÉS</a:t>
            </a:r>
            <a:endParaRPr lang="en-US" sz="900" dirty="0"/>
          </a:p>
        </p:txBody>
      </p:sp>
      <p:sp>
        <p:nvSpPr>
          <p:cNvPr id="10" name="Shape 8"/>
          <p:cNvSpPr/>
          <p:nvPr/>
        </p:nvSpPr>
        <p:spPr>
          <a:xfrm>
            <a:off x="4297680" y="4663440"/>
            <a:ext cx="3657600" cy="1463040"/>
          </a:xfrm>
          <a:prstGeom prst="rect">
            <a:avLst/>
          </a:prstGeom>
          <a:solidFill>
            <a:srgbClr val="071A2E"/>
          </a:solidFill>
          <a:ln w="12700">
            <a:solidFill>
              <a:srgbClr val="B8862E"/>
            </a:solidFill>
            <a:prstDash val="solid"/>
          </a:ln>
        </p:spPr>
      </p:sp>
      <p:sp>
        <p:nvSpPr>
          <p:cNvPr id="11" name="Text 9"/>
          <p:cNvSpPr/>
          <p:nvPr/>
        </p:nvSpPr>
        <p:spPr>
          <a:xfrm>
            <a:off x="4297680" y="4754880"/>
            <a:ext cx="3657600" cy="822960"/>
          </a:xfrm>
          <a:prstGeom prst="rect">
            <a:avLst/>
          </a:prstGeom>
          <a:noFill/>
          <a:ln/>
        </p:spPr>
        <p:txBody>
          <a:bodyPr wrap="square" rtlCol="0" anchor="ctr"/>
          <a:lstStyle/>
          <a:p>
            <a:pPr algn="ctr" indent="0" marL="0">
              <a:buNone/>
            </a:pPr>
            <a:r>
              <a:rPr lang="en-US" sz="5000" b="1" dirty="0">
                <a:solidFill>
                  <a:srgbClr val="E5B85C"/>
                </a:solidFill>
                <a:latin typeface="Georgia" pitchFamily="34" charset="0"/>
                <a:ea typeface="Georgia" pitchFamily="34" charset="-122"/>
                <a:cs typeface="Georgia" pitchFamily="34" charset="-120"/>
              </a:rPr>
              <a:t>4</a:t>
            </a:r>
            <a:endParaRPr lang="en-US" sz="5000" dirty="0"/>
          </a:p>
        </p:txBody>
      </p:sp>
      <p:sp>
        <p:nvSpPr>
          <p:cNvPr id="12" name="Text 10"/>
          <p:cNvSpPr/>
          <p:nvPr/>
        </p:nvSpPr>
        <p:spPr>
          <a:xfrm>
            <a:off x="4297680" y="5623560"/>
            <a:ext cx="3657600" cy="365760"/>
          </a:xfrm>
          <a:prstGeom prst="rect">
            <a:avLst/>
          </a:prstGeom>
          <a:noFill/>
          <a:ln/>
        </p:spPr>
        <p:txBody>
          <a:bodyPr wrap="square"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PLATEFORMES (WEB · iOS · ANDROID · DESKTOP)</a:t>
            </a:r>
            <a:endParaRPr lang="en-US" sz="900" dirty="0"/>
          </a:p>
        </p:txBody>
      </p:sp>
      <p:sp>
        <p:nvSpPr>
          <p:cNvPr id="13" name="Shape 11"/>
          <p:cNvSpPr/>
          <p:nvPr/>
        </p:nvSpPr>
        <p:spPr>
          <a:xfrm>
            <a:off x="8138160" y="4663440"/>
            <a:ext cx="3657600" cy="1463040"/>
          </a:xfrm>
          <a:prstGeom prst="rect">
            <a:avLst/>
          </a:prstGeom>
          <a:solidFill>
            <a:srgbClr val="071A2E"/>
          </a:solidFill>
          <a:ln w="12700">
            <a:solidFill>
              <a:srgbClr val="B8862E"/>
            </a:solidFill>
            <a:prstDash val="solid"/>
          </a:ln>
        </p:spPr>
      </p:sp>
      <p:sp>
        <p:nvSpPr>
          <p:cNvPr id="14" name="Text 12"/>
          <p:cNvSpPr/>
          <p:nvPr/>
        </p:nvSpPr>
        <p:spPr>
          <a:xfrm>
            <a:off x="8138160" y="4754880"/>
            <a:ext cx="3657600" cy="822960"/>
          </a:xfrm>
          <a:prstGeom prst="rect">
            <a:avLst/>
          </a:prstGeom>
          <a:noFill/>
          <a:ln/>
        </p:spPr>
        <p:txBody>
          <a:bodyPr wrap="square" rtlCol="0" anchor="ctr"/>
          <a:lstStyle/>
          <a:p>
            <a:pPr algn="ctr" indent="0" marL="0">
              <a:buNone/>
            </a:pPr>
            <a:r>
              <a:rPr lang="en-US" sz="5000" b="1" dirty="0">
                <a:solidFill>
                  <a:srgbClr val="E5B85C"/>
                </a:solidFill>
                <a:latin typeface="Georgia" pitchFamily="34" charset="0"/>
                <a:ea typeface="Georgia" pitchFamily="34" charset="-122"/>
                <a:cs typeface="Georgia" pitchFamily="34" charset="-120"/>
              </a:rPr>
              <a:t>5</a:t>
            </a:r>
            <a:endParaRPr lang="en-US" sz="5000" dirty="0"/>
          </a:p>
        </p:txBody>
      </p:sp>
      <p:sp>
        <p:nvSpPr>
          <p:cNvPr id="15" name="Text 13"/>
          <p:cNvSpPr/>
          <p:nvPr/>
        </p:nvSpPr>
        <p:spPr>
          <a:xfrm>
            <a:off x="8138160" y="5623560"/>
            <a:ext cx="3657600" cy="365760"/>
          </a:xfrm>
          <a:prstGeom prst="rect">
            <a:avLst/>
          </a:prstGeom>
          <a:noFill/>
          <a:ln/>
        </p:spPr>
        <p:txBody>
          <a:bodyPr wrap="square"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PAYS UEMOA À TERME</a:t>
            </a:r>
            <a:endParaRPr lang="en-US" sz="900" dirty="0"/>
          </a:p>
        </p:txBody>
      </p:sp>
      <p:sp>
        <p:nvSpPr>
          <p:cNvPr id="16" name="Text 14"/>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B8862E"/>
                </a:solidFill>
                <a:latin typeface="Calibri" pitchFamily="34" charset="0"/>
                <a:ea typeface="Calibri" pitchFamily="34" charset="-122"/>
                <a:cs typeface="Calibri"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04  ·  PRODUIT</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Les 6 modules HERALDO PRESS.</a:t>
            </a:r>
            <a:endParaRPr lang="en-US" sz="3200" dirty="0"/>
          </a:p>
        </p:txBody>
      </p:sp>
      <p:sp>
        <p:nvSpPr>
          <p:cNvPr id="4" name="Shape 2"/>
          <p:cNvSpPr/>
          <p:nvPr/>
        </p:nvSpPr>
        <p:spPr>
          <a:xfrm>
            <a:off x="457200" y="2194560"/>
            <a:ext cx="3657600" cy="1920240"/>
          </a:xfrm>
          <a:prstGeom prst="rect">
            <a:avLst/>
          </a:prstGeom>
          <a:solidFill>
            <a:srgbClr val="F7F9FB"/>
          </a:solidFill>
          <a:ln/>
        </p:spPr>
      </p:sp>
      <p:sp>
        <p:nvSpPr>
          <p:cNvPr id="5" name="Shape 3"/>
          <p:cNvSpPr/>
          <p:nvPr/>
        </p:nvSpPr>
        <p:spPr>
          <a:xfrm>
            <a:off x="457200" y="2194560"/>
            <a:ext cx="3657600" cy="73152"/>
          </a:xfrm>
          <a:prstGeom prst="rect">
            <a:avLst/>
          </a:prstGeom>
          <a:solidFill>
            <a:srgbClr val="B8862E"/>
          </a:solidFill>
          <a:ln/>
        </p:spPr>
      </p:sp>
      <p:sp>
        <p:nvSpPr>
          <p:cNvPr id="6" name="Text 4"/>
          <p:cNvSpPr/>
          <p:nvPr/>
        </p:nvSpPr>
        <p:spPr>
          <a:xfrm>
            <a:off x="685800" y="2377440"/>
            <a:ext cx="3200400" cy="457200"/>
          </a:xfrm>
          <a:prstGeom prst="rect">
            <a:avLst/>
          </a:prstGeom>
          <a:noFill/>
          <a:ln/>
        </p:spPr>
        <p:txBody>
          <a:bodyPr wrap="square"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ÉMISSION</a:t>
            </a:r>
            <a:endParaRPr lang="en-US" sz="1800" dirty="0"/>
          </a:p>
        </p:txBody>
      </p:sp>
      <p:sp>
        <p:nvSpPr>
          <p:cNvPr id="7" name="Text 5"/>
          <p:cNvSpPr/>
          <p:nvPr/>
        </p:nvSpPr>
        <p:spPr>
          <a:xfrm>
            <a:off x="685800" y="2880360"/>
            <a:ext cx="3200400" cy="457200"/>
          </a:xfrm>
          <a:prstGeom prst="rect">
            <a:avLst/>
          </a:prstGeom>
          <a:noFill/>
          <a:ln/>
        </p:spPr>
        <p:txBody>
          <a:bodyPr wrap="square" rtlCol="0" anchor="ctr"/>
          <a:lstStyle/>
          <a:p>
            <a:pPr indent="0" marL="0">
              <a:buNone/>
            </a:pPr>
            <a:r>
              <a:rPr lang="en-US" sz="1100" dirty="0">
                <a:solidFill>
                  <a:srgbClr val="5A6470"/>
                </a:solidFill>
                <a:latin typeface="Calibri" pitchFamily="34" charset="0"/>
                <a:ea typeface="Calibri" pitchFamily="34" charset="-122"/>
                <a:cs typeface="Calibri" pitchFamily="34" charset="-120"/>
              </a:rPr>
              <a:t>Diffusion de communiqués multi-format</a:t>
            </a:r>
            <a:endParaRPr lang="en-US" sz="1100" dirty="0"/>
          </a:p>
        </p:txBody>
      </p:sp>
      <p:sp>
        <p:nvSpPr>
          <p:cNvPr id="8" name="Shape 6"/>
          <p:cNvSpPr/>
          <p:nvPr/>
        </p:nvSpPr>
        <p:spPr>
          <a:xfrm>
            <a:off x="685800" y="3474720"/>
            <a:ext cx="1371600" cy="0"/>
          </a:xfrm>
          <a:prstGeom prst="line">
            <a:avLst/>
          </a:prstGeom>
          <a:noFill/>
          <a:ln w="9525">
            <a:solidFill>
              <a:srgbClr val="B8862E"/>
            </a:solidFill>
            <a:prstDash val="solid"/>
          </a:ln>
        </p:spPr>
      </p:sp>
      <p:sp>
        <p:nvSpPr>
          <p:cNvPr id="9" name="Text 7"/>
          <p:cNvSpPr/>
          <p:nvPr/>
        </p:nvSpPr>
        <p:spPr>
          <a:xfrm>
            <a:off x="685800" y="3566160"/>
            <a:ext cx="3200400" cy="457200"/>
          </a:xfrm>
          <a:prstGeom prst="rect">
            <a:avLst/>
          </a:prstGeom>
          <a:noFill/>
          <a:ln/>
        </p:spPr>
        <p:txBody>
          <a:bodyPr wrap="square" rtlCol="0" anchor="ctr"/>
          <a:lstStyle/>
          <a:p>
            <a:pPr indent="0" marL="0">
              <a:buNone/>
            </a:pPr>
            <a:r>
              <a:rPr lang="en-US" sz="1000" b="1" i="1" dirty="0">
                <a:solidFill>
                  <a:srgbClr val="B8862E"/>
                </a:solidFill>
                <a:latin typeface="Calibri" pitchFamily="34" charset="0"/>
                <a:ea typeface="Calibri" pitchFamily="34" charset="-122"/>
                <a:cs typeface="Calibri" pitchFamily="34" charset="-120"/>
              </a:rPr>
              <a:t>3 formats en 1 saisie</a:t>
            </a:r>
            <a:endParaRPr lang="en-US" sz="1000" dirty="0"/>
          </a:p>
        </p:txBody>
      </p:sp>
      <p:sp>
        <p:nvSpPr>
          <p:cNvPr id="10" name="Shape 8"/>
          <p:cNvSpPr/>
          <p:nvPr/>
        </p:nvSpPr>
        <p:spPr>
          <a:xfrm>
            <a:off x="4297680" y="2194560"/>
            <a:ext cx="3657600" cy="1920240"/>
          </a:xfrm>
          <a:prstGeom prst="rect">
            <a:avLst/>
          </a:prstGeom>
          <a:solidFill>
            <a:srgbClr val="F7F9FB"/>
          </a:solidFill>
          <a:ln/>
        </p:spPr>
      </p:sp>
      <p:sp>
        <p:nvSpPr>
          <p:cNvPr id="11" name="Shape 9"/>
          <p:cNvSpPr/>
          <p:nvPr/>
        </p:nvSpPr>
        <p:spPr>
          <a:xfrm>
            <a:off x="4297680" y="2194560"/>
            <a:ext cx="3657600" cy="73152"/>
          </a:xfrm>
          <a:prstGeom prst="rect">
            <a:avLst/>
          </a:prstGeom>
          <a:solidFill>
            <a:srgbClr val="B8862E"/>
          </a:solidFill>
          <a:ln/>
        </p:spPr>
      </p:sp>
      <p:sp>
        <p:nvSpPr>
          <p:cNvPr id="12" name="Text 10"/>
          <p:cNvSpPr/>
          <p:nvPr/>
        </p:nvSpPr>
        <p:spPr>
          <a:xfrm>
            <a:off x="4526280" y="2377440"/>
            <a:ext cx="3200400" cy="457200"/>
          </a:xfrm>
          <a:prstGeom prst="rect">
            <a:avLst/>
          </a:prstGeom>
          <a:noFill/>
          <a:ln/>
        </p:spPr>
        <p:txBody>
          <a:bodyPr wrap="square"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AGORA</a:t>
            </a:r>
            <a:endParaRPr lang="en-US" sz="1800" dirty="0"/>
          </a:p>
        </p:txBody>
      </p:sp>
      <p:sp>
        <p:nvSpPr>
          <p:cNvPr id="13" name="Text 11"/>
          <p:cNvSpPr/>
          <p:nvPr/>
        </p:nvSpPr>
        <p:spPr>
          <a:xfrm>
            <a:off x="4526280" y="2880360"/>
            <a:ext cx="3200400" cy="457200"/>
          </a:xfrm>
          <a:prstGeom prst="rect">
            <a:avLst/>
          </a:prstGeom>
          <a:noFill/>
          <a:ln/>
        </p:spPr>
        <p:txBody>
          <a:bodyPr wrap="square" rtlCol="0" anchor="ctr"/>
          <a:lstStyle/>
          <a:p>
            <a:pPr indent="0" marL="0">
              <a:buNone/>
            </a:pPr>
            <a:r>
              <a:rPr lang="en-US" sz="1100" dirty="0">
                <a:solidFill>
                  <a:srgbClr val="5A6470"/>
                </a:solidFill>
                <a:latin typeface="Calibri" pitchFamily="34" charset="0"/>
                <a:ea typeface="Calibri" pitchFamily="34" charset="-122"/>
                <a:cs typeface="Calibri" pitchFamily="34" charset="-120"/>
              </a:rPr>
              <a:t>Salle de presse virtuelle brandée</a:t>
            </a:r>
            <a:endParaRPr lang="en-US" sz="1100" dirty="0"/>
          </a:p>
        </p:txBody>
      </p:sp>
      <p:sp>
        <p:nvSpPr>
          <p:cNvPr id="14" name="Shape 12"/>
          <p:cNvSpPr/>
          <p:nvPr/>
        </p:nvSpPr>
        <p:spPr>
          <a:xfrm>
            <a:off x="4526280" y="3474720"/>
            <a:ext cx="1371600" cy="0"/>
          </a:xfrm>
          <a:prstGeom prst="line">
            <a:avLst/>
          </a:prstGeom>
          <a:noFill/>
          <a:ln w="9525">
            <a:solidFill>
              <a:srgbClr val="B8862E"/>
            </a:solidFill>
            <a:prstDash val="solid"/>
          </a:ln>
        </p:spPr>
      </p:sp>
      <p:sp>
        <p:nvSpPr>
          <p:cNvPr id="15" name="Text 13"/>
          <p:cNvSpPr/>
          <p:nvPr/>
        </p:nvSpPr>
        <p:spPr>
          <a:xfrm>
            <a:off x="4526280" y="3566160"/>
            <a:ext cx="3200400" cy="457200"/>
          </a:xfrm>
          <a:prstGeom prst="rect">
            <a:avLst/>
          </a:prstGeom>
          <a:noFill/>
          <a:ln/>
        </p:spPr>
        <p:txBody>
          <a:bodyPr wrap="square" rtlCol="0" anchor="ctr"/>
          <a:lstStyle/>
          <a:p>
            <a:pPr indent="0" marL="0">
              <a:buNone/>
            </a:pPr>
            <a:r>
              <a:rPr lang="en-US" sz="1000" b="1" i="1" dirty="0">
                <a:solidFill>
                  <a:srgbClr val="B8862E"/>
                </a:solidFill>
                <a:latin typeface="Calibri" pitchFamily="34" charset="0"/>
                <a:ea typeface="Calibri" pitchFamily="34" charset="-122"/>
                <a:cs typeface="Calibri" pitchFamily="34" charset="-120"/>
              </a:rPr>
              <a:t>75 k FCFA vs 2 M en physique</a:t>
            </a:r>
            <a:endParaRPr lang="en-US" sz="1000" dirty="0"/>
          </a:p>
        </p:txBody>
      </p:sp>
      <p:sp>
        <p:nvSpPr>
          <p:cNvPr id="16" name="Shape 14"/>
          <p:cNvSpPr/>
          <p:nvPr/>
        </p:nvSpPr>
        <p:spPr>
          <a:xfrm>
            <a:off x="8138160" y="2194560"/>
            <a:ext cx="3657600" cy="1920240"/>
          </a:xfrm>
          <a:prstGeom prst="rect">
            <a:avLst/>
          </a:prstGeom>
          <a:solidFill>
            <a:srgbClr val="F7F9FB"/>
          </a:solidFill>
          <a:ln/>
        </p:spPr>
      </p:sp>
      <p:sp>
        <p:nvSpPr>
          <p:cNvPr id="17" name="Shape 15"/>
          <p:cNvSpPr/>
          <p:nvPr/>
        </p:nvSpPr>
        <p:spPr>
          <a:xfrm>
            <a:off x="8138160" y="2194560"/>
            <a:ext cx="3657600" cy="73152"/>
          </a:xfrm>
          <a:prstGeom prst="rect">
            <a:avLst/>
          </a:prstGeom>
          <a:solidFill>
            <a:srgbClr val="B8862E"/>
          </a:solidFill>
          <a:ln/>
        </p:spPr>
      </p:sp>
      <p:sp>
        <p:nvSpPr>
          <p:cNvPr id="18" name="Text 16"/>
          <p:cNvSpPr/>
          <p:nvPr/>
        </p:nvSpPr>
        <p:spPr>
          <a:xfrm>
            <a:off x="8366760" y="2377440"/>
            <a:ext cx="3200400" cy="457200"/>
          </a:xfrm>
          <a:prstGeom prst="rect">
            <a:avLst/>
          </a:prstGeom>
          <a:noFill/>
          <a:ln/>
        </p:spPr>
        <p:txBody>
          <a:bodyPr wrap="square"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RÉSEAU</a:t>
            </a:r>
            <a:endParaRPr lang="en-US" sz="1800" dirty="0"/>
          </a:p>
        </p:txBody>
      </p:sp>
      <p:sp>
        <p:nvSpPr>
          <p:cNvPr id="19" name="Text 17"/>
          <p:cNvSpPr/>
          <p:nvPr/>
        </p:nvSpPr>
        <p:spPr>
          <a:xfrm>
            <a:off x="8366760" y="2880360"/>
            <a:ext cx="3200400" cy="457200"/>
          </a:xfrm>
          <a:prstGeom prst="rect">
            <a:avLst/>
          </a:prstGeom>
          <a:noFill/>
          <a:ln/>
        </p:spPr>
        <p:txBody>
          <a:bodyPr wrap="square" rtlCol="0" anchor="ctr"/>
          <a:lstStyle/>
          <a:p>
            <a:pPr indent="0" marL="0">
              <a:buNone/>
            </a:pPr>
            <a:r>
              <a:rPr lang="en-US" sz="1100" dirty="0">
                <a:solidFill>
                  <a:srgbClr val="5A6470"/>
                </a:solidFill>
                <a:latin typeface="Calibri" pitchFamily="34" charset="0"/>
                <a:ea typeface="Calibri" pitchFamily="34" charset="-122"/>
                <a:cs typeface="Calibri" pitchFamily="34" charset="-120"/>
              </a:rPr>
              <a:t>Base journalistes accrédités</a:t>
            </a:r>
            <a:endParaRPr lang="en-US" sz="1100" dirty="0"/>
          </a:p>
        </p:txBody>
      </p:sp>
      <p:sp>
        <p:nvSpPr>
          <p:cNvPr id="20" name="Shape 18"/>
          <p:cNvSpPr/>
          <p:nvPr/>
        </p:nvSpPr>
        <p:spPr>
          <a:xfrm>
            <a:off x="8366760" y="3474720"/>
            <a:ext cx="1371600" cy="0"/>
          </a:xfrm>
          <a:prstGeom prst="line">
            <a:avLst/>
          </a:prstGeom>
          <a:noFill/>
          <a:ln w="9525">
            <a:solidFill>
              <a:srgbClr val="B8862E"/>
            </a:solidFill>
            <a:prstDash val="solid"/>
          </a:ln>
        </p:spPr>
      </p:sp>
      <p:sp>
        <p:nvSpPr>
          <p:cNvPr id="21" name="Text 19"/>
          <p:cNvSpPr/>
          <p:nvPr/>
        </p:nvSpPr>
        <p:spPr>
          <a:xfrm>
            <a:off x="8366760" y="3566160"/>
            <a:ext cx="3200400" cy="457200"/>
          </a:xfrm>
          <a:prstGeom prst="rect">
            <a:avLst/>
          </a:prstGeom>
          <a:noFill/>
          <a:ln/>
        </p:spPr>
        <p:txBody>
          <a:bodyPr wrap="square" rtlCol="0" anchor="ctr"/>
          <a:lstStyle/>
          <a:p>
            <a:pPr indent="0" marL="0">
              <a:buNone/>
            </a:pPr>
            <a:r>
              <a:rPr lang="en-US" sz="1000" b="1" i="1" dirty="0">
                <a:solidFill>
                  <a:srgbClr val="B8862E"/>
                </a:solidFill>
                <a:latin typeface="Calibri" pitchFamily="34" charset="0"/>
                <a:ea typeface="Calibri" pitchFamily="34" charset="-122"/>
                <a:cs typeface="Calibri" pitchFamily="34" charset="-120"/>
              </a:rPr>
              <a:t>Ciblage qualifié par sujet</a:t>
            </a:r>
            <a:endParaRPr lang="en-US" sz="1000" dirty="0"/>
          </a:p>
        </p:txBody>
      </p:sp>
      <p:sp>
        <p:nvSpPr>
          <p:cNvPr id="22" name="Shape 20"/>
          <p:cNvSpPr/>
          <p:nvPr/>
        </p:nvSpPr>
        <p:spPr>
          <a:xfrm>
            <a:off x="457200" y="4389120"/>
            <a:ext cx="3657600" cy="1920240"/>
          </a:xfrm>
          <a:prstGeom prst="rect">
            <a:avLst/>
          </a:prstGeom>
          <a:solidFill>
            <a:srgbClr val="F7F9FB"/>
          </a:solidFill>
          <a:ln/>
        </p:spPr>
      </p:sp>
      <p:sp>
        <p:nvSpPr>
          <p:cNvPr id="23" name="Shape 21"/>
          <p:cNvSpPr/>
          <p:nvPr/>
        </p:nvSpPr>
        <p:spPr>
          <a:xfrm>
            <a:off x="457200" y="4389120"/>
            <a:ext cx="3657600" cy="73152"/>
          </a:xfrm>
          <a:prstGeom prst="rect">
            <a:avLst/>
          </a:prstGeom>
          <a:solidFill>
            <a:srgbClr val="B8862E"/>
          </a:solidFill>
          <a:ln/>
        </p:spPr>
      </p:sp>
      <p:sp>
        <p:nvSpPr>
          <p:cNvPr id="24" name="Text 22"/>
          <p:cNvSpPr/>
          <p:nvPr/>
        </p:nvSpPr>
        <p:spPr>
          <a:xfrm>
            <a:off x="685800" y="4572000"/>
            <a:ext cx="3200400" cy="457200"/>
          </a:xfrm>
          <a:prstGeom prst="rect">
            <a:avLst/>
          </a:prstGeom>
          <a:noFill/>
          <a:ln/>
        </p:spPr>
        <p:txBody>
          <a:bodyPr wrap="square"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FCM</a:t>
            </a:r>
            <a:endParaRPr lang="en-US" sz="1800" dirty="0"/>
          </a:p>
        </p:txBody>
      </p:sp>
      <p:sp>
        <p:nvSpPr>
          <p:cNvPr id="25" name="Text 23"/>
          <p:cNvSpPr/>
          <p:nvPr/>
        </p:nvSpPr>
        <p:spPr>
          <a:xfrm>
            <a:off x="685800" y="5074920"/>
            <a:ext cx="3200400" cy="457200"/>
          </a:xfrm>
          <a:prstGeom prst="rect">
            <a:avLst/>
          </a:prstGeom>
          <a:noFill/>
          <a:ln/>
        </p:spPr>
        <p:txBody>
          <a:bodyPr wrap="square" rtlCol="0" anchor="ctr"/>
          <a:lstStyle/>
          <a:p>
            <a:pPr indent="0" marL="0">
              <a:buNone/>
            </a:pPr>
            <a:r>
              <a:rPr lang="en-US" sz="1100" dirty="0">
                <a:solidFill>
                  <a:srgbClr val="5A6470"/>
                </a:solidFill>
                <a:latin typeface="Calibri" pitchFamily="34" charset="0"/>
                <a:ea typeface="Calibri" pitchFamily="34" charset="-122"/>
                <a:cs typeface="Calibri" pitchFamily="34" charset="-120"/>
              </a:rPr>
              <a:t>Fonds de Couverture Média digital</a:t>
            </a:r>
            <a:endParaRPr lang="en-US" sz="1100" dirty="0"/>
          </a:p>
        </p:txBody>
      </p:sp>
      <p:sp>
        <p:nvSpPr>
          <p:cNvPr id="26" name="Shape 24"/>
          <p:cNvSpPr/>
          <p:nvPr/>
        </p:nvSpPr>
        <p:spPr>
          <a:xfrm>
            <a:off x="685800" y="5669280"/>
            <a:ext cx="1371600" cy="0"/>
          </a:xfrm>
          <a:prstGeom prst="line">
            <a:avLst/>
          </a:prstGeom>
          <a:noFill/>
          <a:ln w="9525">
            <a:solidFill>
              <a:srgbClr val="B8862E"/>
            </a:solidFill>
            <a:prstDash val="solid"/>
          </a:ln>
        </p:spPr>
      </p:sp>
      <p:sp>
        <p:nvSpPr>
          <p:cNvPr id="27" name="Text 25"/>
          <p:cNvSpPr/>
          <p:nvPr/>
        </p:nvSpPr>
        <p:spPr>
          <a:xfrm>
            <a:off x="685800" y="5760720"/>
            <a:ext cx="3200400" cy="457200"/>
          </a:xfrm>
          <a:prstGeom prst="rect">
            <a:avLst/>
          </a:prstGeom>
          <a:noFill/>
          <a:ln/>
        </p:spPr>
        <p:txBody>
          <a:bodyPr wrap="square" rtlCol="0" anchor="ctr"/>
          <a:lstStyle/>
          <a:p>
            <a:pPr indent="0" marL="0">
              <a:buNone/>
            </a:pPr>
            <a:r>
              <a:rPr lang="en-US" sz="1000" b="1" i="1" dirty="0">
                <a:solidFill>
                  <a:srgbClr val="B8862E"/>
                </a:solidFill>
                <a:latin typeface="Calibri" pitchFamily="34" charset="0"/>
                <a:ea typeface="Calibri" pitchFamily="34" charset="-122"/>
                <a:cs typeface="Calibri" pitchFamily="34" charset="-120"/>
              </a:rPr>
              <a:t>Paiement à la preuve</a:t>
            </a:r>
            <a:endParaRPr lang="en-US" sz="1000" dirty="0"/>
          </a:p>
        </p:txBody>
      </p:sp>
      <p:sp>
        <p:nvSpPr>
          <p:cNvPr id="28" name="Shape 26"/>
          <p:cNvSpPr/>
          <p:nvPr/>
        </p:nvSpPr>
        <p:spPr>
          <a:xfrm>
            <a:off x="4297680" y="4389120"/>
            <a:ext cx="3657600" cy="1920240"/>
          </a:xfrm>
          <a:prstGeom prst="rect">
            <a:avLst/>
          </a:prstGeom>
          <a:solidFill>
            <a:srgbClr val="F7F9FB"/>
          </a:solidFill>
          <a:ln/>
        </p:spPr>
      </p:sp>
      <p:sp>
        <p:nvSpPr>
          <p:cNvPr id="29" name="Shape 27"/>
          <p:cNvSpPr/>
          <p:nvPr/>
        </p:nvSpPr>
        <p:spPr>
          <a:xfrm>
            <a:off x="4297680" y="4389120"/>
            <a:ext cx="3657600" cy="73152"/>
          </a:xfrm>
          <a:prstGeom prst="rect">
            <a:avLst/>
          </a:prstGeom>
          <a:solidFill>
            <a:srgbClr val="B8862E"/>
          </a:solidFill>
          <a:ln/>
        </p:spPr>
      </p:sp>
      <p:sp>
        <p:nvSpPr>
          <p:cNvPr id="30" name="Text 28"/>
          <p:cNvSpPr/>
          <p:nvPr/>
        </p:nvSpPr>
        <p:spPr>
          <a:xfrm>
            <a:off x="4526280" y="4572000"/>
            <a:ext cx="3200400" cy="457200"/>
          </a:xfrm>
          <a:prstGeom prst="rect">
            <a:avLst/>
          </a:prstGeom>
          <a:noFill/>
          <a:ln/>
        </p:spPr>
        <p:txBody>
          <a:bodyPr wrap="square"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AMPLIFICATION</a:t>
            </a:r>
            <a:endParaRPr lang="en-US" sz="1800" dirty="0"/>
          </a:p>
        </p:txBody>
      </p:sp>
      <p:sp>
        <p:nvSpPr>
          <p:cNvPr id="31" name="Text 29"/>
          <p:cNvSpPr/>
          <p:nvPr/>
        </p:nvSpPr>
        <p:spPr>
          <a:xfrm>
            <a:off x="4526280" y="5074920"/>
            <a:ext cx="3200400" cy="457200"/>
          </a:xfrm>
          <a:prstGeom prst="rect">
            <a:avLst/>
          </a:prstGeom>
          <a:noFill/>
          <a:ln/>
        </p:spPr>
        <p:txBody>
          <a:bodyPr wrap="square" rtlCol="0" anchor="ctr"/>
          <a:lstStyle/>
          <a:p>
            <a:pPr indent="0" marL="0">
              <a:buNone/>
            </a:pPr>
            <a:r>
              <a:rPr lang="en-US" sz="1100" dirty="0">
                <a:solidFill>
                  <a:srgbClr val="5A6470"/>
                </a:solidFill>
                <a:latin typeface="Calibri" pitchFamily="34" charset="0"/>
                <a:ea typeface="Calibri" pitchFamily="34" charset="-122"/>
                <a:cs typeface="Calibri" pitchFamily="34" charset="-120"/>
              </a:rPr>
              <a:t>Diffusion 360° multicanal</a:t>
            </a:r>
            <a:endParaRPr lang="en-US" sz="1100" dirty="0"/>
          </a:p>
        </p:txBody>
      </p:sp>
      <p:sp>
        <p:nvSpPr>
          <p:cNvPr id="32" name="Shape 30"/>
          <p:cNvSpPr/>
          <p:nvPr/>
        </p:nvSpPr>
        <p:spPr>
          <a:xfrm>
            <a:off x="4526280" y="5669280"/>
            <a:ext cx="1371600" cy="0"/>
          </a:xfrm>
          <a:prstGeom prst="line">
            <a:avLst/>
          </a:prstGeom>
          <a:noFill/>
          <a:ln w="9525">
            <a:solidFill>
              <a:srgbClr val="B8862E"/>
            </a:solidFill>
            <a:prstDash val="solid"/>
          </a:ln>
        </p:spPr>
      </p:sp>
      <p:sp>
        <p:nvSpPr>
          <p:cNvPr id="33" name="Text 31"/>
          <p:cNvSpPr/>
          <p:nvPr/>
        </p:nvSpPr>
        <p:spPr>
          <a:xfrm>
            <a:off x="4526280" y="5760720"/>
            <a:ext cx="3200400" cy="457200"/>
          </a:xfrm>
          <a:prstGeom prst="rect">
            <a:avLst/>
          </a:prstGeom>
          <a:noFill/>
          <a:ln/>
        </p:spPr>
        <p:txBody>
          <a:bodyPr wrap="square" rtlCol="0" anchor="ctr"/>
          <a:lstStyle/>
          <a:p>
            <a:pPr indent="0" marL="0">
              <a:buNone/>
            </a:pPr>
            <a:r>
              <a:rPr lang="en-US" sz="1000" b="1" i="1" dirty="0">
                <a:solidFill>
                  <a:srgbClr val="B8862E"/>
                </a:solidFill>
                <a:latin typeface="Calibri" pitchFamily="34" charset="0"/>
                <a:ea typeface="Calibri" pitchFamily="34" charset="-122"/>
                <a:cs typeface="Calibri" pitchFamily="34" charset="-120"/>
              </a:rPr>
              <a:t>Presse + social + WhatsApp</a:t>
            </a:r>
            <a:endParaRPr lang="en-US" sz="1000" dirty="0"/>
          </a:p>
        </p:txBody>
      </p:sp>
      <p:sp>
        <p:nvSpPr>
          <p:cNvPr id="34" name="Shape 32"/>
          <p:cNvSpPr/>
          <p:nvPr/>
        </p:nvSpPr>
        <p:spPr>
          <a:xfrm>
            <a:off x="8138160" y="4389120"/>
            <a:ext cx="3657600" cy="1920240"/>
          </a:xfrm>
          <a:prstGeom prst="rect">
            <a:avLst/>
          </a:prstGeom>
          <a:solidFill>
            <a:srgbClr val="F7F9FB"/>
          </a:solidFill>
          <a:ln/>
        </p:spPr>
      </p:sp>
      <p:sp>
        <p:nvSpPr>
          <p:cNvPr id="35" name="Shape 33"/>
          <p:cNvSpPr/>
          <p:nvPr/>
        </p:nvSpPr>
        <p:spPr>
          <a:xfrm>
            <a:off x="8138160" y="4389120"/>
            <a:ext cx="3657600" cy="73152"/>
          </a:xfrm>
          <a:prstGeom prst="rect">
            <a:avLst/>
          </a:prstGeom>
          <a:solidFill>
            <a:srgbClr val="B8862E"/>
          </a:solidFill>
          <a:ln/>
        </p:spPr>
      </p:sp>
      <p:sp>
        <p:nvSpPr>
          <p:cNvPr id="36" name="Text 34"/>
          <p:cNvSpPr/>
          <p:nvPr/>
        </p:nvSpPr>
        <p:spPr>
          <a:xfrm>
            <a:off x="8366760" y="4572000"/>
            <a:ext cx="3200400" cy="457200"/>
          </a:xfrm>
          <a:prstGeom prst="rect">
            <a:avLst/>
          </a:prstGeom>
          <a:noFill/>
          <a:ln/>
        </p:spPr>
        <p:txBody>
          <a:bodyPr wrap="square"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IMPACT</a:t>
            </a:r>
            <a:endParaRPr lang="en-US" sz="1800" dirty="0"/>
          </a:p>
        </p:txBody>
      </p:sp>
      <p:sp>
        <p:nvSpPr>
          <p:cNvPr id="37" name="Text 35"/>
          <p:cNvSpPr/>
          <p:nvPr/>
        </p:nvSpPr>
        <p:spPr>
          <a:xfrm>
            <a:off x="8366760" y="5074920"/>
            <a:ext cx="3200400" cy="457200"/>
          </a:xfrm>
          <a:prstGeom prst="rect">
            <a:avLst/>
          </a:prstGeom>
          <a:noFill/>
          <a:ln/>
        </p:spPr>
        <p:txBody>
          <a:bodyPr wrap="square" rtlCol="0" anchor="ctr"/>
          <a:lstStyle/>
          <a:p>
            <a:pPr indent="0" marL="0">
              <a:buNone/>
            </a:pPr>
            <a:r>
              <a:rPr lang="en-US" sz="1100" dirty="0">
                <a:solidFill>
                  <a:srgbClr val="5A6470"/>
                </a:solidFill>
                <a:latin typeface="Calibri" pitchFamily="34" charset="0"/>
                <a:ea typeface="Calibri" pitchFamily="34" charset="-122"/>
                <a:cs typeface="Calibri" pitchFamily="34" charset="-120"/>
              </a:rPr>
              <a:t>Mesure et reporting temps réel</a:t>
            </a:r>
            <a:endParaRPr lang="en-US" sz="1100" dirty="0"/>
          </a:p>
        </p:txBody>
      </p:sp>
      <p:sp>
        <p:nvSpPr>
          <p:cNvPr id="38" name="Shape 36"/>
          <p:cNvSpPr/>
          <p:nvPr/>
        </p:nvSpPr>
        <p:spPr>
          <a:xfrm>
            <a:off x="8366760" y="5669280"/>
            <a:ext cx="1371600" cy="0"/>
          </a:xfrm>
          <a:prstGeom prst="line">
            <a:avLst/>
          </a:prstGeom>
          <a:noFill/>
          <a:ln w="9525">
            <a:solidFill>
              <a:srgbClr val="B8862E"/>
            </a:solidFill>
            <a:prstDash val="solid"/>
          </a:ln>
        </p:spPr>
      </p:sp>
      <p:sp>
        <p:nvSpPr>
          <p:cNvPr id="39" name="Text 37"/>
          <p:cNvSpPr/>
          <p:nvPr/>
        </p:nvSpPr>
        <p:spPr>
          <a:xfrm>
            <a:off x="8366760" y="5760720"/>
            <a:ext cx="3200400" cy="457200"/>
          </a:xfrm>
          <a:prstGeom prst="rect">
            <a:avLst/>
          </a:prstGeom>
          <a:noFill/>
          <a:ln/>
        </p:spPr>
        <p:txBody>
          <a:bodyPr wrap="square" rtlCol="0" anchor="ctr"/>
          <a:lstStyle/>
          <a:p>
            <a:pPr indent="0" marL="0">
              <a:buNone/>
            </a:pPr>
            <a:r>
              <a:rPr lang="en-US" sz="1000" b="1" i="1" dirty="0">
                <a:solidFill>
                  <a:srgbClr val="B8862E"/>
                </a:solidFill>
                <a:latin typeface="Calibri" pitchFamily="34" charset="0"/>
                <a:ea typeface="Calibri" pitchFamily="34" charset="-122"/>
                <a:cs typeface="Calibri" pitchFamily="34" charset="-120"/>
              </a:rPr>
              <a:t>ROI communication chiffré</a:t>
            </a:r>
            <a:endParaRPr lang="en-US" sz="1000" dirty="0"/>
          </a:p>
        </p:txBody>
      </p:sp>
      <p:sp>
        <p:nvSpPr>
          <p:cNvPr id="40" name="Text 38"/>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05  ·  INNOVATION CENTRALE</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Le FCM digitalise le per diem.</a:t>
            </a:r>
            <a:endParaRPr lang="en-US" sz="3200" dirty="0"/>
          </a:p>
        </p:txBody>
      </p:sp>
      <p:sp>
        <p:nvSpPr>
          <p:cNvPr id="4" name="Text 2"/>
          <p:cNvSpPr/>
          <p:nvPr/>
        </p:nvSpPr>
        <p:spPr>
          <a:xfrm>
            <a:off x="457200" y="1691640"/>
            <a:ext cx="10972800" cy="548640"/>
          </a:xfrm>
          <a:prstGeom prst="rect">
            <a:avLst/>
          </a:prstGeom>
          <a:noFill/>
          <a:ln/>
        </p:spPr>
        <p:txBody>
          <a:bodyPr wrap="square" rtlCol="0" anchor="ctr"/>
          <a:lstStyle/>
          <a:p>
            <a:pPr indent="0" marL="0">
              <a:buNone/>
            </a:pPr>
            <a:r>
              <a:rPr lang="en-US" sz="1400" i="1" dirty="0">
                <a:solidFill>
                  <a:srgbClr val="5A6470"/>
                </a:solidFill>
                <a:latin typeface="Calibri" pitchFamily="34" charset="0"/>
                <a:ea typeface="Calibri" pitchFamily="34" charset="-122"/>
                <a:cs typeface="Calibri" pitchFamily="34" charset="-120"/>
              </a:rPr>
              <a:t>Pour la première fois en Afrique de l'Ouest, les journalistes sont rémunérés à la preuve de couverture, pas au cash avant l'événement.</a:t>
            </a:r>
            <a:endParaRPr lang="en-US" sz="1400" dirty="0"/>
          </a:p>
        </p:txBody>
      </p:sp>
      <p:sp>
        <p:nvSpPr>
          <p:cNvPr id="5" name="Shape 3"/>
          <p:cNvSpPr/>
          <p:nvPr/>
        </p:nvSpPr>
        <p:spPr>
          <a:xfrm>
            <a:off x="1005840" y="2926080"/>
            <a:ext cx="914400" cy="914400"/>
          </a:xfrm>
          <a:prstGeom prst="ellipse">
            <a:avLst/>
          </a:prstGeom>
          <a:solidFill>
            <a:srgbClr val="0A2540"/>
          </a:solidFill>
          <a:ln w="25400">
            <a:solidFill>
              <a:srgbClr val="B8862E"/>
            </a:solidFill>
            <a:prstDash val="solid"/>
          </a:ln>
        </p:spPr>
      </p:sp>
      <p:sp>
        <p:nvSpPr>
          <p:cNvPr id="6" name="Text 4"/>
          <p:cNvSpPr/>
          <p:nvPr/>
        </p:nvSpPr>
        <p:spPr>
          <a:xfrm>
            <a:off x="1005840" y="2926080"/>
            <a:ext cx="914400" cy="914400"/>
          </a:xfrm>
          <a:prstGeom prst="rect">
            <a:avLst/>
          </a:prstGeom>
          <a:noFill/>
          <a:ln/>
        </p:spPr>
        <p:txBody>
          <a:bodyPr wrap="square" rtlCol="0" anchor="ctr"/>
          <a:lstStyle/>
          <a:p>
            <a:pPr algn="ctr" indent="0" marL="0">
              <a:buNone/>
            </a:pPr>
            <a:r>
              <a:rPr lang="en-US" sz="3600" b="1" dirty="0">
                <a:solidFill>
                  <a:srgbClr val="E5B85C"/>
                </a:solidFill>
                <a:latin typeface="Georgia" pitchFamily="34" charset="0"/>
                <a:ea typeface="Georgia" pitchFamily="34" charset="-122"/>
                <a:cs typeface="Georgia" pitchFamily="34" charset="-120"/>
              </a:rPr>
              <a:t>1</a:t>
            </a:r>
            <a:endParaRPr lang="en-US" sz="3600" dirty="0"/>
          </a:p>
        </p:txBody>
      </p:sp>
      <p:sp>
        <p:nvSpPr>
          <p:cNvPr id="7" name="Shape 5"/>
          <p:cNvSpPr/>
          <p:nvPr/>
        </p:nvSpPr>
        <p:spPr>
          <a:xfrm>
            <a:off x="2011680" y="3383280"/>
            <a:ext cx="640080" cy="0"/>
          </a:xfrm>
          <a:prstGeom prst="line">
            <a:avLst/>
          </a:prstGeom>
          <a:noFill/>
          <a:ln w="19050">
            <a:solidFill>
              <a:srgbClr val="B8862E"/>
            </a:solidFill>
            <a:prstDash val="solid"/>
            <a:tailEnd type="triangle"/>
          </a:ln>
        </p:spPr>
      </p:sp>
      <p:sp>
        <p:nvSpPr>
          <p:cNvPr id="8" name="Text 6"/>
          <p:cNvSpPr/>
          <p:nvPr/>
        </p:nvSpPr>
        <p:spPr>
          <a:xfrm>
            <a:off x="457200" y="4023360"/>
            <a:ext cx="2011680" cy="365760"/>
          </a:xfrm>
          <a:prstGeom prst="rect">
            <a:avLst/>
          </a:prstGeom>
          <a:noFill/>
          <a:ln/>
        </p:spPr>
        <p:txBody>
          <a:bodyPr wrap="square" rtlCol="0" anchor="ctr"/>
          <a:lstStyle/>
          <a:p>
            <a:pPr algn="ctr" indent="0" marL="0">
              <a:buNone/>
            </a:pPr>
            <a:r>
              <a:rPr lang="en-US" sz="1300" b="1" dirty="0">
                <a:solidFill>
                  <a:srgbClr val="0A2540"/>
                </a:solidFill>
                <a:latin typeface="Calibri" pitchFamily="34" charset="0"/>
                <a:ea typeface="Calibri" pitchFamily="34" charset="-122"/>
                <a:cs typeface="Calibri" pitchFamily="34" charset="-120"/>
              </a:rPr>
              <a:t>Alimentation</a:t>
            </a:r>
            <a:endParaRPr lang="en-US" sz="1300" dirty="0"/>
          </a:p>
        </p:txBody>
      </p:sp>
      <p:sp>
        <p:nvSpPr>
          <p:cNvPr id="9" name="Text 7"/>
          <p:cNvSpPr/>
          <p:nvPr/>
        </p:nvSpPr>
        <p:spPr>
          <a:xfrm>
            <a:off x="457200" y="4434840"/>
            <a:ext cx="2011680" cy="10972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L'institution crédite</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un fonds digital via</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Mobile Money</a:t>
            </a:r>
            <a:endParaRPr lang="en-US" sz="1000" dirty="0"/>
          </a:p>
        </p:txBody>
      </p:sp>
      <p:sp>
        <p:nvSpPr>
          <p:cNvPr id="10" name="Shape 8"/>
          <p:cNvSpPr/>
          <p:nvPr/>
        </p:nvSpPr>
        <p:spPr>
          <a:xfrm>
            <a:off x="3291840" y="2926080"/>
            <a:ext cx="914400" cy="914400"/>
          </a:xfrm>
          <a:prstGeom prst="ellipse">
            <a:avLst/>
          </a:prstGeom>
          <a:solidFill>
            <a:srgbClr val="0A2540"/>
          </a:solidFill>
          <a:ln w="25400">
            <a:solidFill>
              <a:srgbClr val="B8862E"/>
            </a:solidFill>
            <a:prstDash val="solid"/>
          </a:ln>
        </p:spPr>
      </p:sp>
      <p:sp>
        <p:nvSpPr>
          <p:cNvPr id="11" name="Text 9"/>
          <p:cNvSpPr/>
          <p:nvPr/>
        </p:nvSpPr>
        <p:spPr>
          <a:xfrm>
            <a:off x="3291840" y="2926080"/>
            <a:ext cx="914400" cy="914400"/>
          </a:xfrm>
          <a:prstGeom prst="rect">
            <a:avLst/>
          </a:prstGeom>
          <a:noFill/>
          <a:ln/>
        </p:spPr>
        <p:txBody>
          <a:bodyPr wrap="square" rtlCol="0" anchor="ctr"/>
          <a:lstStyle/>
          <a:p>
            <a:pPr algn="ctr" indent="0" marL="0">
              <a:buNone/>
            </a:pPr>
            <a:r>
              <a:rPr lang="en-US" sz="3600" b="1" dirty="0">
                <a:solidFill>
                  <a:srgbClr val="E5B85C"/>
                </a:solidFill>
                <a:latin typeface="Georgia" pitchFamily="34" charset="0"/>
                <a:ea typeface="Georgia" pitchFamily="34" charset="-122"/>
                <a:cs typeface="Georgia" pitchFamily="34" charset="-120"/>
              </a:rPr>
              <a:t>2</a:t>
            </a:r>
            <a:endParaRPr lang="en-US" sz="3600" dirty="0"/>
          </a:p>
        </p:txBody>
      </p:sp>
      <p:sp>
        <p:nvSpPr>
          <p:cNvPr id="12" name="Shape 10"/>
          <p:cNvSpPr/>
          <p:nvPr/>
        </p:nvSpPr>
        <p:spPr>
          <a:xfrm>
            <a:off x="4297680" y="3383280"/>
            <a:ext cx="640080" cy="0"/>
          </a:xfrm>
          <a:prstGeom prst="line">
            <a:avLst/>
          </a:prstGeom>
          <a:noFill/>
          <a:ln w="19050">
            <a:solidFill>
              <a:srgbClr val="B8862E"/>
            </a:solidFill>
            <a:prstDash val="solid"/>
            <a:tailEnd type="triangle"/>
          </a:ln>
        </p:spPr>
      </p:sp>
      <p:sp>
        <p:nvSpPr>
          <p:cNvPr id="13" name="Text 11"/>
          <p:cNvSpPr/>
          <p:nvPr/>
        </p:nvSpPr>
        <p:spPr>
          <a:xfrm>
            <a:off x="2743200" y="4023360"/>
            <a:ext cx="2011680" cy="365760"/>
          </a:xfrm>
          <a:prstGeom prst="rect">
            <a:avLst/>
          </a:prstGeom>
          <a:noFill/>
          <a:ln/>
        </p:spPr>
        <p:txBody>
          <a:bodyPr wrap="square" rtlCol="0" anchor="ctr"/>
          <a:lstStyle/>
          <a:p>
            <a:pPr algn="ctr" indent="0" marL="0">
              <a:buNone/>
            </a:pPr>
            <a:r>
              <a:rPr lang="en-US" sz="1300" b="1" dirty="0">
                <a:solidFill>
                  <a:srgbClr val="0A2540"/>
                </a:solidFill>
                <a:latin typeface="Calibri" pitchFamily="34" charset="0"/>
                <a:ea typeface="Calibri" pitchFamily="34" charset="-122"/>
                <a:cs typeface="Calibri" pitchFamily="34" charset="-120"/>
              </a:rPr>
              <a:t>Configuration</a:t>
            </a:r>
            <a:endParaRPr lang="en-US" sz="1300" dirty="0"/>
          </a:p>
        </p:txBody>
      </p:sp>
      <p:sp>
        <p:nvSpPr>
          <p:cNvPr id="14" name="Text 12"/>
          <p:cNvSpPr/>
          <p:nvPr/>
        </p:nvSpPr>
        <p:spPr>
          <a:xfrm>
            <a:off x="2743200" y="4434840"/>
            <a:ext cx="2011680" cy="10972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Conditions fixées :</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montant par article,</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par reportage</a:t>
            </a:r>
            <a:endParaRPr lang="en-US" sz="1000" dirty="0"/>
          </a:p>
        </p:txBody>
      </p:sp>
      <p:sp>
        <p:nvSpPr>
          <p:cNvPr id="15" name="Shape 13"/>
          <p:cNvSpPr/>
          <p:nvPr/>
        </p:nvSpPr>
        <p:spPr>
          <a:xfrm>
            <a:off x="5577840" y="2926080"/>
            <a:ext cx="914400" cy="914400"/>
          </a:xfrm>
          <a:prstGeom prst="ellipse">
            <a:avLst/>
          </a:prstGeom>
          <a:solidFill>
            <a:srgbClr val="0A2540"/>
          </a:solidFill>
          <a:ln w="25400">
            <a:solidFill>
              <a:srgbClr val="B8862E"/>
            </a:solidFill>
            <a:prstDash val="solid"/>
          </a:ln>
        </p:spPr>
      </p:sp>
      <p:sp>
        <p:nvSpPr>
          <p:cNvPr id="16" name="Text 14"/>
          <p:cNvSpPr/>
          <p:nvPr/>
        </p:nvSpPr>
        <p:spPr>
          <a:xfrm>
            <a:off x="5577840" y="2926080"/>
            <a:ext cx="914400" cy="914400"/>
          </a:xfrm>
          <a:prstGeom prst="rect">
            <a:avLst/>
          </a:prstGeom>
          <a:noFill/>
          <a:ln/>
        </p:spPr>
        <p:txBody>
          <a:bodyPr wrap="square" rtlCol="0" anchor="ctr"/>
          <a:lstStyle/>
          <a:p>
            <a:pPr algn="ctr" indent="0" marL="0">
              <a:buNone/>
            </a:pPr>
            <a:r>
              <a:rPr lang="en-US" sz="3600" b="1" dirty="0">
                <a:solidFill>
                  <a:srgbClr val="E5B85C"/>
                </a:solidFill>
                <a:latin typeface="Georgia" pitchFamily="34" charset="0"/>
                <a:ea typeface="Georgia" pitchFamily="34" charset="-122"/>
                <a:cs typeface="Georgia" pitchFamily="34" charset="-120"/>
              </a:rPr>
              <a:t>3</a:t>
            </a:r>
            <a:endParaRPr lang="en-US" sz="3600" dirty="0"/>
          </a:p>
        </p:txBody>
      </p:sp>
      <p:sp>
        <p:nvSpPr>
          <p:cNvPr id="17" name="Shape 15"/>
          <p:cNvSpPr/>
          <p:nvPr/>
        </p:nvSpPr>
        <p:spPr>
          <a:xfrm>
            <a:off x="6583680" y="3383280"/>
            <a:ext cx="640080" cy="0"/>
          </a:xfrm>
          <a:prstGeom prst="line">
            <a:avLst/>
          </a:prstGeom>
          <a:noFill/>
          <a:ln w="19050">
            <a:solidFill>
              <a:srgbClr val="B8862E"/>
            </a:solidFill>
            <a:prstDash val="solid"/>
            <a:tailEnd type="triangle"/>
          </a:ln>
        </p:spPr>
      </p:sp>
      <p:sp>
        <p:nvSpPr>
          <p:cNvPr id="18" name="Text 16"/>
          <p:cNvSpPr/>
          <p:nvPr/>
        </p:nvSpPr>
        <p:spPr>
          <a:xfrm>
            <a:off x="5029200" y="4023360"/>
            <a:ext cx="2011680" cy="365760"/>
          </a:xfrm>
          <a:prstGeom prst="rect">
            <a:avLst/>
          </a:prstGeom>
          <a:noFill/>
          <a:ln/>
        </p:spPr>
        <p:txBody>
          <a:bodyPr wrap="square" rtlCol="0" anchor="ctr"/>
          <a:lstStyle/>
          <a:p>
            <a:pPr algn="ctr" indent="0" marL="0">
              <a:buNone/>
            </a:pPr>
            <a:r>
              <a:rPr lang="en-US" sz="1300" b="1" dirty="0">
                <a:solidFill>
                  <a:srgbClr val="0A2540"/>
                </a:solidFill>
                <a:latin typeface="Calibri" pitchFamily="34" charset="0"/>
                <a:ea typeface="Calibri" pitchFamily="34" charset="-122"/>
                <a:cs typeface="Calibri" pitchFamily="34" charset="-120"/>
              </a:rPr>
              <a:t>Acceptation</a:t>
            </a:r>
            <a:endParaRPr lang="en-US" sz="1300" dirty="0"/>
          </a:p>
        </p:txBody>
      </p:sp>
      <p:sp>
        <p:nvSpPr>
          <p:cNvPr id="19" name="Text 17"/>
          <p:cNvSpPr/>
          <p:nvPr/>
        </p:nvSpPr>
        <p:spPr>
          <a:xfrm>
            <a:off x="5029200" y="4434840"/>
            <a:ext cx="2011680" cy="10972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Le journaliste voit</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les conditions et</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accepte ou décline</a:t>
            </a:r>
            <a:endParaRPr lang="en-US" sz="1000" dirty="0"/>
          </a:p>
        </p:txBody>
      </p:sp>
      <p:sp>
        <p:nvSpPr>
          <p:cNvPr id="20" name="Shape 18"/>
          <p:cNvSpPr/>
          <p:nvPr/>
        </p:nvSpPr>
        <p:spPr>
          <a:xfrm>
            <a:off x="7863840" y="2926080"/>
            <a:ext cx="914400" cy="914400"/>
          </a:xfrm>
          <a:prstGeom prst="ellipse">
            <a:avLst/>
          </a:prstGeom>
          <a:solidFill>
            <a:srgbClr val="0A2540"/>
          </a:solidFill>
          <a:ln w="25400">
            <a:solidFill>
              <a:srgbClr val="B8862E"/>
            </a:solidFill>
            <a:prstDash val="solid"/>
          </a:ln>
        </p:spPr>
      </p:sp>
      <p:sp>
        <p:nvSpPr>
          <p:cNvPr id="21" name="Text 19"/>
          <p:cNvSpPr/>
          <p:nvPr/>
        </p:nvSpPr>
        <p:spPr>
          <a:xfrm>
            <a:off x="7863840" y="2926080"/>
            <a:ext cx="914400" cy="914400"/>
          </a:xfrm>
          <a:prstGeom prst="rect">
            <a:avLst/>
          </a:prstGeom>
          <a:noFill/>
          <a:ln/>
        </p:spPr>
        <p:txBody>
          <a:bodyPr wrap="square" rtlCol="0" anchor="ctr"/>
          <a:lstStyle/>
          <a:p>
            <a:pPr algn="ctr" indent="0" marL="0">
              <a:buNone/>
            </a:pPr>
            <a:r>
              <a:rPr lang="en-US" sz="3600" b="1" dirty="0">
                <a:solidFill>
                  <a:srgbClr val="E5B85C"/>
                </a:solidFill>
                <a:latin typeface="Georgia" pitchFamily="34" charset="0"/>
                <a:ea typeface="Georgia" pitchFamily="34" charset="-122"/>
                <a:cs typeface="Georgia" pitchFamily="34" charset="-120"/>
              </a:rPr>
              <a:t>4</a:t>
            </a:r>
            <a:endParaRPr lang="en-US" sz="3600" dirty="0"/>
          </a:p>
        </p:txBody>
      </p:sp>
      <p:sp>
        <p:nvSpPr>
          <p:cNvPr id="22" name="Shape 20"/>
          <p:cNvSpPr/>
          <p:nvPr/>
        </p:nvSpPr>
        <p:spPr>
          <a:xfrm>
            <a:off x="8869680" y="3383280"/>
            <a:ext cx="640080" cy="0"/>
          </a:xfrm>
          <a:prstGeom prst="line">
            <a:avLst/>
          </a:prstGeom>
          <a:noFill/>
          <a:ln w="19050">
            <a:solidFill>
              <a:srgbClr val="B8862E"/>
            </a:solidFill>
            <a:prstDash val="solid"/>
            <a:tailEnd type="triangle"/>
          </a:ln>
        </p:spPr>
      </p:sp>
      <p:sp>
        <p:nvSpPr>
          <p:cNvPr id="23" name="Text 21"/>
          <p:cNvSpPr/>
          <p:nvPr/>
        </p:nvSpPr>
        <p:spPr>
          <a:xfrm>
            <a:off x="7315200" y="4023360"/>
            <a:ext cx="2011680" cy="365760"/>
          </a:xfrm>
          <a:prstGeom prst="rect">
            <a:avLst/>
          </a:prstGeom>
          <a:noFill/>
          <a:ln/>
        </p:spPr>
        <p:txBody>
          <a:bodyPr wrap="square" rtlCol="0" anchor="ctr"/>
          <a:lstStyle/>
          <a:p>
            <a:pPr algn="ctr" indent="0" marL="0">
              <a:buNone/>
            </a:pPr>
            <a:r>
              <a:rPr lang="en-US" sz="1300" b="1" dirty="0">
                <a:solidFill>
                  <a:srgbClr val="0A2540"/>
                </a:solidFill>
                <a:latin typeface="Calibri" pitchFamily="34" charset="0"/>
                <a:ea typeface="Calibri" pitchFamily="34" charset="-122"/>
                <a:cs typeface="Calibri" pitchFamily="34" charset="-120"/>
              </a:rPr>
              <a:t>Preuve</a:t>
            </a:r>
            <a:endParaRPr lang="en-US" sz="1300" dirty="0"/>
          </a:p>
        </p:txBody>
      </p:sp>
      <p:sp>
        <p:nvSpPr>
          <p:cNvPr id="24" name="Text 22"/>
          <p:cNvSpPr/>
          <p:nvPr/>
        </p:nvSpPr>
        <p:spPr>
          <a:xfrm>
            <a:off x="7315200" y="4434840"/>
            <a:ext cx="2011680" cy="10972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Le journaliste soumet</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sa preuve après</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publication</a:t>
            </a:r>
            <a:endParaRPr lang="en-US" sz="1000" dirty="0"/>
          </a:p>
        </p:txBody>
      </p:sp>
      <p:sp>
        <p:nvSpPr>
          <p:cNvPr id="25" name="Shape 23"/>
          <p:cNvSpPr/>
          <p:nvPr/>
        </p:nvSpPr>
        <p:spPr>
          <a:xfrm>
            <a:off x="10149840" y="2926080"/>
            <a:ext cx="914400" cy="914400"/>
          </a:xfrm>
          <a:prstGeom prst="ellipse">
            <a:avLst/>
          </a:prstGeom>
          <a:solidFill>
            <a:srgbClr val="0A2540"/>
          </a:solidFill>
          <a:ln w="25400">
            <a:solidFill>
              <a:srgbClr val="B8862E"/>
            </a:solidFill>
            <a:prstDash val="solid"/>
          </a:ln>
        </p:spPr>
      </p:sp>
      <p:sp>
        <p:nvSpPr>
          <p:cNvPr id="26" name="Text 24"/>
          <p:cNvSpPr/>
          <p:nvPr/>
        </p:nvSpPr>
        <p:spPr>
          <a:xfrm>
            <a:off x="10149840" y="2926080"/>
            <a:ext cx="914400" cy="914400"/>
          </a:xfrm>
          <a:prstGeom prst="rect">
            <a:avLst/>
          </a:prstGeom>
          <a:noFill/>
          <a:ln/>
        </p:spPr>
        <p:txBody>
          <a:bodyPr wrap="square" rtlCol="0" anchor="ctr"/>
          <a:lstStyle/>
          <a:p>
            <a:pPr algn="ctr" indent="0" marL="0">
              <a:buNone/>
            </a:pPr>
            <a:r>
              <a:rPr lang="en-US" sz="3600" b="1" dirty="0">
                <a:solidFill>
                  <a:srgbClr val="E5B85C"/>
                </a:solidFill>
                <a:latin typeface="Georgia" pitchFamily="34" charset="0"/>
                <a:ea typeface="Georgia" pitchFamily="34" charset="-122"/>
                <a:cs typeface="Georgia" pitchFamily="34" charset="-120"/>
              </a:rPr>
              <a:t>5</a:t>
            </a:r>
            <a:endParaRPr lang="en-US" sz="3600" dirty="0"/>
          </a:p>
        </p:txBody>
      </p:sp>
      <p:sp>
        <p:nvSpPr>
          <p:cNvPr id="27" name="Text 25"/>
          <p:cNvSpPr/>
          <p:nvPr/>
        </p:nvSpPr>
        <p:spPr>
          <a:xfrm>
            <a:off x="9601200" y="4023360"/>
            <a:ext cx="2011680" cy="365760"/>
          </a:xfrm>
          <a:prstGeom prst="rect">
            <a:avLst/>
          </a:prstGeom>
          <a:noFill/>
          <a:ln/>
        </p:spPr>
        <p:txBody>
          <a:bodyPr wrap="square" rtlCol="0" anchor="ctr"/>
          <a:lstStyle/>
          <a:p>
            <a:pPr algn="ctr" indent="0" marL="0">
              <a:buNone/>
            </a:pPr>
            <a:r>
              <a:rPr lang="en-US" sz="1300" b="1" dirty="0">
                <a:solidFill>
                  <a:srgbClr val="0A2540"/>
                </a:solidFill>
                <a:latin typeface="Calibri" pitchFamily="34" charset="0"/>
                <a:ea typeface="Calibri" pitchFamily="34" charset="-122"/>
                <a:cs typeface="Calibri" pitchFamily="34" charset="-120"/>
              </a:rPr>
              <a:t>Paiement auto</a:t>
            </a:r>
            <a:endParaRPr lang="en-US" sz="1300" dirty="0"/>
          </a:p>
        </p:txBody>
      </p:sp>
      <p:sp>
        <p:nvSpPr>
          <p:cNvPr id="28" name="Text 26"/>
          <p:cNvSpPr/>
          <p:nvPr/>
        </p:nvSpPr>
        <p:spPr>
          <a:xfrm>
            <a:off x="9601200" y="4434840"/>
            <a:ext cx="2011680" cy="10972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Versement Mobile</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Money instantané</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 commission 15%</a:t>
            </a:r>
            <a:endParaRPr lang="en-US" sz="1000" dirty="0"/>
          </a:p>
        </p:txBody>
      </p:sp>
      <p:sp>
        <p:nvSpPr>
          <p:cNvPr id="29" name="Shape 27"/>
          <p:cNvSpPr/>
          <p:nvPr/>
        </p:nvSpPr>
        <p:spPr>
          <a:xfrm>
            <a:off x="457200" y="5760720"/>
            <a:ext cx="10972800" cy="777240"/>
          </a:xfrm>
          <a:prstGeom prst="rect">
            <a:avLst/>
          </a:prstGeom>
          <a:solidFill>
            <a:srgbClr val="0A2540"/>
          </a:solidFill>
          <a:ln/>
        </p:spPr>
      </p:sp>
      <p:sp>
        <p:nvSpPr>
          <p:cNvPr id="30" name="Shape 28"/>
          <p:cNvSpPr/>
          <p:nvPr/>
        </p:nvSpPr>
        <p:spPr>
          <a:xfrm>
            <a:off x="457200" y="5760720"/>
            <a:ext cx="73152" cy="777240"/>
          </a:xfrm>
          <a:prstGeom prst="rect">
            <a:avLst/>
          </a:prstGeom>
          <a:solidFill>
            <a:srgbClr val="B8862E"/>
          </a:solidFill>
          <a:ln/>
        </p:spPr>
      </p:sp>
      <p:sp>
        <p:nvSpPr>
          <p:cNvPr id="31" name="Text 29"/>
          <p:cNvSpPr/>
          <p:nvPr/>
        </p:nvSpPr>
        <p:spPr>
          <a:xfrm>
            <a:off x="777240" y="5760720"/>
            <a:ext cx="10515600" cy="7772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Commission HERALDO 15% par transaction. Revenu entièrement variable et scalable. C'est notre flywheel financier.</a:t>
            </a:r>
            <a:endParaRPr lang="en-US" sz="1300" dirty="0"/>
          </a:p>
        </p:txBody>
      </p:sp>
      <p:sp>
        <p:nvSpPr>
          <p:cNvPr id="32" name="Text 30"/>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06  ·  MARCHÉ</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Un marché adressable réel et chiffrable.</a:t>
            </a:r>
            <a:endParaRPr lang="en-US" sz="3200" dirty="0"/>
          </a:p>
        </p:txBody>
      </p:sp>
      <p:sp>
        <p:nvSpPr>
          <p:cNvPr id="4" name="Text 2"/>
          <p:cNvSpPr/>
          <p:nvPr/>
        </p:nvSpPr>
        <p:spPr>
          <a:xfrm>
            <a:off x="457200" y="1828800"/>
            <a:ext cx="5486400" cy="365760"/>
          </a:xfrm>
          <a:prstGeom prst="rect">
            <a:avLst/>
          </a:prstGeom>
          <a:noFill/>
          <a:ln/>
        </p:spPr>
        <p:txBody>
          <a:bodyPr wrap="square" rtlCol="0" anchor="ctr"/>
          <a:lstStyle/>
          <a:p>
            <a:pPr indent="0" marL="0">
              <a:buNone/>
            </a:pPr>
            <a:r>
              <a:rPr lang="en-US" sz="1100" b="1" spc="300" kern="0" dirty="0">
                <a:solidFill>
                  <a:srgbClr val="B8862E"/>
                </a:solidFill>
                <a:latin typeface="Calibri" pitchFamily="34" charset="0"/>
                <a:ea typeface="Calibri" pitchFamily="34" charset="-122"/>
                <a:cs typeface="Calibri" pitchFamily="34" charset="-120"/>
              </a:rPr>
              <a:t>CÔTE D'IVOIRE — MARCHÉ INITIAL</a:t>
            </a:r>
            <a:endParaRPr lang="en-US" sz="1100" dirty="0"/>
          </a:p>
        </p:txBody>
      </p:sp>
      <p:sp>
        <p:nvSpPr>
          <p:cNvPr id="5" name="Shape 3"/>
          <p:cNvSpPr/>
          <p:nvPr/>
        </p:nvSpPr>
        <p:spPr>
          <a:xfrm>
            <a:off x="457200" y="2331720"/>
            <a:ext cx="5486400" cy="411480"/>
          </a:xfrm>
          <a:prstGeom prst="rect">
            <a:avLst/>
          </a:prstGeom>
          <a:solidFill>
            <a:srgbClr val="F7F9FB"/>
          </a:solidFill>
          <a:ln/>
        </p:spPr>
      </p:sp>
      <p:sp>
        <p:nvSpPr>
          <p:cNvPr id="6" name="Text 4"/>
          <p:cNvSpPr/>
          <p:nvPr/>
        </p:nvSpPr>
        <p:spPr>
          <a:xfrm>
            <a:off x="640080" y="2331720"/>
            <a:ext cx="2743200" cy="411480"/>
          </a:xfrm>
          <a:prstGeom prst="rect">
            <a:avLst/>
          </a:prstGeom>
          <a:noFill/>
          <a:ln/>
        </p:spPr>
        <p:txBody>
          <a:bodyPr wrap="square" rtlCol="0" anchor="ctr"/>
          <a:lstStyle/>
          <a:p>
            <a:pPr indent="0" marL="0">
              <a:buNone/>
            </a:pPr>
            <a:r>
              <a:rPr lang="en-US" sz="1100" dirty="0">
                <a:solidFill>
                  <a:srgbClr val="0A2540"/>
                </a:solidFill>
                <a:latin typeface="Calibri" pitchFamily="34" charset="0"/>
                <a:ea typeface="Calibri" pitchFamily="34" charset="-122"/>
                <a:cs typeface="Calibri" pitchFamily="34" charset="-120"/>
              </a:rPr>
              <a:t>Mairies</a:t>
            </a:r>
            <a:endParaRPr lang="en-US" sz="1100" dirty="0"/>
          </a:p>
        </p:txBody>
      </p:sp>
      <p:sp>
        <p:nvSpPr>
          <p:cNvPr id="7" name="Text 5"/>
          <p:cNvSpPr/>
          <p:nvPr/>
        </p:nvSpPr>
        <p:spPr>
          <a:xfrm>
            <a:off x="3383280" y="2331720"/>
            <a:ext cx="731520" cy="411480"/>
          </a:xfrm>
          <a:prstGeom prst="rect">
            <a:avLst/>
          </a:prstGeom>
          <a:noFill/>
          <a:ln/>
        </p:spPr>
        <p:txBody>
          <a:bodyPr wrap="square" rtlCol="0" anchor="ctr"/>
          <a:lstStyle/>
          <a:p>
            <a:pPr algn="r" indent="0" marL="0">
              <a:buNone/>
            </a:pPr>
            <a:r>
              <a:rPr lang="en-US" sz="1100" dirty="0">
                <a:solidFill>
                  <a:srgbClr val="5A6470"/>
                </a:solidFill>
                <a:latin typeface="Calibri" pitchFamily="34" charset="0"/>
                <a:ea typeface="Calibri" pitchFamily="34" charset="-122"/>
                <a:cs typeface="Calibri" pitchFamily="34" charset="-120"/>
              </a:rPr>
              <a:t>201</a:t>
            </a:r>
            <a:endParaRPr lang="en-US" sz="1100" dirty="0"/>
          </a:p>
        </p:txBody>
      </p:sp>
      <p:sp>
        <p:nvSpPr>
          <p:cNvPr id="8" name="Text 6"/>
          <p:cNvSpPr/>
          <p:nvPr/>
        </p:nvSpPr>
        <p:spPr>
          <a:xfrm>
            <a:off x="4114800" y="2331720"/>
            <a:ext cx="1737360" cy="41148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96,5 M FCFA</a:t>
            </a:r>
            <a:endParaRPr lang="en-US" sz="1100" dirty="0"/>
          </a:p>
        </p:txBody>
      </p:sp>
      <p:sp>
        <p:nvSpPr>
          <p:cNvPr id="9" name="Text 7"/>
          <p:cNvSpPr/>
          <p:nvPr/>
        </p:nvSpPr>
        <p:spPr>
          <a:xfrm>
            <a:off x="640080" y="2743200"/>
            <a:ext cx="2743200" cy="411480"/>
          </a:xfrm>
          <a:prstGeom prst="rect">
            <a:avLst/>
          </a:prstGeom>
          <a:noFill/>
          <a:ln/>
        </p:spPr>
        <p:txBody>
          <a:bodyPr wrap="square" rtlCol="0" anchor="ctr"/>
          <a:lstStyle/>
          <a:p>
            <a:pPr indent="0" marL="0">
              <a:buNone/>
            </a:pPr>
            <a:r>
              <a:rPr lang="en-US" sz="1100" dirty="0">
                <a:solidFill>
                  <a:srgbClr val="0A2540"/>
                </a:solidFill>
                <a:latin typeface="Calibri" pitchFamily="34" charset="0"/>
                <a:ea typeface="Calibri" pitchFamily="34" charset="-122"/>
                <a:cs typeface="Calibri" pitchFamily="34" charset="-120"/>
              </a:rPr>
              <a:t>Députés / Conseillers</a:t>
            </a:r>
            <a:endParaRPr lang="en-US" sz="1100" dirty="0"/>
          </a:p>
        </p:txBody>
      </p:sp>
      <p:sp>
        <p:nvSpPr>
          <p:cNvPr id="10" name="Text 8"/>
          <p:cNvSpPr/>
          <p:nvPr/>
        </p:nvSpPr>
        <p:spPr>
          <a:xfrm>
            <a:off x="3383280" y="2743200"/>
            <a:ext cx="731520" cy="411480"/>
          </a:xfrm>
          <a:prstGeom prst="rect">
            <a:avLst/>
          </a:prstGeom>
          <a:noFill/>
          <a:ln/>
        </p:spPr>
        <p:txBody>
          <a:bodyPr wrap="square" rtlCol="0" anchor="ctr"/>
          <a:lstStyle/>
          <a:p>
            <a:pPr algn="r" indent="0" marL="0">
              <a:buNone/>
            </a:pPr>
            <a:r>
              <a:rPr lang="en-US" sz="1100" dirty="0">
                <a:solidFill>
                  <a:srgbClr val="5A6470"/>
                </a:solidFill>
                <a:latin typeface="Calibri" pitchFamily="34" charset="0"/>
                <a:ea typeface="Calibri" pitchFamily="34" charset="-122"/>
                <a:cs typeface="Calibri" pitchFamily="34" charset="-120"/>
              </a:rPr>
              <a:t>255</a:t>
            </a:r>
            <a:endParaRPr lang="en-US" sz="1100" dirty="0"/>
          </a:p>
        </p:txBody>
      </p:sp>
      <p:sp>
        <p:nvSpPr>
          <p:cNvPr id="11" name="Text 9"/>
          <p:cNvSpPr/>
          <p:nvPr/>
        </p:nvSpPr>
        <p:spPr>
          <a:xfrm>
            <a:off x="4114800" y="2743200"/>
            <a:ext cx="1737360" cy="41148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61,2 M FCFA</a:t>
            </a:r>
            <a:endParaRPr lang="en-US" sz="1100" dirty="0"/>
          </a:p>
        </p:txBody>
      </p:sp>
      <p:sp>
        <p:nvSpPr>
          <p:cNvPr id="12" name="Shape 10"/>
          <p:cNvSpPr/>
          <p:nvPr/>
        </p:nvSpPr>
        <p:spPr>
          <a:xfrm>
            <a:off x="457200" y="3154680"/>
            <a:ext cx="5486400" cy="411480"/>
          </a:xfrm>
          <a:prstGeom prst="rect">
            <a:avLst/>
          </a:prstGeom>
          <a:solidFill>
            <a:srgbClr val="F7F9FB"/>
          </a:solidFill>
          <a:ln/>
        </p:spPr>
      </p:sp>
      <p:sp>
        <p:nvSpPr>
          <p:cNvPr id="13" name="Text 11"/>
          <p:cNvSpPr/>
          <p:nvPr/>
        </p:nvSpPr>
        <p:spPr>
          <a:xfrm>
            <a:off x="640080" y="3154680"/>
            <a:ext cx="2743200" cy="411480"/>
          </a:xfrm>
          <a:prstGeom prst="rect">
            <a:avLst/>
          </a:prstGeom>
          <a:noFill/>
          <a:ln/>
        </p:spPr>
        <p:txBody>
          <a:bodyPr wrap="square" rtlCol="0" anchor="ctr"/>
          <a:lstStyle/>
          <a:p>
            <a:pPr indent="0" marL="0">
              <a:buNone/>
            </a:pPr>
            <a:r>
              <a:rPr lang="en-US" sz="1100" dirty="0">
                <a:solidFill>
                  <a:srgbClr val="0A2540"/>
                </a:solidFill>
                <a:latin typeface="Calibri" pitchFamily="34" charset="0"/>
                <a:ea typeface="Calibri" pitchFamily="34" charset="-122"/>
                <a:cs typeface="Calibri" pitchFamily="34" charset="-120"/>
              </a:rPr>
              <a:t>Conseils régionaux</a:t>
            </a:r>
            <a:endParaRPr lang="en-US" sz="1100" dirty="0"/>
          </a:p>
        </p:txBody>
      </p:sp>
      <p:sp>
        <p:nvSpPr>
          <p:cNvPr id="14" name="Text 12"/>
          <p:cNvSpPr/>
          <p:nvPr/>
        </p:nvSpPr>
        <p:spPr>
          <a:xfrm>
            <a:off x="3383280" y="3154680"/>
            <a:ext cx="731520" cy="411480"/>
          </a:xfrm>
          <a:prstGeom prst="rect">
            <a:avLst/>
          </a:prstGeom>
          <a:noFill/>
          <a:ln/>
        </p:spPr>
        <p:txBody>
          <a:bodyPr wrap="square" rtlCol="0" anchor="ctr"/>
          <a:lstStyle/>
          <a:p>
            <a:pPr algn="r" indent="0" marL="0">
              <a:buNone/>
            </a:pPr>
            <a:r>
              <a:rPr lang="en-US" sz="1100" dirty="0">
                <a:solidFill>
                  <a:srgbClr val="5A6470"/>
                </a:solidFill>
                <a:latin typeface="Calibri" pitchFamily="34" charset="0"/>
                <a:ea typeface="Calibri" pitchFamily="34" charset="-122"/>
                <a:cs typeface="Calibri" pitchFamily="34" charset="-120"/>
              </a:rPr>
              <a:t>31</a:t>
            </a:r>
            <a:endParaRPr lang="en-US" sz="1100" dirty="0"/>
          </a:p>
        </p:txBody>
      </p:sp>
      <p:sp>
        <p:nvSpPr>
          <p:cNvPr id="15" name="Text 13"/>
          <p:cNvSpPr/>
          <p:nvPr/>
        </p:nvSpPr>
        <p:spPr>
          <a:xfrm>
            <a:off x="4114800" y="3154680"/>
            <a:ext cx="1737360" cy="41148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27,9 M FCFA</a:t>
            </a:r>
            <a:endParaRPr lang="en-US" sz="1100" dirty="0"/>
          </a:p>
        </p:txBody>
      </p:sp>
      <p:sp>
        <p:nvSpPr>
          <p:cNvPr id="16" name="Text 14"/>
          <p:cNvSpPr/>
          <p:nvPr/>
        </p:nvSpPr>
        <p:spPr>
          <a:xfrm>
            <a:off x="640080" y="3566160"/>
            <a:ext cx="2743200" cy="411480"/>
          </a:xfrm>
          <a:prstGeom prst="rect">
            <a:avLst/>
          </a:prstGeom>
          <a:noFill/>
          <a:ln/>
        </p:spPr>
        <p:txBody>
          <a:bodyPr wrap="square" rtlCol="0" anchor="ctr"/>
          <a:lstStyle/>
          <a:p>
            <a:pPr indent="0" marL="0">
              <a:buNone/>
            </a:pPr>
            <a:r>
              <a:rPr lang="en-US" sz="1100" dirty="0">
                <a:solidFill>
                  <a:srgbClr val="0A2540"/>
                </a:solidFill>
                <a:latin typeface="Calibri" pitchFamily="34" charset="0"/>
                <a:ea typeface="Calibri" pitchFamily="34" charset="-122"/>
                <a:cs typeface="Calibri" pitchFamily="34" charset="-120"/>
              </a:rPr>
              <a:t>Ministères</a:t>
            </a:r>
            <a:endParaRPr lang="en-US" sz="1100" dirty="0"/>
          </a:p>
        </p:txBody>
      </p:sp>
      <p:sp>
        <p:nvSpPr>
          <p:cNvPr id="17" name="Text 15"/>
          <p:cNvSpPr/>
          <p:nvPr/>
        </p:nvSpPr>
        <p:spPr>
          <a:xfrm>
            <a:off x="3383280" y="3566160"/>
            <a:ext cx="731520" cy="411480"/>
          </a:xfrm>
          <a:prstGeom prst="rect">
            <a:avLst/>
          </a:prstGeom>
          <a:noFill/>
          <a:ln/>
        </p:spPr>
        <p:txBody>
          <a:bodyPr wrap="square" rtlCol="0" anchor="ctr"/>
          <a:lstStyle/>
          <a:p>
            <a:pPr algn="r" indent="0" marL="0">
              <a:buNone/>
            </a:pPr>
            <a:r>
              <a:rPr lang="en-US" sz="1100" dirty="0">
                <a:solidFill>
                  <a:srgbClr val="5A6470"/>
                </a:solidFill>
                <a:latin typeface="Calibri" pitchFamily="34" charset="0"/>
                <a:ea typeface="Calibri" pitchFamily="34" charset="-122"/>
                <a:cs typeface="Calibri" pitchFamily="34" charset="-120"/>
              </a:rPr>
              <a:t>40+</a:t>
            </a:r>
            <a:endParaRPr lang="en-US" sz="1100" dirty="0"/>
          </a:p>
        </p:txBody>
      </p:sp>
      <p:sp>
        <p:nvSpPr>
          <p:cNvPr id="18" name="Text 16"/>
          <p:cNvSpPr/>
          <p:nvPr/>
        </p:nvSpPr>
        <p:spPr>
          <a:xfrm>
            <a:off x="4114800" y="3566160"/>
            <a:ext cx="1737360" cy="41148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36,0 M FCFA</a:t>
            </a:r>
            <a:endParaRPr lang="en-US" sz="1100" dirty="0"/>
          </a:p>
        </p:txBody>
      </p:sp>
      <p:sp>
        <p:nvSpPr>
          <p:cNvPr id="19" name="Shape 17"/>
          <p:cNvSpPr/>
          <p:nvPr/>
        </p:nvSpPr>
        <p:spPr>
          <a:xfrm>
            <a:off x="457200" y="3977640"/>
            <a:ext cx="5486400" cy="411480"/>
          </a:xfrm>
          <a:prstGeom prst="rect">
            <a:avLst/>
          </a:prstGeom>
          <a:solidFill>
            <a:srgbClr val="F7F9FB"/>
          </a:solidFill>
          <a:ln/>
        </p:spPr>
      </p:sp>
      <p:sp>
        <p:nvSpPr>
          <p:cNvPr id="20" name="Text 18"/>
          <p:cNvSpPr/>
          <p:nvPr/>
        </p:nvSpPr>
        <p:spPr>
          <a:xfrm>
            <a:off x="640080" y="3977640"/>
            <a:ext cx="2743200" cy="411480"/>
          </a:xfrm>
          <a:prstGeom prst="rect">
            <a:avLst/>
          </a:prstGeom>
          <a:noFill/>
          <a:ln/>
        </p:spPr>
        <p:txBody>
          <a:bodyPr wrap="square" rtlCol="0" anchor="ctr"/>
          <a:lstStyle/>
          <a:p>
            <a:pPr indent="0" marL="0">
              <a:buNone/>
            </a:pPr>
            <a:r>
              <a:rPr lang="en-US" sz="1100" dirty="0">
                <a:solidFill>
                  <a:srgbClr val="0A2540"/>
                </a:solidFill>
                <a:latin typeface="Calibri" pitchFamily="34" charset="0"/>
                <a:ea typeface="Calibri" pitchFamily="34" charset="-122"/>
                <a:cs typeface="Calibri" pitchFamily="34" charset="-120"/>
              </a:rPr>
              <a:t>Agences RP</a:t>
            </a:r>
            <a:endParaRPr lang="en-US" sz="1100" dirty="0"/>
          </a:p>
        </p:txBody>
      </p:sp>
      <p:sp>
        <p:nvSpPr>
          <p:cNvPr id="21" name="Text 19"/>
          <p:cNvSpPr/>
          <p:nvPr/>
        </p:nvSpPr>
        <p:spPr>
          <a:xfrm>
            <a:off x="3383280" y="3977640"/>
            <a:ext cx="731520" cy="411480"/>
          </a:xfrm>
          <a:prstGeom prst="rect">
            <a:avLst/>
          </a:prstGeom>
          <a:noFill/>
          <a:ln/>
        </p:spPr>
        <p:txBody>
          <a:bodyPr wrap="square" rtlCol="0" anchor="ctr"/>
          <a:lstStyle/>
          <a:p>
            <a:pPr algn="r" indent="0" marL="0">
              <a:buNone/>
            </a:pPr>
            <a:r>
              <a:rPr lang="en-US" sz="1100" dirty="0">
                <a:solidFill>
                  <a:srgbClr val="5A6470"/>
                </a:solidFill>
                <a:latin typeface="Calibri" pitchFamily="34" charset="0"/>
                <a:ea typeface="Calibri" pitchFamily="34" charset="-122"/>
                <a:cs typeface="Calibri" pitchFamily="34" charset="-120"/>
              </a:rPr>
              <a:t>50+</a:t>
            </a:r>
            <a:endParaRPr lang="en-US" sz="1100" dirty="0"/>
          </a:p>
        </p:txBody>
      </p:sp>
      <p:sp>
        <p:nvSpPr>
          <p:cNvPr id="22" name="Text 20"/>
          <p:cNvSpPr/>
          <p:nvPr/>
        </p:nvSpPr>
        <p:spPr>
          <a:xfrm>
            <a:off x="4114800" y="3977640"/>
            <a:ext cx="1737360" cy="41148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36,0 M FCFA</a:t>
            </a:r>
            <a:endParaRPr lang="en-US" sz="1100" dirty="0"/>
          </a:p>
        </p:txBody>
      </p:sp>
      <p:sp>
        <p:nvSpPr>
          <p:cNvPr id="23" name="Shape 21"/>
          <p:cNvSpPr/>
          <p:nvPr/>
        </p:nvSpPr>
        <p:spPr>
          <a:xfrm>
            <a:off x="457200" y="4434840"/>
            <a:ext cx="5486400" cy="502920"/>
          </a:xfrm>
          <a:prstGeom prst="rect">
            <a:avLst/>
          </a:prstGeom>
          <a:solidFill>
            <a:srgbClr val="0A2540"/>
          </a:solidFill>
          <a:ln/>
        </p:spPr>
      </p:sp>
      <p:sp>
        <p:nvSpPr>
          <p:cNvPr id="24" name="Text 22"/>
          <p:cNvSpPr/>
          <p:nvPr/>
        </p:nvSpPr>
        <p:spPr>
          <a:xfrm>
            <a:off x="640080" y="4434840"/>
            <a:ext cx="32004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TOTAL ADRESSABLE CI</a:t>
            </a:r>
            <a:endParaRPr lang="en-US" sz="1200" dirty="0"/>
          </a:p>
        </p:txBody>
      </p:sp>
      <p:sp>
        <p:nvSpPr>
          <p:cNvPr id="25" name="Text 23"/>
          <p:cNvSpPr/>
          <p:nvPr/>
        </p:nvSpPr>
        <p:spPr>
          <a:xfrm>
            <a:off x="3840480" y="4434840"/>
            <a:ext cx="2011680" cy="502920"/>
          </a:xfrm>
          <a:prstGeom prst="rect">
            <a:avLst/>
          </a:prstGeom>
          <a:noFill/>
          <a:ln/>
        </p:spPr>
        <p:txBody>
          <a:bodyPr wrap="square" rtlCol="0" anchor="ctr"/>
          <a:lstStyle/>
          <a:p>
            <a:pPr algn="r" indent="0" marL="0">
              <a:buNone/>
            </a:pPr>
            <a:r>
              <a:rPr lang="en-US" sz="1300" b="1" dirty="0">
                <a:solidFill>
                  <a:srgbClr val="E5B85C"/>
                </a:solidFill>
                <a:latin typeface="Georgia" pitchFamily="34" charset="0"/>
                <a:ea typeface="Georgia" pitchFamily="34" charset="-122"/>
                <a:cs typeface="Georgia" pitchFamily="34" charset="-120"/>
              </a:rPr>
              <a:t>221 M FCFA / an</a:t>
            </a:r>
            <a:endParaRPr lang="en-US" sz="1300" dirty="0"/>
          </a:p>
        </p:txBody>
      </p:sp>
      <p:sp>
        <p:nvSpPr>
          <p:cNvPr id="26" name="Text 24"/>
          <p:cNvSpPr/>
          <p:nvPr/>
        </p:nvSpPr>
        <p:spPr>
          <a:xfrm>
            <a:off x="6400800" y="1828800"/>
            <a:ext cx="5486400" cy="365760"/>
          </a:xfrm>
          <a:prstGeom prst="rect">
            <a:avLst/>
          </a:prstGeom>
          <a:noFill/>
          <a:ln/>
        </p:spPr>
        <p:txBody>
          <a:bodyPr wrap="square" rtlCol="0" anchor="ctr"/>
          <a:lstStyle/>
          <a:p>
            <a:pPr indent="0" marL="0">
              <a:buNone/>
            </a:pPr>
            <a:r>
              <a:rPr lang="en-US" sz="1100" b="1" spc="300" kern="0" dirty="0">
                <a:solidFill>
                  <a:srgbClr val="B8862E"/>
                </a:solidFill>
                <a:latin typeface="Calibri" pitchFamily="34" charset="0"/>
                <a:ea typeface="Calibri" pitchFamily="34" charset="-122"/>
                <a:cs typeface="Calibri" pitchFamily="34" charset="-120"/>
              </a:rPr>
              <a:t>EXTENSION UEMOA — PHASE 2</a:t>
            </a:r>
            <a:endParaRPr lang="en-US" sz="1100" dirty="0"/>
          </a:p>
        </p:txBody>
      </p:sp>
      <p:sp>
        <p:nvSpPr>
          <p:cNvPr id="27" name="Shape 25"/>
          <p:cNvSpPr/>
          <p:nvPr/>
        </p:nvSpPr>
        <p:spPr>
          <a:xfrm>
            <a:off x="6400800" y="2331720"/>
            <a:ext cx="5303520" cy="457200"/>
          </a:xfrm>
          <a:prstGeom prst="rect">
            <a:avLst/>
          </a:prstGeom>
          <a:solidFill>
            <a:srgbClr val="F7F9FB"/>
          </a:solidFill>
          <a:ln/>
        </p:spPr>
      </p:sp>
      <p:sp>
        <p:nvSpPr>
          <p:cNvPr id="28" name="Text 26"/>
          <p:cNvSpPr/>
          <p:nvPr/>
        </p:nvSpPr>
        <p:spPr>
          <a:xfrm>
            <a:off x="6583680" y="2331720"/>
            <a:ext cx="1645920" cy="457200"/>
          </a:xfrm>
          <a:prstGeom prst="rect">
            <a:avLst/>
          </a:prstGeom>
          <a:noFill/>
          <a:ln/>
        </p:spPr>
        <p:txBody>
          <a:bodyPr wrap="square"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Sénégal</a:t>
            </a:r>
            <a:endParaRPr lang="en-US" sz="1100" dirty="0"/>
          </a:p>
        </p:txBody>
      </p:sp>
      <p:sp>
        <p:nvSpPr>
          <p:cNvPr id="29" name="Text 27"/>
          <p:cNvSpPr/>
          <p:nvPr/>
        </p:nvSpPr>
        <p:spPr>
          <a:xfrm>
            <a:off x="8229600" y="2331720"/>
            <a:ext cx="1645920" cy="45720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552 communes</a:t>
            </a:r>
            <a:endParaRPr lang="en-US" sz="1000" dirty="0"/>
          </a:p>
        </p:txBody>
      </p:sp>
      <p:sp>
        <p:nvSpPr>
          <p:cNvPr id="30" name="Text 28"/>
          <p:cNvSpPr/>
          <p:nvPr/>
        </p:nvSpPr>
        <p:spPr>
          <a:xfrm>
            <a:off x="9692640" y="2331720"/>
            <a:ext cx="1280160" cy="45720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13,4 M FCFA</a:t>
            </a:r>
            <a:endParaRPr lang="en-US" sz="1100" dirty="0"/>
          </a:p>
        </p:txBody>
      </p:sp>
      <p:sp>
        <p:nvSpPr>
          <p:cNvPr id="31" name="Text 29"/>
          <p:cNvSpPr/>
          <p:nvPr/>
        </p:nvSpPr>
        <p:spPr>
          <a:xfrm>
            <a:off x="10972800" y="2331720"/>
            <a:ext cx="731520" cy="457200"/>
          </a:xfrm>
          <a:prstGeom prst="rect">
            <a:avLst/>
          </a:prstGeom>
          <a:noFill/>
          <a:ln/>
        </p:spPr>
        <p:txBody>
          <a:bodyPr wrap="square" rtlCol="0" anchor="ctr"/>
          <a:lstStyle/>
          <a:p>
            <a:pPr algn="r" indent="0" marL="0">
              <a:buNone/>
            </a:pPr>
            <a:r>
              <a:rPr lang="en-US" sz="900" i="1" dirty="0">
                <a:solidFill>
                  <a:srgbClr val="5A6470"/>
                </a:solidFill>
                <a:latin typeface="Calibri" pitchFamily="34" charset="0"/>
                <a:ea typeface="Calibri" pitchFamily="34" charset="-122"/>
                <a:cs typeface="Calibri" pitchFamily="34" charset="-120"/>
              </a:rPr>
              <a:t>M18</a:t>
            </a:r>
            <a:endParaRPr lang="en-US" sz="900" dirty="0"/>
          </a:p>
        </p:txBody>
      </p:sp>
      <p:sp>
        <p:nvSpPr>
          <p:cNvPr id="32" name="Text 30"/>
          <p:cNvSpPr/>
          <p:nvPr/>
        </p:nvSpPr>
        <p:spPr>
          <a:xfrm>
            <a:off x="6583680" y="2788920"/>
            <a:ext cx="1645920" cy="457200"/>
          </a:xfrm>
          <a:prstGeom prst="rect">
            <a:avLst/>
          </a:prstGeom>
          <a:noFill/>
          <a:ln/>
        </p:spPr>
        <p:txBody>
          <a:bodyPr wrap="square"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Burkina Faso</a:t>
            </a:r>
            <a:endParaRPr lang="en-US" sz="1100" dirty="0"/>
          </a:p>
        </p:txBody>
      </p:sp>
      <p:sp>
        <p:nvSpPr>
          <p:cNvPr id="33" name="Text 31"/>
          <p:cNvSpPr/>
          <p:nvPr/>
        </p:nvSpPr>
        <p:spPr>
          <a:xfrm>
            <a:off x="8229600" y="2788920"/>
            <a:ext cx="1645920" cy="45720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351 communes</a:t>
            </a:r>
            <a:endParaRPr lang="en-US" sz="1000" dirty="0"/>
          </a:p>
        </p:txBody>
      </p:sp>
      <p:sp>
        <p:nvSpPr>
          <p:cNvPr id="34" name="Text 32"/>
          <p:cNvSpPr/>
          <p:nvPr/>
        </p:nvSpPr>
        <p:spPr>
          <a:xfrm>
            <a:off x="9692640" y="2788920"/>
            <a:ext cx="1280160" cy="45720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8,6 M FCFA</a:t>
            </a:r>
            <a:endParaRPr lang="en-US" sz="1100" dirty="0"/>
          </a:p>
        </p:txBody>
      </p:sp>
      <p:sp>
        <p:nvSpPr>
          <p:cNvPr id="35" name="Text 33"/>
          <p:cNvSpPr/>
          <p:nvPr/>
        </p:nvSpPr>
        <p:spPr>
          <a:xfrm>
            <a:off x="10972800" y="2788920"/>
            <a:ext cx="731520" cy="457200"/>
          </a:xfrm>
          <a:prstGeom prst="rect">
            <a:avLst/>
          </a:prstGeom>
          <a:noFill/>
          <a:ln/>
        </p:spPr>
        <p:txBody>
          <a:bodyPr wrap="square" rtlCol="0" anchor="ctr"/>
          <a:lstStyle/>
          <a:p>
            <a:pPr algn="r" indent="0" marL="0">
              <a:buNone/>
            </a:pPr>
            <a:r>
              <a:rPr lang="en-US" sz="900" i="1" dirty="0">
                <a:solidFill>
                  <a:srgbClr val="5A6470"/>
                </a:solidFill>
                <a:latin typeface="Calibri" pitchFamily="34" charset="0"/>
                <a:ea typeface="Calibri" pitchFamily="34" charset="-122"/>
                <a:cs typeface="Calibri" pitchFamily="34" charset="-120"/>
              </a:rPr>
              <a:t>M24</a:t>
            </a:r>
            <a:endParaRPr lang="en-US" sz="900" dirty="0"/>
          </a:p>
        </p:txBody>
      </p:sp>
      <p:sp>
        <p:nvSpPr>
          <p:cNvPr id="36" name="Shape 34"/>
          <p:cNvSpPr/>
          <p:nvPr/>
        </p:nvSpPr>
        <p:spPr>
          <a:xfrm>
            <a:off x="6400800" y="3246120"/>
            <a:ext cx="5303520" cy="457200"/>
          </a:xfrm>
          <a:prstGeom prst="rect">
            <a:avLst/>
          </a:prstGeom>
          <a:solidFill>
            <a:srgbClr val="F7F9FB"/>
          </a:solidFill>
          <a:ln/>
        </p:spPr>
      </p:sp>
      <p:sp>
        <p:nvSpPr>
          <p:cNvPr id="37" name="Text 35"/>
          <p:cNvSpPr/>
          <p:nvPr/>
        </p:nvSpPr>
        <p:spPr>
          <a:xfrm>
            <a:off x="6583680" y="3246120"/>
            <a:ext cx="1645920" cy="457200"/>
          </a:xfrm>
          <a:prstGeom prst="rect">
            <a:avLst/>
          </a:prstGeom>
          <a:noFill/>
          <a:ln/>
        </p:spPr>
        <p:txBody>
          <a:bodyPr wrap="square"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Mali</a:t>
            </a:r>
            <a:endParaRPr lang="en-US" sz="1100" dirty="0"/>
          </a:p>
        </p:txBody>
      </p:sp>
      <p:sp>
        <p:nvSpPr>
          <p:cNvPr id="38" name="Text 36"/>
          <p:cNvSpPr/>
          <p:nvPr/>
        </p:nvSpPr>
        <p:spPr>
          <a:xfrm>
            <a:off x="8229600" y="3246120"/>
            <a:ext cx="1645920" cy="45720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703 communes</a:t>
            </a:r>
            <a:endParaRPr lang="en-US" sz="1000" dirty="0"/>
          </a:p>
        </p:txBody>
      </p:sp>
      <p:sp>
        <p:nvSpPr>
          <p:cNvPr id="39" name="Text 37"/>
          <p:cNvSpPr/>
          <p:nvPr/>
        </p:nvSpPr>
        <p:spPr>
          <a:xfrm>
            <a:off x="9692640" y="3246120"/>
            <a:ext cx="1280160" cy="45720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16,8 M FCFA</a:t>
            </a:r>
            <a:endParaRPr lang="en-US" sz="1100" dirty="0"/>
          </a:p>
        </p:txBody>
      </p:sp>
      <p:sp>
        <p:nvSpPr>
          <p:cNvPr id="40" name="Text 38"/>
          <p:cNvSpPr/>
          <p:nvPr/>
        </p:nvSpPr>
        <p:spPr>
          <a:xfrm>
            <a:off x="10972800" y="3246120"/>
            <a:ext cx="731520" cy="457200"/>
          </a:xfrm>
          <a:prstGeom prst="rect">
            <a:avLst/>
          </a:prstGeom>
          <a:noFill/>
          <a:ln/>
        </p:spPr>
        <p:txBody>
          <a:bodyPr wrap="square" rtlCol="0" anchor="ctr"/>
          <a:lstStyle/>
          <a:p>
            <a:pPr algn="r" indent="0" marL="0">
              <a:buNone/>
            </a:pPr>
            <a:r>
              <a:rPr lang="en-US" sz="900" i="1" dirty="0">
                <a:solidFill>
                  <a:srgbClr val="5A6470"/>
                </a:solidFill>
                <a:latin typeface="Calibri" pitchFamily="34" charset="0"/>
                <a:ea typeface="Calibri" pitchFamily="34" charset="-122"/>
                <a:cs typeface="Calibri" pitchFamily="34" charset="-120"/>
              </a:rPr>
              <a:t>M24</a:t>
            </a:r>
            <a:endParaRPr lang="en-US" sz="900" dirty="0"/>
          </a:p>
        </p:txBody>
      </p:sp>
      <p:sp>
        <p:nvSpPr>
          <p:cNvPr id="41" name="Text 39"/>
          <p:cNvSpPr/>
          <p:nvPr/>
        </p:nvSpPr>
        <p:spPr>
          <a:xfrm>
            <a:off x="6583680" y="3703320"/>
            <a:ext cx="1645920" cy="457200"/>
          </a:xfrm>
          <a:prstGeom prst="rect">
            <a:avLst/>
          </a:prstGeom>
          <a:noFill/>
          <a:ln/>
        </p:spPr>
        <p:txBody>
          <a:bodyPr wrap="square"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Bénin</a:t>
            </a:r>
            <a:endParaRPr lang="en-US" sz="1100" dirty="0"/>
          </a:p>
        </p:txBody>
      </p:sp>
      <p:sp>
        <p:nvSpPr>
          <p:cNvPr id="42" name="Text 40"/>
          <p:cNvSpPr/>
          <p:nvPr/>
        </p:nvSpPr>
        <p:spPr>
          <a:xfrm>
            <a:off x="8229600" y="3703320"/>
            <a:ext cx="1645920" cy="45720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77 communes</a:t>
            </a:r>
            <a:endParaRPr lang="en-US" sz="1000" dirty="0"/>
          </a:p>
        </p:txBody>
      </p:sp>
      <p:sp>
        <p:nvSpPr>
          <p:cNvPr id="43" name="Text 41"/>
          <p:cNvSpPr/>
          <p:nvPr/>
        </p:nvSpPr>
        <p:spPr>
          <a:xfrm>
            <a:off x="9692640" y="3703320"/>
            <a:ext cx="1280160" cy="457200"/>
          </a:xfrm>
          <a:prstGeom prst="rect">
            <a:avLst/>
          </a:prstGeom>
          <a:noFill/>
          <a:ln/>
        </p:spPr>
        <p:txBody>
          <a:bodyPr wrap="square" rtlCol="0" anchor="ctr"/>
          <a:lstStyle/>
          <a:p>
            <a:pPr algn="r" indent="0" marL="0">
              <a:buNone/>
            </a:pPr>
            <a:r>
              <a:rPr lang="en-US" sz="1100" b="1" dirty="0">
                <a:solidFill>
                  <a:srgbClr val="B8862E"/>
                </a:solidFill>
                <a:latin typeface="Calibri" pitchFamily="34" charset="0"/>
                <a:ea typeface="Calibri" pitchFamily="34" charset="-122"/>
                <a:cs typeface="Calibri" pitchFamily="34" charset="-120"/>
              </a:rPr>
              <a:t>3,8 M FCFA</a:t>
            </a:r>
            <a:endParaRPr lang="en-US" sz="1100" dirty="0"/>
          </a:p>
        </p:txBody>
      </p:sp>
      <p:sp>
        <p:nvSpPr>
          <p:cNvPr id="44" name="Text 42"/>
          <p:cNvSpPr/>
          <p:nvPr/>
        </p:nvSpPr>
        <p:spPr>
          <a:xfrm>
            <a:off x="10972800" y="3703320"/>
            <a:ext cx="731520" cy="457200"/>
          </a:xfrm>
          <a:prstGeom prst="rect">
            <a:avLst/>
          </a:prstGeom>
          <a:noFill/>
          <a:ln/>
        </p:spPr>
        <p:txBody>
          <a:bodyPr wrap="square" rtlCol="0" anchor="ctr"/>
          <a:lstStyle/>
          <a:p>
            <a:pPr algn="r" indent="0" marL="0">
              <a:buNone/>
            </a:pPr>
            <a:r>
              <a:rPr lang="en-US" sz="900" i="1" dirty="0">
                <a:solidFill>
                  <a:srgbClr val="5A6470"/>
                </a:solidFill>
                <a:latin typeface="Calibri" pitchFamily="34" charset="0"/>
                <a:ea typeface="Calibri" pitchFamily="34" charset="-122"/>
                <a:cs typeface="Calibri" pitchFamily="34" charset="-120"/>
              </a:rPr>
              <a:t>M30</a:t>
            </a:r>
            <a:endParaRPr lang="en-US" sz="900" dirty="0"/>
          </a:p>
        </p:txBody>
      </p:sp>
      <p:sp>
        <p:nvSpPr>
          <p:cNvPr id="45" name="Shape 43"/>
          <p:cNvSpPr/>
          <p:nvPr/>
        </p:nvSpPr>
        <p:spPr>
          <a:xfrm>
            <a:off x="457200" y="5394960"/>
            <a:ext cx="10972800" cy="1097280"/>
          </a:xfrm>
          <a:prstGeom prst="rect">
            <a:avLst/>
          </a:prstGeom>
          <a:solidFill>
            <a:srgbClr val="0A2540"/>
          </a:solidFill>
          <a:ln/>
        </p:spPr>
      </p:sp>
      <p:sp>
        <p:nvSpPr>
          <p:cNvPr id="46" name="Text 44"/>
          <p:cNvSpPr/>
          <p:nvPr/>
        </p:nvSpPr>
        <p:spPr>
          <a:xfrm>
            <a:off x="731520" y="5440680"/>
            <a:ext cx="4572000" cy="320040"/>
          </a:xfrm>
          <a:prstGeom prst="rect">
            <a:avLst/>
          </a:prstGeom>
          <a:noFill/>
          <a:ln/>
        </p:spPr>
        <p:txBody>
          <a:bodyPr wrap="square" rtlCol="0" anchor="ctr"/>
          <a:lstStyle/>
          <a:p>
            <a:pPr indent="0" marL="0">
              <a:buNone/>
            </a:pPr>
            <a:r>
              <a:rPr lang="en-US" sz="1000" b="1" spc="300" kern="0" dirty="0">
                <a:solidFill>
                  <a:srgbClr val="E5B85C"/>
                </a:solidFill>
                <a:latin typeface="Calibri" pitchFamily="34" charset="0"/>
                <a:ea typeface="Calibri" pitchFamily="34" charset="-122"/>
                <a:cs typeface="Calibri" pitchFamily="34" charset="-120"/>
              </a:rPr>
              <a:t>OBJECTIF AN 3</a:t>
            </a:r>
            <a:endParaRPr lang="en-US" sz="1000" dirty="0"/>
          </a:p>
        </p:txBody>
      </p:sp>
      <p:sp>
        <p:nvSpPr>
          <p:cNvPr id="47" name="Text 45"/>
          <p:cNvSpPr/>
          <p:nvPr/>
        </p:nvSpPr>
        <p:spPr>
          <a:xfrm>
            <a:off x="731520" y="5760720"/>
            <a:ext cx="10515600" cy="640080"/>
          </a:xfrm>
          <a:prstGeom prst="rect">
            <a:avLst/>
          </a:prstGeom>
          <a:noFill/>
          <a:ln/>
        </p:spPr>
        <p:txBody>
          <a:bodyPr wrap="square" rtlCol="0" anchor="ctr"/>
          <a:lstStyle/>
          <a:p>
            <a:pPr indent="0" marL="0">
              <a:buNone/>
            </a:pPr>
            <a:r>
              <a:rPr lang="en-US" sz="1800" i="1" dirty="0">
                <a:solidFill>
                  <a:srgbClr val="FFFFFF"/>
                </a:solidFill>
                <a:latin typeface="Georgia" pitchFamily="34" charset="0"/>
                <a:ea typeface="Georgia" pitchFamily="34" charset="-122"/>
                <a:cs typeface="Georgia" pitchFamily="34" charset="-120"/>
              </a:rPr>
              <a:t>80 M FCFA d'ARR  ·  4 pays UEMOA opérationnels  ·  200+ clients institutionnels</a:t>
            </a:r>
            <a:endParaRPr lang="en-US" sz="1800" dirty="0"/>
          </a:p>
        </p:txBody>
      </p:sp>
      <p:sp>
        <p:nvSpPr>
          <p:cNvPr id="48" name="Text 46"/>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07  ·  CONCURRENCE</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Aucun acteur ne fait ce que nous faisons.</a:t>
            </a:r>
            <a:endParaRPr lang="en-US" sz="3200" dirty="0"/>
          </a:p>
        </p:txBody>
      </p:sp>
      <p:sp>
        <p:nvSpPr>
          <p:cNvPr id="4" name="Shape 2"/>
          <p:cNvSpPr/>
          <p:nvPr/>
        </p:nvSpPr>
        <p:spPr>
          <a:xfrm>
            <a:off x="457200" y="2103120"/>
            <a:ext cx="3291840" cy="502920"/>
          </a:xfrm>
          <a:prstGeom prst="rect">
            <a:avLst/>
          </a:prstGeom>
          <a:solidFill>
            <a:srgbClr val="0A2540"/>
          </a:solidFill>
          <a:ln/>
        </p:spPr>
      </p:sp>
      <p:sp>
        <p:nvSpPr>
          <p:cNvPr id="5" name="Text 3"/>
          <p:cNvSpPr/>
          <p:nvPr/>
        </p:nvSpPr>
        <p:spPr>
          <a:xfrm>
            <a:off x="548640" y="2103120"/>
            <a:ext cx="3108960" cy="502920"/>
          </a:xfrm>
          <a:prstGeom prst="rect">
            <a:avLst/>
          </a:prstGeom>
          <a:noFill/>
          <a:ln/>
        </p:spPr>
        <p:txBody>
          <a:bodyPr wrap="square"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Capacité</a:t>
            </a:r>
            <a:endParaRPr lang="en-US" sz="1000" dirty="0"/>
          </a:p>
        </p:txBody>
      </p:sp>
      <p:sp>
        <p:nvSpPr>
          <p:cNvPr id="6" name="Shape 4"/>
          <p:cNvSpPr/>
          <p:nvPr/>
        </p:nvSpPr>
        <p:spPr>
          <a:xfrm>
            <a:off x="3749040" y="2103120"/>
            <a:ext cx="1417320" cy="502920"/>
          </a:xfrm>
          <a:prstGeom prst="rect">
            <a:avLst/>
          </a:prstGeom>
          <a:solidFill>
            <a:srgbClr val="0A2540"/>
          </a:solidFill>
          <a:ln/>
        </p:spPr>
      </p:sp>
      <p:sp>
        <p:nvSpPr>
          <p:cNvPr id="7" name="Text 5"/>
          <p:cNvSpPr/>
          <p:nvPr/>
        </p:nvSpPr>
        <p:spPr>
          <a:xfrm>
            <a:off x="3840480" y="2103120"/>
            <a:ext cx="12344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Agences RP</a:t>
            </a:r>
            <a:endParaRPr lang="en-US" sz="1000" dirty="0"/>
          </a:p>
        </p:txBody>
      </p:sp>
      <p:sp>
        <p:nvSpPr>
          <p:cNvPr id="8" name="Shape 6"/>
          <p:cNvSpPr/>
          <p:nvPr/>
        </p:nvSpPr>
        <p:spPr>
          <a:xfrm>
            <a:off x="5166360" y="2103120"/>
            <a:ext cx="1417320" cy="502920"/>
          </a:xfrm>
          <a:prstGeom prst="rect">
            <a:avLst/>
          </a:prstGeom>
          <a:solidFill>
            <a:srgbClr val="0A2540"/>
          </a:solidFill>
          <a:ln/>
        </p:spPr>
      </p:sp>
      <p:sp>
        <p:nvSpPr>
          <p:cNvPr id="9" name="Text 7"/>
          <p:cNvSpPr/>
          <p:nvPr/>
        </p:nvSpPr>
        <p:spPr>
          <a:xfrm>
            <a:off x="5257800" y="2103120"/>
            <a:ext cx="12344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WhatsApp</a:t>
            </a:r>
            <a:endParaRPr lang="en-US" sz="1000" dirty="0"/>
          </a:p>
        </p:txBody>
      </p:sp>
      <p:sp>
        <p:nvSpPr>
          <p:cNvPr id="10" name="Shape 8"/>
          <p:cNvSpPr/>
          <p:nvPr/>
        </p:nvSpPr>
        <p:spPr>
          <a:xfrm>
            <a:off x="6583680" y="2103120"/>
            <a:ext cx="1417320" cy="502920"/>
          </a:xfrm>
          <a:prstGeom prst="rect">
            <a:avLst/>
          </a:prstGeom>
          <a:solidFill>
            <a:srgbClr val="0A2540"/>
          </a:solidFill>
          <a:ln/>
        </p:spPr>
      </p:sp>
      <p:sp>
        <p:nvSpPr>
          <p:cNvPr id="11" name="Text 9"/>
          <p:cNvSpPr/>
          <p:nvPr/>
        </p:nvSpPr>
        <p:spPr>
          <a:xfrm>
            <a:off x="6675120" y="2103120"/>
            <a:ext cx="12344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Cision</a:t>
            </a:r>
            <a:endParaRPr lang="en-US" sz="1000" dirty="0"/>
          </a:p>
        </p:txBody>
      </p:sp>
      <p:sp>
        <p:nvSpPr>
          <p:cNvPr id="12" name="Shape 10"/>
          <p:cNvSpPr/>
          <p:nvPr/>
        </p:nvSpPr>
        <p:spPr>
          <a:xfrm>
            <a:off x="8001000" y="2103120"/>
            <a:ext cx="1417320" cy="502920"/>
          </a:xfrm>
          <a:prstGeom prst="rect">
            <a:avLst/>
          </a:prstGeom>
          <a:solidFill>
            <a:srgbClr val="0A2540"/>
          </a:solidFill>
          <a:ln/>
        </p:spPr>
      </p:sp>
      <p:sp>
        <p:nvSpPr>
          <p:cNvPr id="13" name="Text 11"/>
          <p:cNvSpPr/>
          <p:nvPr/>
        </p:nvSpPr>
        <p:spPr>
          <a:xfrm>
            <a:off x="8092440" y="2103120"/>
            <a:ext cx="12344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Zoom</a:t>
            </a:r>
            <a:endParaRPr lang="en-US" sz="1000" dirty="0"/>
          </a:p>
        </p:txBody>
      </p:sp>
      <p:sp>
        <p:nvSpPr>
          <p:cNvPr id="14" name="Shape 12"/>
          <p:cNvSpPr/>
          <p:nvPr/>
        </p:nvSpPr>
        <p:spPr>
          <a:xfrm>
            <a:off x="9418320" y="2103120"/>
            <a:ext cx="2011680" cy="502920"/>
          </a:xfrm>
          <a:prstGeom prst="rect">
            <a:avLst/>
          </a:prstGeom>
          <a:solidFill>
            <a:srgbClr val="B8862E"/>
          </a:solidFill>
          <a:ln/>
        </p:spPr>
      </p:sp>
      <p:sp>
        <p:nvSpPr>
          <p:cNvPr id="15" name="Text 13"/>
          <p:cNvSpPr/>
          <p:nvPr/>
        </p:nvSpPr>
        <p:spPr>
          <a:xfrm>
            <a:off x="9509760" y="2103120"/>
            <a:ext cx="18288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HERALDO PRESS</a:t>
            </a:r>
            <a:endParaRPr lang="en-US" sz="1000" dirty="0"/>
          </a:p>
        </p:txBody>
      </p:sp>
      <p:sp>
        <p:nvSpPr>
          <p:cNvPr id="16" name="Shape 14"/>
          <p:cNvSpPr/>
          <p:nvPr/>
        </p:nvSpPr>
        <p:spPr>
          <a:xfrm>
            <a:off x="457200" y="2606040"/>
            <a:ext cx="3291840" cy="457200"/>
          </a:xfrm>
          <a:prstGeom prst="rect">
            <a:avLst/>
          </a:prstGeom>
          <a:solidFill>
            <a:srgbClr val="F7F9FB"/>
          </a:solidFill>
          <a:ln/>
        </p:spPr>
      </p:sp>
      <p:sp>
        <p:nvSpPr>
          <p:cNvPr id="17" name="Text 15"/>
          <p:cNvSpPr/>
          <p:nvPr/>
        </p:nvSpPr>
        <p:spPr>
          <a:xfrm>
            <a:off x="548640" y="2606040"/>
            <a:ext cx="3108960" cy="45720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Salle de presse virtuelle brandée</a:t>
            </a:r>
            <a:endParaRPr lang="en-US" sz="1000" dirty="0"/>
          </a:p>
        </p:txBody>
      </p:sp>
      <p:sp>
        <p:nvSpPr>
          <p:cNvPr id="18" name="Shape 16"/>
          <p:cNvSpPr/>
          <p:nvPr/>
        </p:nvSpPr>
        <p:spPr>
          <a:xfrm>
            <a:off x="3749040" y="2606040"/>
            <a:ext cx="1417320" cy="457200"/>
          </a:xfrm>
          <a:prstGeom prst="rect">
            <a:avLst/>
          </a:prstGeom>
          <a:solidFill>
            <a:srgbClr val="F7F9FB"/>
          </a:solidFill>
          <a:ln/>
        </p:spPr>
      </p:sp>
      <p:sp>
        <p:nvSpPr>
          <p:cNvPr id="19" name="Text 17"/>
          <p:cNvSpPr/>
          <p:nvPr/>
        </p:nvSpPr>
        <p:spPr>
          <a:xfrm>
            <a:off x="3840480" y="26060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5166360" y="2606040"/>
            <a:ext cx="1417320" cy="457200"/>
          </a:xfrm>
          <a:prstGeom prst="rect">
            <a:avLst/>
          </a:prstGeom>
          <a:solidFill>
            <a:srgbClr val="F7F9FB"/>
          </a:solidFill>
          <a:ln/>
        </p:spPr>
      </p:sp>
      <p:sp>
        <p:nvSpPr>
          <p:cNvPr id="21" name="Text 19"/>
          <p:cNvSpPr/>
          <p:nvPr/>
        </p:nvSpPr>
        <p:spPr>
          <a:xfrm>
            <a:off x="5257800" y="26060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6583680" y="2606040"/>
            <a:ext cx="1417320" cy="457200"/>
          </a:xfrm>
          <a:prstGeom prst="rect">
            <a:avLst/>
          </a:prstGeom>
          <a:solidFill>
            <a:srgbClr val="F7F9FB"/>
          </a:solidFill>
          <a:ln/>
        </p:spPr>
      </p:sp>
      <p:sp>
        <p:nvSpPr>
          <p:cNvPr id="23" name="Text 21"/>
          <p:cNvSpPr/>
          <p:nvPr/>
        </p:nvSpPr>
        <p:spPr>
          <a:xfrm>
            <a:off x="6675120" y="26060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8001000" y="2606040"/>
            <a:ext cx="1417320" cy="457200"/>
          </a:xfrm>
          <a:prstGeom prst="rect">
            <a:avLst/>
          </a:prstGeom>
          <a:solidFill>
            <a:srgbClr val="F7F9FB"/>
          </a:solidFill>
          <a:ln/>
        </p:spPr>
      </p:sp>
      <p:sp>
        <p:nvSpPr>
          <p:cNvPr id="25" name="Text 23"/>
          <p:cNvSpPr/>
          <p:nvPr/>
        </p:nvSpPr>
        <p:spPr>
          <a:xfrm>
            <a:off x="8092440" y="2606040"/>
            <a:ext cx="1234440" cy="45720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Partiel</a:t>
            </a:r>
            <a:endParaRPr lang="en-US" sz="1300" dirty="0"/>
          </a:p>
        </p:txBody>
      </p:sp>
      <p:sp>
        <p:nvSpPr>
          <p:cNvPr id="26" name="Shape 24"/>
          <p:cNvSpPr/>
          <p:nvPr/>
        </p:nvSpPr>
        <p:spPr>
          <a:xfrm>
            <a:off x="9418320" y="2606040"/>
            <a:ext cx="2011680" cy="457200"/>
          </a:xfrm>
          <a:prstGeom prst="rect">
            <a:avLst/>
          </a:prstGeom>
          <a:solidFill>
            <a:srgbClr val="F7F9FB"/>
          </a:solidFill>
          <a:ln/>
        </p:spPr>
      </p:sp>
      <p:sp>
        <p:nvSpPr>
          <p:cNvPr id="27" name="Shape 25"/>
          <p:cNvSpPr/>
          <p:nvPr/>
        </p:nvSpPr>
        <p:spPr>
          <a:xfrm>
            <a:off x="9418320" y="2606040"/>
            <a:ext cx="2011680" cy="457200"/>
          </a:xfrm>
          <a:prstGeom prst="rect">
            <a:avLst/>
          </a:prstGeom>
          <a:solidFill>
            <a:srgbClr val="FCF7E8"/>
          </a:solidFill>
          <a:ln/>
        </p:spPr>
      </p:sp>
      <p:sp>
        <p:nvSpPr>
          <p:cNvPr id="28" name="Text 26"/>
          <p:cNvSpPr/>
          <p:nvPr/>
        </p:nvSpPr>
        <p:spPr>
          <a:xfrm>
            <a:off x="9509760" y="2606040"/>
            <a:ext cx="1828800" cy="457200"/>
          </a:xfrm>
          <a:prstGeom prst="rect">
            <a:avLst/>
          </a:prstGeom>
          <a:noFill/>
          <a:ln/>
        </p:spPr>
        <p:txBody>
          <a:bodyPr wrap="square" rtlCol="0" anchor="ctr"/>
          <a:lstStyle/>
          <a:p>
            <a:pPr algn="ctr" indent="0" marL="0">
              <a:buNone/>
            </a:pPr>
            <a:r>
              <a:rPr lang="en-US" sz="1300" b="1" dirty="0">
                <a:solidFill>
                  <a:srgbClr val="B8862E"/>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548640" y="3063240"/>
            <a:ext cx="3108960" cy="45720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Paiement à la preuve (FCM)</a:t>
            </a:r>
            <a:endParaRPr lang="en-US" sz="1000" dirty="0"/>
          </a:p>
        </p:txBody>
      </p:sp>
      <p:sp>
        <p:nvSpPr>
          <p:cNvPr id="30" name="Text 28"/>
          <p:cNvSpPr/>
          <p:nvPr/>
        </p:nvSpPr>
        <p:spPr>
          <a:xfrm>
            <a:off x="3840480" y="30632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5257800" y="30632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6675120" y="30632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8092440" y="30632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9418320" y="3063240"/>
            <a:ext cx="2011680" cy="457200"/>
          </a:xfrm>
          <a:prstGeom prst="rect">
            <a:avLst/>
          </a:prstGeom>
          <a:solidFill>
            <a:srgbClr val="FCF7E8"/>
          </a:solidFill>
          <a:ln/>
        </p:spPr>
      </p:sp>
      <p:sp>
        <p:nvSpPr>
          <p:cNvPr id="35" name="Text 33"/>
          <p:cNvSpPr/>
          <p:nvPr/>
        </p:nvSpPr>
        <p:spPr>
          <a:xfrm>
            <a:off x="9509760" y="3063240"/>
            <a:ext cx="1828800" cy="457200"/>
          </a:xfrm>
          <a:prstGeom prst="rect">
            <a:avLst/>
          </a:prstGeom>
          <a:noFill/>
          <a:ln/>
        </p:spPr>
        <p:txBody>
          <a:bodyPr wrap="square" rtlCol="0" anchor="ctr"/>
          <a:lstStyle/>
          <a:p>
            <a:pPr algn="ctr" indent="0" marL="0">
              <a:buNone/>
            </a:pPr>
            <a:r>
              <a:rPr lang="en-US" sz="1300" b="1" dirty="0">
                <a:solidFill>
                  <a:srgbClr val="B8862E"/>
                </a:solidFill>
                <a:latin typeface="Calibri" pitchFamily="34" charset="0"/>
                <a:ea typeface="Calibri" pitchFamily="34" charset="-122"/>
                <a:cs typeface="Calibri" pitchFamily="34" charset="-120"/>
              </a:rPr>
              <a:t>✓</a:t>
            </a:r>
            <a:endParaRPr lang="en-US" sz="1300" dirty="0"/>
          </a:p>
        </p:txBody>
      </p:sp>
      <p:sp>
        <p:nvSpPr>
          <p:cNvPr id="36" name="Shape 34"/>
          <p:cNvSpPr/>
          <p:nvPr/>
        </p:nvSpPr>
        <p:spPr>
          <a:xfrm>
            <a:off x="457200" y="3520440"/>
            <a:ext cx="3291840" cy="457200"/>
          </a:xfrm>
          <a:prstGeom prst="rect">
            <a:avLst/>
          </a:prstGeom>
          <a:solidFill>
            <a:srgbClr val="F7F9FB"/>
          </a:solidFill>
          <a:ln/>
        </p:spPr>
      </p:sp>
      <p:sp>
        <p:nvSpPr>
          <p:cNvPr id="37" name="Text 35"/>
          <p:cNvSpPr/>
          <p:nvPr/>
        </p:nvSpPr>
        <p:spPr>
          <a:xfrm>
            <a:off x="548640" y="3520440"/>
            <a:ext cx="3108960" cy="45720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Accréditation officielle journalistes</a:t>
            </a:r>
            <a:endParaRPr lang="en-US" sz="1000" dirty="0"/>
          </a:p>
        </p:txBody>
      </p:sp>
      <p:sp>
        <p:nvSpPr>
          <p:cNvPr id="38" name="Shape 36"/>
          <p:cNvSpPr/>
          <p:nvPr/>
        </p:nvSpPr>
        <p:spPr>
          <a:xfrm>
            <a:off x="3749040" y="3520440"/>
            <a:ext cx="1417320" cy="457200"/>
          </a:xfrm>
          <a:prstGeom prst="rect">
            <a:avLst/>
          </a:prstGeom>
          <a:solidFill>
            <a:srgbClr val="F7F9FB"/>
          </a:solidFill>
          <a:ln/>
        </p:spPr>
      </p:sp>
      <p:sp>
        <p:nvSpPr>
          <p:cNvPr id="39" name="Text 37"/>
          <p:cNvSpPr/>
          <p:nvPr/>
        </p:nvSpPr>
        <p:spPr>
          <a:xfrm>
            <a:off x="3840480" y="35204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5166360" y="3520440"/>
            <a:ext cx="1417320" cy="457200"/>
          </a:xfrm>
          <a:prstGeom prst="rect">
            <a:avLst/>
          </a:prstGeom>
          <a:solidFill>
            <a:srgbClr val="F7F9FB"/>
          </a:solidFill>
          <a:ln/>
        </p:spPr>
      </p:sp>
      <p:sp>
        <p:nvSpPr>
          <p:cNvPr id="41" name="Text 39"/>
          <p:cNvSpPr/>
          <p:nvPr/>
        </p:nvSpPr>
        <p:spPr>
          <a:xfrm>
            <a:off x="5257800" y="35204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42" name="Shape 40"/>
          <p:cNvSpPr/>
          <p:nvPr/>
        </p:nvSpPr>
        <p:spPr>
          <a:xfrm>
            <a:off x="6583680" y="3520440"/>
            <a:ext cx="1417320" cy="457200"/>
          </a:xfrm>
          <a:prstGeom prst="rect">
            <a:avLst/>
          </a:prstGeom>
          <a:solidFill>
            <a:srgbClr val="F7F9FB"/>
          </a:solidFill>
          <a:ln/>
        </p:spPr>
      </p:sp>
      <p:sp>
        <p:nvSpPr>
          <p:cNvPr id="43" name="Text 41"/>
          <p:cNvSpPr/>
          <p:nvPr/>
        </p:nvSpPr>
        <p:spPr>
          <a:xfrm>
            <a:off x="6675120" y="3520440"/>
            <a:ext cx="1234440" cy="45720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Partiel</a:t>
            </a:r>
            <a:endParaRPr lang="en-US" sz="1300" dirty="0"/>
          </a:p>
        </p:txBody>
      </p:sp>
      <p:sp>
        <p:nvSpPr>
          <p:cNvPr id="44" name="Shape 42"/>
          <p:cNvSpPr/>
          <p:nvPr/>
        </p:nvSpPr>
        <p:spPr>
          <a:xfrm>
            <a:off x="8001000" y="3520440"/>
            <a:ext cx="1417320" cy="457200"/>
          </a:xfrm>
          <a:prstGeom prst="rect">
            <a:avLst/>
          </a:prstGeom>
          <a:solidFill>
            <a:srgbClr val="F7F9FB"/>
          </a:solidFill>
          <a:ln/>
        </p:spPr>
      </p:sp>
      <p:sp>
        <p:nvSpPr>
          <p:cNvPr id="45" name="Text 43"/>
          <p:cNvSpPr/>
          <p:nvPr/>
        </p:nvSpPr>
        <p:spPr>
          <a:xfrm>
            <a:off x="8092440" y="35204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46" name="Shape 44"/>
          <p:cNvSpPr/>
          <p:nvPr/>
        </p:nvSpPr>
        <p:spPr>
          <a:xfrm>
            <a:off x="9418320" y="3520440"/>
            <a:ext cx="2011680" cy="457200"/>
          </a:xfrm>
          <a:prstGeom prst="rect">
            <a:avLst/>
          </a:prstGeom>
          <a:solidFill>
            <a:srgbClr val="F7F9FB"/>
          </a:solidFill>
          <a:ln/>
        </p:spPr>
      </p:sp>
      <p:sp>
        <p:nvSpPr>
          <p:cNvPr id="47" name="Shape 45"/>
          <p:cNvSpPr/>
          <p:nvPr/>
        </p:nvSpPr>
        <p:spPr>
          <a:xfrm>
            <a:off x="9418320" y="3520440"/>
            <a:ext cx="2011680" cy="457200"/>
          </a:xfrm>
          <a:prstGeom prst="rect">
            <a:avLst/>
          </a:prstGeom>
          <a:solidFill>
            <a:srgbClr val="FCF7E8"/>
          </a:solidFill>
          <a:ln/>
        </p:spPr>
      </p:sp>
      <p:sp>
        <p:nvSpPr>
          <p:cNvPr id="48" name="Text 46"/>
          <p:cNvSpPr/>
          <p:nvPr/>
        </p:nvSpPr>
        <p:spPr>
          <a:xfrm>
            <a:off x="9509760" y="3520440"/>
            <a:ext cx="1828800" cy="457200"/>
          </a:xfrm>
          <a:prstGeom prst="rect">
            <a:avLst/>
          </a:prstGeom>
          <a:noFill/>
          <a:ln/>
        </p:spPr>
        <p:txBody>
          <a:bodyPr wrap="square" rtlCol="0" anchor="ctr"/>
          <a:lstStyle/>
          <a:p>
            <a:pPr algn="ctr" indent="0" marL="0">
              <a:buNone/>
            </a:pPr>
            <a:r>
              <a:rPr lang="en-US" sz="1300" b="1" dirty="0">
                <a:solidFill>
                  <a:srgbClr val="B8862E"/>
                </a:solidFill>
                <a:latin typeface="Calibri" pitchFamily="34" charset="0"/>
                <a:ea typeface="Calibri" pitchFamily="34" charset="-122"/>
                <a:cs typeface="Calibri" pitchFamily="34" charset="-120"/>
              </a:rPr>
              <a:t>✓</a:t>
            </a:r>
            <a:endParaRPr lang="en-US" sz="1300" dirty="0"/>
          </a:p>
        </p:txBody>
      </p:sp>
      <p:sp>
        <p:nvSpPr>
          <p:cNvPr id="49" name="Text 47"/>
          <p:cNvSpPr/>
          <p:nvPr/>
        </p:nvSpPr>
        <p:spPr>
          <a:xfrm>
            <a:off x="548640" y="3977640"/>
            <a:ext cx="3108960" cy="45720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Mesure d'impact consolidée</a:t>
            </a:r>
            <a:endParaRPr lang="en-US" sz="1000" dirty="0"/>
          </a:p>
        </p:txBody>
      </p:sp>
      <p:sp>
        <p:nvSpPr>
          <p:cNvPr id="50" name="Text 48"/>
          <p:cNvSpPr/>
          <p:nvPr/>
        </p:nvSpPr>
        <p:spPr>
          <a:xfrm>
            <a:off x="3840480" y="3977640"/>
            <a:ext cx="1234440" cy="45720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Partiel</a:t>
            </a:r>
            <a:endParaRPr lang="en-US" sz="1300" dirty="0"/>
          </a:p>
        </p:txBody>
      </p:sp>
      <p:sp>
        <p:nvSpPr>
          <p:cNvPr id="51" name="Text 49"/>
          <p:cNvSpPr/>
          <p:nvPr/>
        </p:nvSpPr>
        <p:spPr>
          <a:xfrm>
            <a:off x="5257800" y="39776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52" name="Text 50"/>
          <p:cNvSpPr/>
          <p:nvPr/>
        </p:nvSpPr>
        <p:spPr>
          <a:xfrm>
            <a:off x="6675120" y="3977640"/>
            <a:ext cx="1234440" cy="457200"/>
          </a:xfrm>
          <a:prstGeom prst="rect">
            <a:avLst/>
          </a:prstGeom>
          <a:noFill/>
          <a:ln/>
        </p:spPr>
        <p:txBody>
          <a:bodyPr wrap="square" rtlCol="0" anchor="ctr"/>
          <a:lstStyle/>
          <a:p>
            <a:pPr algn="ctr" indent="0" marL="0">
              <a:buNone/>
            </a:pPr>
            <a:r>
              <a:rPr lang="en-US" sz="1300" b="1" dirty="0">
                <a:solidFill>
                  <a:srgbClr val="1E8449"/>
                </a:solidFill>
                <a:latin typeface="Calibri" pitchFamily="34" charset="0"/>
                <a:ea typeface="Calibri" pitchFamily="34" charset="-122"/>
                <a:cs typeface="Calibri" pitchFamily="34" charset="-120"/>
              </a:rPr>
              <a:t>✓</a:t>
            </a:r>
            <a:endParaRPr lang="en-US" sz="1300" dirty="0"/>
          </a:p>
        </p:txBody>
      </p:sp>
      <p:sp>
        <p:nvSpPr>
          <p:cNvPr id="53" name="Text 51"/>
          <p:cNvSpPr/>
          <p:nvPr/>
        </p:nvSpPr>
        <p:spPr>
          <a:xfrm>
            <a:off x="8092440" y="39776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54" name="Shape 52"/>
          <p:cNvSpPr/>
          <p:nvPr/>
        </p:nvSpPr>
        <p:spPr>
          <a:xfrm>
            <a:off x="9418320" y="3977640"/>
            <a:ext cx="2011680" cy="457200"/>
          </a:xfrm>
          <a:prstGeom prst="rect">
            <a:avLst/>
          </a:prstGeom>
          <a:solidFill>
            <a:srgbClr val="FCF7E8"/>
          </a:solidFill>
          <a:ln/>
        </p:spPr>
      </p:sp>
      <p:sp>
        <p:nvSpPr>
          <p:cNvPr id="55" name="Text 53"/>
          <p:cNvSpPr/>
          <p:nvPr/>
        </p:nvSpPr>
        <p:spPr>
          <a:xfrm>
            <a:off x="9509760" y="3977640"/>
            <a:ext cx="1828800" cy="457200"/>
          </a:xfrm>
          <a:prstGeom prst="rect">
            <a:avLst/>
          </a:prstGeom>
          <a:noFill/>
          <a:ln/>
        </p:spPr>
        <p:txBody>
          <a:bodyPr wrap="square" rtlCol="0" anchor="ctr"/>
          <a:lstStyle/>
          <a:p>
            <a:pPr algn="ctr" indent="0" marL="0">
              <a:buNone/>
            </a:pPr>
            <a:r>
              <a:rPr lang="en-US" sz="1300" b="1" dirty="0">
                <a:solidFill>
                  <a:srgbClr val="B8862E"/>
                </a:solidFill>
                <a:latin typeface="Calibri" pitchFamily="34" charset="0"/>
                <a:ea typeface="Calibri" pitchFamily="34" charset="-122"/>
                <a:cs typeface="Calibri" pitchFamily="34" charset="-120"/>
              </a:rPr>
              <a:t>✓</a:t>
            </a:r>
            <a:endParaRPr lang="en-US" sz="1300" dirty="0"/>
          </a:p>
        </p:txBody>
      </p:sp>
      <p:sp>
        <p:nvSpPr>
          <p:cNvPr id="56" name="Shape 54"/>
          <p:cNvSpPr/>
          <p:nvPr/>
        </p:nvSpPr>
        <p:spPr>
          <a:xfrm>
            <a:off x="457200" y="4434840"/>
            <a:ext cx="3291840" cy="457200"/>
          </a:xfrm>
          <a:prstGeom prst="rect">
            <a:avLst/>
          </a:prstGeom>
          <a:solidFill>
            <a:srgbClr val="F7F9FB"/>
          </a:solidFill>
          <a:ln/>
        </p:spPr>
      </p:sp>
      <p:sp>
        <p:nvSpPr>
          <p:cNvPr id="57" name="Text 55"/>
          <p:cNvSpPr/>
          <p:nvPr/>
        </p:nvSpPr>
        <p:spPr>
          <a:xfrm>
            <a:off x="548640" y="4434840"/>
            <a:ext cx="3108960" cy="45720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Tarification accessible CI</a:t>
            </a:r>
            <a:endParaRPr lang="en-US" sz="1000" dirty="0"/>
          </a:p>
        </p:txBody>
      </p:sp>
      <p:sp>
        <p:nvSpPr>
          <p:cNvPr id="58" name="Shape 56"/>
          <p:cNvSpPr/>
          <p:nvPr/>
        </p:nvSpPr>
        <p:spPr>
          <a:xfrm>
            <a:off x="3749040" y="4434840"/>
            <a:ext cx="1417320" cy="457200"/>
          </a:xfrm>
          <a:prstGeom prst="rect">
            <a:avLst/>
          </a:prstGeom>
          <a:solidFill>
            <a:srgbClr val="F7F9FB"/>
          </a:solidFill>
          <a:ln/>
        </p:spPr>
      </p:sp>
      <p:sp>
        <p:nvSpPr>
          <p:cNvPr id="59" name="Text 57"/>
          <p:cNvSpPr/>
          <p:nvPr/>
        </p:nvSpPr>
        <p:spPr>
          <a:xfrm>
            <a:off x="3840480" y="44348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60" name="Shape 58"/>
          <p:cNvSpPr/>
          <p:nvPr/>
        </p:nvSpPr>
        <p:spPr>
          <a:xfrm>
            <a:off x="5166360" y="4434840"/>
            <a:ext cx="1417320" cy="457200"/>
          </a:xfrm>
          <a:prstGeom prst="rect">
            <a:avLst/>
          </a:prstGeom>
          <a:solidFill>
            <a:srgbClr val="F7F9FB"/>
          </a:solidFill>
          <a:ln/>
        </p:spPr>
      </p:sp>
      <p:sp>
        <p:nvSpPr>
          <p:cNvPr id="61" name="Text 59"/>
          <p:cNvSpPr/>
          <p:nvPr/>
        </p:nvSpPr>
        <p:spPr>
          <a:xfrm>
            <a:off x="5257800" y="4434840"/>
            <a:ext cx="1234440" cy="45720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a:t>
            </a:r>
            <a:endParaRPr lang="en-US" sz="1300" dirty="0"/>
          </a:p>
        </p:txBody>
      </p:sp>
      <p:sp>
        <p:nvSpPr>
          <p:cNvPr id="62" name="Shape 60"/>
          <p:cNvSpPr/>
          <p:nvPr/>
        </p:nvSpPr>
        <p:spPr>
          <a:xfrm>
            <a:off x="6583680" y="4434840"/>
            <a:ext cx="1417320" cy="457200"/>
          </a:xfrm>
          <a:prstGeom prst="rect">
            <a:avLst/>
          </a:prstGeom>
          <a:solidFill>
            <a:srgbClr val="F7F9FB"/>
          </a:solidFill>
          <a:ln/>
        </p:spPr>
      </p:sp>
      <p:sp>
        <p:nvSpPr>
          <p:cNvPr id="63" name="Text 61"/>
          <p:cNvSpPr/>
          <p:nvPr/>
        </p:nvSpPr>
        <p:spPr>
          <a:xfrm>
            <a:off x="6675120" y="44348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64" name="Shape 62"/>
          <p:cNvSpPr/>
          <p:nvPr/>
        </p:nvSpPr>
        <p:spPr>
          <a:xfrm>
            <a:off x="8001000" y="4434840"/>
            <a:ext cx="1417320" cy="457200"/>
          </a:xfrm>
          <a:prstGeom prst="rect">
            <a:avLst/>
          </a:prstGeom>
          <a:solidFill>
            <a:srgbClr val="F7F9FB"/>
          </a:solidFill>
          <a:ln/>
        </p:spPr>
      </p:sp>
      <p:sp>
        <p:nvSpPr>
          <p:cNvPr id="65" name="Text 63"/>
          <p:cNvSpPr/>
          <p:nvPr/>
        </p:nvSpPr>
        <p:spPr>
          <a:xfrm>
            <a:off x="8092440" y="44348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66" name="Shape 64"/>
          <p:cNvSpPr/>
          <p:nvPr/>
        </p:nvSpPr>
        <p:spPr>
          <a:xfrm>
            <a:off x="9418320" y="4434840"/>
            <a:ext cx="2011680" cy="457200"/>
          </a:xfrm>
          <a:prstGeom prst="rect">
            <a:avLst/>
          </a:prstGeom>
          <a:solidFill>
            <a:srgbClr val="F7F9FB"/>
          </a:solidFill>
          <a:ln/>
        </p:spPr>
      </p:sp>
      <p:sp>
        <p:nvSpPr>
          <p:cNvPr id="67" name="Shape 65"/>
          <p:cNvSpPr/>
          <p:nvPr/>
        </p:nvSpPr>
        <p:spPr>
          <a:xfrm>
            <a:off x="9418320" y="4434840"/>
            <a:ext cx="2011680" cy="457200"/>
          </a:xfrm>
          <a:prstGeom prst="rect">
            <a:avLst/>
          </a:prstGeom>
          <a:solidFill>
            <a:srgbClr val="FCF7E8"/>
          </a:solidFill>
          <a:ln/>
        </p:spPr>
      </p:sp>
      <p:sp>
        <p:nvSpPr>
          <p:cNvPr id="68" name="Text 66"/>
          <p:cNvSpPr/>
          <p:nvPr/>
        </p:nvSpPr>
        <p:spPr>
          <a:xfrm>
            <a:off x="9509760" y="4434840"/>
            <a:ext cx="1828800" cy="457200"/>
          </a:xfrm>
          <a:prstGeom prst="rect">
            <a:avLst/>
          </a:prstGeom>
          <a:noFill/>
          <a:ln/>
        </p:spPr>
        <p:txBody>
          <a:bodyPr wrap="square" rtlCol="0" anchor="ctr"/>
          <a:lstStyle/>
          <a:p>
            <a:pPr algn="ctr" indent="0" marL="0">
              <a:buNone/>
            </a:pPr>
            <a:r>
              <a:rPr lang="en-US" sz="1300" b="1" dirty="0">
                <a:solidFill>
                  <a:srgbClr val="B8862E"/>
                </a:solidFill>
                <a:latin typeface="Calibri" pitchFamily="34" charset="0"/>
                <a:ea typeface="Calibri" pitchFamily="34" charset="-122"/>
                <a:cs typeface="Calibri" pitchFamily="34" charset="-120"/>
              </a:rPr>
              <a:t>✓</a:t>
            </a:r>
            <a:endParaRPr lang="en-US" sz="1300" dirty="0"/>
          </a:p>
        </p:txBody>
      </p:sp>
      <p:sp>
        <p:nvSpPr>
          <p:cNvPr id="69" name="Text 67"/>
          <p:cNvSpPr/>
          <p:nvPr/>
        </p:nvSpPr>
        <p:spPr>
          <a:xfrm>
            <a:off x="548640" y="4892040"/>
            <a:ext cx="3108960" cy="45720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Mobile Money intégré</a:t>
            </a:r>
            <a:endParaRPr lang="en-US" sz="1000" dirty="0"/>
          </a:p>
        </p:txBody>
      </p:sp>
      <p:sp>
        <p:nvSpPr>
          <p:cNvPr id="70" name="Text 68"/>
          <p:cNvSpPr/>
          <p:nvPr/>
        </p:nvSpPr>
        <p:spPr>
          <a:xfrm>
            <a:off x="3840480" y="48920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71" name="Text 69"/>
          <p:cNvSpPr/>
          <p:nvPr/>
        </p:nvSpPr>
        <p:spPr>
          <a:xfrm>
            <a:off x="5257800" y="48920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72" name="Text 70"/>
          <p:cNvSpPr/>
          <p:nvPr/>
        </p:nvSpPr>
        <p:spPr>
          <a:xfrm>
            <a:off x="6675120" y="48920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73" name="Text 71"/>
          <p:cNvSpPr/>
          <p:nvPr/>
        </p:nvSpPr>
        <p:spPr>
          <a:xfrm>
            <a:off x="8092440" y="48920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74" name="Shape 72"/>
          <p:cNvSpPr/>
          <p:nvPr/>
        </p:nvSpPr>
        <p:spPr>
          <a:xfrm>
            <a:off x="9418320" y="4892040"/>
            <a:ext cx="2011680" cy="457200"/>
          </a:xfrm>
          <a:prstGeom prst="rect">
            <a:avLst/>
          </a:prstGeom>
          <a:solidFill>
            <a:srgbClr val="FCF7E8"/>
          </a:solidFill>
          <a:ln/>
        </p:spPr>
      </p:sp>
      <p:sp>
        <p:nvSpPr>
          <p:cNvPr id="75" name="Text 73"/>
          <p:cNvSpPr/>
          <p:nvPr/>
        </p:nvSpPr>
        <p:spPr>
          <a:xfrm>
            <a:off x="9509760" y="4892040"/>
            <a:ext cx="1828800" cy="457200"/>
          </a:xfrm>
          <a:prstGeom prst="rect">
            <a:avLst/>
          </a:prstGeom>
          <a:noFill/>
          <a:ln/>
        </p:spPr>
        <p:txBody>
          <a:bodyPr wrap="square" rtlCol="0" anchor="ctr"/>
          <a:lstStyle/>
          <a:p>
            <a:pPr algn="ctr" indent="0" marL="0">
              <a:buNone/>
            </a:pPr>
            <a:r>
              <a:rPr lang="en-US" sz="1300" b="1" dirty="0">
                <a:solidFill>
                  <a:srgbClr val="B8862E"/>
                </a:solidFill>
                <a:latin typeface="Calibri" pitchFamily="34" charset="0"/>
                <a:ea typeface="Calibri" pitchFamily="34" charset="-122"/>
                <a:cs typeface="Calibri" pitchFamily="34" charset="-120"/>
              </a:rPr>
              <a:t>✓</a:t>
            </a:r>
            <a:endParaRPr lang="en-US" sz="1300" dirty="0"/>
          </a:p>
        </p:txBody>
      </p:sp>
      <p:sp>
        <p:nvSpPr>
          <p:cNvPr id="76" name="Shape 74"/>
          <p:cNvSpPr/>
          <p:nvPr/>
        </p:nvSpPr>
        <p:spPr>
          <a:xfrm>
            <a:off x="457200" y="5349240"/>
            <a:ext cx="3291840" cy="457200"/>
          </a:xfrm>
          <a:prstGeom prst="rect">
            <a:avLst/>
          </a:prstGeom>
          <a:solidFill>
            <a:srgbClr val="F7F9FB"/>
          </a:solidFill>
          <a:ln/>
        </p:spPr>
      </p:sp>
      <p:sp>
        <p:nvSpPr>
          <p:cNvPr id="77" name="Text 75"/>
          <p:cNvSpPr/>
          <p:nvPr/>
        </p:nvSpPr>
        <p:spPr>
          <a:xfrm>
            <a:off x="548640" y="5349240"/>
            <a:ext cx="3108960" cy="45720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Conformité CNPCI / HACA</a:t>
            </a:r>
            <a:endParaRPr lang="en-US" sz="1000" dirty="0"/>
          </a:p>
        </p:txBody>
      </p:sp>
      <p:sp>
        <p:nvSpPr>
          <p:cNvPr id="78" name="Shape 76"/>
          <p:cNvSpPr/>
          <p:nvPr/>
        </p:nvSpPr>
        <p:spPr>
          <a:xfrm>
            <a:off x="3749040" y="5349240"/>
            <a:ext cx="1417320" cy="457200"/>
          </a:xfrm>
          <a:prstGeom prst="rect">
            <a:avLst/>
          </a:prstGeom>
          <a:solidFill>
            <a:srgbClr val="F7F9FB"/>
          </a:solidFill>
          <a:ln/>
        </p:spPr>
      </p:sp>
      <p:sp>
        <p:nvSpPr>
          <p:cNvPr id="79" name="Text 77"/>
          <p:cNvSpPr/>
          <p:nvPr/>
        </p:nvSpPr>
        <p:spPr>
          <a:xfrm>
            <a:off x="3840480" y="5349240"/>
            <a:ext cx="1234440" cy="45720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Variable</a:t>
            </a:r>
            <a:endParaRPr lang="en-US" sz="1300" dirty="0"/>
          </a:p>
        </p:txBody>
      </p:sp>
      <p:sp>
        <p:nvSpPr>
          <p:cNvPr id="80" name="Shape 78"/>
          <p:cNvSpPr/>
          <p:nvPr/>
        </p:nvSpPr>
        <p:spPr>
          <a:xfrm>
            <a:off x="5166360" y="5349240"/>
            <a:ext cx="1417320" cy="457200"/>
          </a:xfrm>
          <a:prstGeom prst="rect">
            <a:avLst/>
          </a:prstGeom>
          <a:solidFill>
            <a:srgbClr val="F7F9FB"/>
          </a:solidFill>
          <a:ln/>
        </p:spPr>
      </p:sp>
      <p:sp>
        <p:nvSpPr>
          <p:cNvPr id="81" name="Text 79"/>
          <p:cNvSpPr/>
          <p:nvPr/>
        </p:nvSpPr>
        <p:spPr>
          <a:xfrm>
            <a:off x="5257800" y="53492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82" name="Shape 80"/>
          <p:cNvSpPr/>
          <p:nvPr/>
        </p:nvSpPr>
        <p:spPr>
          <a:xfrm>
            <a:off x="6583680" y="5349240"/>
            <a:ext cx="1417320" cy="457200"/>
          </a:xfrm>
          <a:prstGeom prst="rect">
            <a:avLst/>
          </a:prstGeom>
          <a:solidFill>
            <a:srgbClr val="F7F9FB"/>
          </a:solidFill>
          <a:ln/>
        </p:spPr>
      </p:sp>
      <p:sp>
        <p:nvSpPr>
          <p:cNvPr id="83" name="Text 81"/>
          <p:cNvSpPr/>
          <p:nvPr/>
        </p:nvSpPr>
        <p:spPr>
          <a:xfrm>
            <a:off x="6675120" y="53492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84" name="Shape 82"/>
          <p:cNvSpPr/>
          <p:nvPr/>
        </p:nvSpPr>
        <p:spPr>
          <a:xfrm>
            <a:off x="8001000" y="5349240"/>
            <a:ext cx="1417320" cy="457200"/>
          </a:xfrm>
          <a:prstGeom prst="rect">
            <a:avLst/>
          </a:prstGeom>
          <a:solidFill>
            <a:srgbClr val="F7F9FB"/>
          </a:solidFill>
          <a:ln/>
        </p:spPr>
      </p:sp>
      <p:sp>
        <p:nvSpPr>
          <p:cNvPr id="85" name="Text 83"/>
          <p:cNvSpPr/>
          <p:nvPr/>
        </p:nvSpPr>
        <p:spPr>
          <a:xfrm>
            <a:off x="8092440" y="5349240"/>
            <a:ext cx="123444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86" name="Shape 84"/>
          <p:cNvSpPr/>
          <p:nvPr/>
        </p:nvSpPr>
        <p:spPr>
          <a:xfrm>
            <a:off x="9418320" y="5349240"/>
            <a:ext cx="2011680" cy="457200"/>
          </a:xfrm>
          <a:prstGeom prst="rect">
            <a:avLst/>
          </a:prstGeom>
          <a:solidFill>
            <a:srgbClr val="F7F9FB"/>
          </a:solidFill>
          <a:ln/>
        </p:spPr>
      </p:sp>
      <p:sp>
        <p:nvSpPr>
          <p:cNvPr id="87" name="Shape 85"/>
          <p:cNvSpPr/>
          <p:nvPr/>
        </p:nvSpPr>
        <p:spPr>
          <a:xfrm>
            <a:off x="9418320" y="5349240"/>
            <a:ext cx="2011680" cy="457200"/>
          </a:xfrm>
          <a:prstGeom prst="rect">
            <a:avLst/>
          </a:prstGeom>
          <a:solidFill>
            <a:srgbClr val="FCF7E8"/>
          </a:solidFill>
          <a:ln/>
        </p:spPr>
      </p:sp>
      <p:sp>
        <p:nvSpPr>
          <p:cNvPr id="88" name="Text 86"/>
          <p:cNvSpPr/>
          <p:nvPr/>
        </p:nvSpPr>
        <p:spPr>
          <a:xfrm>
            <a:off x="9509760" y="5349240"/>
            <a:ext cx="1828800" cy="457200"/>
          </a:xfrm>
          <a:prstGeom prst="rect">
            <a:avLst/>
          </a:prstGeom>
          <a:noFill/>
          <a:ln/>
        </p:spPr>
        <p:txBody>
          <a:bodyPr wrap="square" rtlCol="0" anchor="ctr"/>
          <a:lstStyle/>
          <a:p>
            <a:pPr algn="ctr" indent="0" marL="0">
              <a:buNone/>
            </a:pPr>
            <a:r>
              <a:rPr lang="en-US" sz="1300" b="1" dirty="0">
                <a:solidFill>
                  <a:srgbClr val="B8862E"/>
                </a:solidFill>
                <a:latin typeface="Calibri" pitchFamily="34" charset="0"/>
                <a:ea typeface="Calibri" pitchFamily="34" charset="-122"/>
                <a:cs typeface="Calibri" pitchFamily="34" charset="-120"/>
              </a:rPr>
              <a:t>✓</a:t>
            </a:r>
            <a:endParaRPr lang="en-US" sz="1300" dirty="0"/>
          </a:p>
        </p:txBody>
      </p:sp>
      <p:sp>
        <p:nvSpPr>
          <p:cNvPr id="89" name="Text 87"/>
          <p:cNvSpPr/>
          <p:nvPr/>
        </p:nvSpPr>
        <p:spPr>
          <a:xfrm>
            <a:off x="457200" y="6126480"/>
            <a:ext cx="10972800" cy="457200"/>
          </a:xfrm>
          <a:prstGeom prst="rect">
            <a:avLst/>
          </a:prstGeom>
          <a:noFill/>
          <a:ln/>
        </p:spPr>
        <p:txBody>
          <a:bodyPr wrap="square" rtlCol="0" anchor="ctr"/>
          <a:lstStyle/>
          <a:p>
            <a:pPr algn="ctr" indent="0" marL="0">
              <a:buNone/>
            </a:pPr>
            <a:r>
              <a:rPr lang="en-US" sz="1300" b="1" i="1" dirty="0">
                <a:solidFill>
                  <a:srgbClr val="0A2540"/>
                </a:solidFill>
                <a:latin typeface="Georgia" pitchFamily="34" charset="0"/>
                <a:ea typeface="Georgia" pitchFamily="34" charset="-122"/>
                <a:cs typeface="Georgia" pitchFamily="34" charset="-120"/>
              </a:rPr>
              <a:t>Le verrou : notre partenariat fondateur avec l'Association des Directeurs de Publications est incopiable.</a:t>
            </a:r>
            <a:endParaRPr lang="en-US" sz="1300" dirty="0"/>
          </a:p>
        </p:txBody>
      </p:sp>
      <p:sp>
        <p:nvSpPr>
          <p:cNvPr id="90" name="Text 88"/>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08  ·  MODÈLE ÉCONOMIQUE</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Trois axes de revenus complémentaires.</a:t>
            </a:r>
            <a:endParaRPr lang="en-US" sz="3200" dirty="0"/>
          </a:p>
        </p:txBody>
      </p:sp>
      <p:sp>
        <p:nvSpPr>
          <p:cNvPr id="4" name="Shape 2"/>
          <p:cNvSpPr/>
          <p:nvPr/>
        </p:nvSpPr>
        <p:spPr>
          <a:xfrm>
            <a:off x="457200" y="2103120"/>
            <a:ext cx="3657600" cy="4114800"/>
          </a:xfrm>
          <a:prstGeom prst="rect">
            <a:avLst/>
          </a:prstGeom>
          <a:solidFill>
            <a:srgbClr val="FFFFFF"/>
          </a:solidFill>
          <a:ln w="12700">
            <a:solidFill>
              <a:srgbClr val="B8862E"/>
            </a:solidFill>
            <a:prstDash val="solid"/>
          </a:ln>
        </p:spPr>
      </p:sp>
      <p:sp>
        <p:nvSpPr>
          <p:cNvPr id="5" name="Shape 3"/>
          <p:cNvSpPr/>
          <p:nvPr/>
        </p:nvSpPr>
        <p:spPr>
          <a:xfrm>
            <a:off x="457200" y="2103120"/>
            <a:ext cx="3657600" cy="640080"/>
          </a:xfrm>
          <a:prstGeom prst="rect">
            <a:avLst/>
          </a:prstGeom>
          <a:solidFill>
            <a:srgbClr val="0A2540"/>
          </a:solidFill>
          <a:ln/>
        </p:spPr>
      </p:sp>
      <p:sp>
        <p:nvSpPr>
          <p:cNvPr id="6" name="Text 4"/>
          <p:cNvSpPr/>
          <p:nvPr/>
        </p:nvSpPr>
        <p:spPr>
          <a:xfrm>
            <a:off x="457200" y="2103120"/>
            <a:ext cx="3657600" cy="640080"/>
          </a:xfrm>
          <a:prstGeom prst="rect">
            <a:avLst/>
          </a:prstGeom>
          <a:noFill/>
          <a:ln/>
        </p:spPr>
        <p:txBody>
          <a:bodyPr wrap="square" rtlCol="0" anchor="ctr"/>
          <a:lstStyle/>
          <a:p>
            <a:pPr algn="ctr" indent="0" marL="0">
              <a:buNone/>
            </a:pPr>
            <a:r>
              <a:rPr lang="en-US" sz="1100" b="1" spc="300" kern="0" dirty="0">
                <a:solidFill>
                  <a:srgbClr val="E5B85C"/>
                </a:solidFill>
                <a:latin typeface="Calibri" pitchFamily="34" charset="0"/>
                <a:ea typeface="Calibri" pitchFamily="34" charset="-122"/>
                <a:cs typeface="Calibri" pitchFamily="34" charset="-120"/>
              </a:rPr>
              <a:t>AXE 1 — RÉCURRENT</a:t>
            </a:r>
            <a:endParaRPr lang="en-US" sz="1100" dirty="0"/>
          </a:p>
        </p:txBody>
      </p:sp>
      <p:sp>
        <p:nvSpPr>
          <p:cNvPr id="7" name="Text 5"/>
          <p:cNvSpPr/>
          <p:nvPr/>
        </p:nvSpPr>
        <p:spPr>
          <a:xfrm>
            <a:off x="640080" y="2880360"/>
            <a:ext cx="3291840" cy="457200"/>
          </a:xfrm>
          <a:prstGeom prst="rect">
            <a:avLst/>
          </a:prstGeom>
          <a:noFill/>
          <a:ln/>
        </p:spPr>
        <p:txBody>
          <a:bodyPr wrap="square" rtlCol="0" anchor="ctr"/>
          <a:lstStyle/>
          <a:p>
            <a:pPr algn="ctr" indent="0" marL="0">
              <a:buNone/>
            </a:pPr>
            <a:r>
              <a:rPr lang="en-US" sz="1800" b="1" dirty="0">
                <a:solidFill>
                  <a:srgbClr val="0A2540"/>
                </a:solidFill>
                <a:latin typeface="Georgia" pitchFamily="34" charset="0"/>
                <a:ea typeface="Georgia" pitchFamily="34" charset="-122"/>
                <a:cs typeface="Georgia" pitchFamily="34" charset="-120"/>
              </a:rPr>
              <a:t>Abonnements annuels</a:t>
            </a:r>
            <a:endParaRPr lang="en-US" sz="1800" dirty="0"/>
          </a:p>
        </p:txBody>
      </p:sp>
      <p:sp>
        <p:nvSpPr>
          <p:cNvPr id="8" name="Text 6"/>
          <p:cNvSpPr/>
          <p:nvPr/>
        </p:nvSpPr>
        <p:spPr>
          <a:xfrm>
            <a:off x="731520" y="3520440"/>
            <a:ext cx="3200400" cy="2011680"/>
          </a:xfrm>
          <a:prstGeom prst="rect">
            <a:avLst/>
          </a:prstGeom>
          <a:noFill/>
          <a:ln/>
        </p:spPr>
        <p:txBody>
          <a:bodyPr wrap="square" rtlCol="0" anchor="ctr"/>
          <a:lstStyle/>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HERALDO ÉLU — 240 k FCFA</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HERALDO MAIRIE — 480 k FCFA</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HERALDO INSTITUTION — 900 k FCFA</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HERALDO AGENCE — 720 k FCFA</a:t>
            </a:r>
            <a:endParaRPr lang="en-US" sz="1000" dirty="0"/>
          </a:p>
        </p:txBody>
      </p:sp>
      <p:sp>
        <p:nvSpPr>
          <p:cNvPr id="9" name="Shape 7"/>
          <p:cNvSpPr/>
          <p:nvPr/>
        </p:nvSpPr>
        <p:spPr>
          <a:xfrm>
            <a:off x="457200" y="5623560"/>
            <a:ext cx="3657600" cy="594360"/>
          </a:xfrm>
          <a:prstGeom prst="rect">
            <a:avLst/>
          </a:prstGeom>
          <a:solidFill>
            <a:srgbClr val="F7F9FB"/>
          </a:solidFill>
          <a:ln/>
        </p:spPr>
      </p:sp>
      <p:sp>
        <p:nvSpPr>
          <p:cNvPr id="10" name="Text 8"/>
          <p:cNvSpPr/>
          <p:nvPr/>
        </p:nvSpPr>
        <p:spPr>
          <a:xfrm>
            <a:off x="594360" y="5623560"/>
            <a:ext cx="3383280" cy="594360"/>
          </a:xfrm>
          <a:prstGeom prst="rect">
            <a:avLst/>
          </a:prstGeom>
          <a:noFill/>
          <a:ln/>
        </p:spPr>
        <p:txBody>
          <a:bodyPr wrap="square" rtlCol="0" anchor="ctr"/>
          <a:lstStyle/>
          <a:p>
            <a:pPr algn="ctr" indent="0" marL="0">
              <a:buNone/>
            </a:pPr>
            <a:r>
              <a:rPr lang="en-US" sz="1000" b="1" i="1" dirty="0">
                <a:solidFill>
                  <a:srgbClr val="B8862E"/>
                </a:solidFill>
                <a:latin typeface="Calibri" pitchFamily="34" charset="0"/>
                <a:ea typeface="Calibri" pitchFamily="34" charset="-122"/>
                <a:cs typeface="Calibri" pitchFamily="34" charset="-120"/>
              </a:rPr>
              <a:t>ARR prévisible et fidélisant</a:t>
            </a:r>
            <a:endParaRPr lang="en-US" sz="1000" dirty="0"/>
          </a:p>
        </p:txBody>
      </p:sp>
      <p:sp>
        <p:nvSpPr>
          <p:cNvPr id="11" name="Shape 9"/>
          <p:cNvSpPr/>
          <p:nvPr/>
        </p:nvSpPr>
        <p:spPr>
          <a:xfrm>
            <a:off x="4297680" y="2103120"/>
            <a:ext cx="3657600" cy="4114800"/>
          </a:xfrm>
          <a:prstGeom prst="rect">
            <a:avLst/>
          </a:prstGeom>
          <a:solidFill>
            <a:srgbClr val="FFFFFF"/>
          </a:solidFill>
          <a:ln w="12700">
            <a:solidFill>
              <a:srgbClr val="B8862E"/>
            </a:solidFill>
            <a:prstDash val="solid"/>
          </a:ln>
        </p:spPr>
      </p:sp>
      <p:sp>
        <p:nvSpPr>
          <p:cNvPr id="12" name="Shape 10"/>
          <p:cNvSpPr/>
          <p:nvPr/>
        </p:nvSpPr>
        <p:spPr>
          <a:xfrm>
            <a:off x="4297680" y="2103120"/>
            <a:ext cx="3657600" cy="640080"/>
          </a:xfrm>
          <a:prstGeom prst="rect">
            <a:avLst/>
          </a:prstGeom>
          <a:solidFill>
            <a:srgbClr val="0A2540"/>
          </a:solidFill>
          <a:ln/>
        </p:spPr>
      </p:sp>
      <p:sp>
        <p:nvSpPr>
          <p:cNvPr id="13" name="Text 11"/>
          <p:cNvSpPr/>
          <p:nvPr/>
        </p:nvSpPr>
        <p:spPr>
          <a:xfrm>
            <a:off x="4297680" y="2103120"/>
            <a:ext cx="3657600" cy="640080"/>
          </a:xfrm>
          <a:prstGeom prst="rect">
            <a:avLst/>
          </a:prstGeom>
          <a:noFill/>
          <a:ln/>
        </p:spPr>
        <p:txBody>
          <a:bodyPr wrap="square" rtlCol="0" anchor="ctr"/>
          <a:lstStyle/>
          <a:p>
            <a:pPr algn="ctr" indent="0" marL="0">
              <a:buNone/>
            </a:pPr>
            <a:r>
              <a:rPr lang="en-US" sz="1100" b="1" spc="300" kern="0" dirty="0">
                <a:solidFill>
                  <a:srgbClr val="E5B85C"/>
                </a:solidFill>
                <a:latin typeface="Calibri" pitchFamily="34" charset="0"/>
                <a:ea typeface="Calibri" pitchFamily="34" charset="-122"/>
                <a:cs typeface="Calibri" pitchFamily="34" charset="-120"/>
              </a:rPr>
              <a:t>AXE 2 — À L'ACTE</a:t>
            </a:r>
            <a:endParaRPr lang="en-US" sz="1100" dirty="0"/>
          </a:p>
        </p:txBody>
      </p:sp>
      <p:sp>
        <p:nvSpPr>
          <p:cNvPr id="14" name="Text 12"/>
          <p:cNvSpPr/>
          <p:nvPr/>
        </p:nvSpPr>
        <p:spPr>
          <a:xfrm>
            <a:off x="4480560" y="2880360"/>
            <a:ext cx="3291840" cy="457200"/>
          </a:xfrm>
          <a:prstGeom prst="rect">
            <a:avLst/>
          </a:prstGeom>
          <a:noFill/>
          <a:ln/>
        </p:spPr>
        <p:txBody>
          <a:bodyPr wrap="square" rtlCol="0" anchor="ctr"/>
          <a:lstStyle/>
          <a:p>
            <a:pPr algn="ctr" indent="0" marL="0">
              <a:buNone/>
            </a:pPr>
            <a:r>
              <a:rPr lang="en-US" sz="1800" b="1" dirty="0">
                <a:solidFill>
                  <a:srgbClr val="0A2540"/>
                </a:solidFill>
                <a:latin typeface="Georgia" pitchFamily="34" charset="0"/>
                <a:ea typeface="Georgia" pitchFamily="34" charset="-122"/>
                <a:cs typeface="Georgia" pitchFamily="34" charset="-120"/>
              </a:rPr>
              <a:t>Salles, studio et packs</a:t>
            </a:r>
            <a:endParaRPr lang="en-US" sz="1800" dirty="0"/>
          </a:p>
        </p:txBody>
      </p:sp>
      <p:sp>
        <p:nvSpPr>
          <p:cNvPr id="15" name="Text 13"/>
          <p:cNvSpPr/>
          <p:nvPr/>
        </p:nvSpPr>
        <p:spPr>
          <a:xfrm>
            <a:off x="4572000" y="3520440"/>
            <a:ext cx="3200400" cy="2011680"/>
          </a:xfrm>
          <a:prstGeom prst="rect">
            <a:avLst/>
          </a:prstGeom>
          <a:noFill/>
          <a:ln/>
        </p:spPr>
        <p:txBody>
          <a:bodyPr wrap="square" rtlCol="0" anchor="ctr"/>
          <a:lstStyle/>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AGORA Standard — 75 k</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AGORA Premium — 150 k</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AGORA Nationale — 350 k</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Studio · Amplification · Influenceurs</a:t>
            </a:r>
            <a:endParaRPr lang="en-US" sz="1000" dirty="0"/>
          </a:p>
        </p:txBody>
      </p:sp>
      <p:sp>
        <p:nvSpPr>
          <p:cNvPr id="16" name="Shape 14"/>
          <p:cNvSpPr/>
          <p:nvPr/>
        </p:nvSpPr>
        <p:spPr>
          <a:xfrm>
            <a:off x="4297680" y="5623560"/>
            <a:ext cx="3657600" cy="594360"/>
          </a:xfrm>
          <a:prstGeom prst="rect">
            <a:avLst/>
          </a:prstGeom>
          <a:solidFill>
            <a:srgbClr val="F7F9FB"/>
          </a:solidFill>
          <a:ln/>
        </p:spPr>
      </p:sp>
      <p:sp>
        <p:nvSpPr>
          <p:cNvPr id="17" name="Text 15"/>
          <p:cNvSpPr/>
          <p:nvPr/>
        </p:nvSpPr>
        <p:spPr>
          <a:xfrm>
            <a:off x="4434840" y="5623560"/>
            <a:ext cx="3383280" cy="594360"/>
          </a:xfrm>
          <a:prstGeom prst="rect">
            <a:avLst/>
          </a:prstGeom>
          <a:noFill/>
          <a:ln/>
        </p:spPr>
        <p:txBody>
          <a:bodyPr wrap="square" rtlCol="0" anchor="ctr"/>
          <a:lstStyle/>
          <a:p>
            <a:pPr algn="ctr" indent="0" marL="0">
              <a:buNone/>
            </a:pPr>
            <a:r>
              <a:rPr lang="en-US" sz="1000" b="1" i="1" dirty="0">
                <a:solidFill>
                  <a:srgbClr val="B8862E"/>
                </a:solidFill>
                <a:latin typeface="Calibri" pitchFamily="34" charset="0"/>
                <a:ea typeface="Calibri" pitchFamily="34" charset="-122"/>
                <a:cs typeface="Calibri" pitchFamily="34" charset="-120"/>
              </a:rPr>
              <a:t>Upsell volumique sur clients existants</a:t>
            </a:r>
            <a:endParaRPr lang="en-US" sz="1000" dirty="0"/>
          </a:p>
        </p:txBody>
      </p:sp>
      <p:sp>
        <p:nvSpPr>
          <p:cNvPr id="18" name="Shape 16"/>
          <p:cNvSpPr/>
          <p:nvPr/>
        </p:nvSpPr>
        <p:spPr>
          <a:xfrm>
            <a:off x="8138160" y="2103120"/>
            <a:ext cx="3657600" cy="4114800"/>
          </a:xfrm>
          <a:prstGeom prst="rect">
            <a:avLst/>
          </a:prstGeom>
          <a:solidFill>
            <a:srgbClr val="FFFFFF"/>
          </a:solidFill>
          <a:ln w="12700">
            <a:solidFill>
              <a:srgbClr val="B8862E"/>
            </a:solidFill>
            <a:prstDash val="solid"/>
          </a:ln>
        </p:spPr>
      </p:sp>
      <p:sp>
        <p:nvSpPr>
          <p:cNvPr id="19" name="Shape 17"/>
          <p:cNvSpPr/>
          <p:nvPr/>
        </p:nvSpPr>
        <p:spPr>
          <a:xfrm>
            <a:off x="8138160" y="2103120"/>
            <a:ext cx="3657600" cy="640080"/>
          </a:xfrm>
          <a:prstGeom prst="rect">
            <a:avLst/>
          </a:prstGeom>
          <a:solidFill>
            <a:srgbClr val="0A2540"/>
          </a:solidFill>
          <a:ln/>
        </p:spPr>
      </p:sp>
      <p:sp>
        <p:nvSpPr>
          <p:cNvPr id="20" name="Text 18"/>
          <p:cNvSpPr/>
          <p:nvPr/>
        </p:nvSpPr>
        <p:spPr>
          <a:xfrm>
            <a:off x="8138160" y="2103120"/>
            <a:ext cx="3657600" cy="640080"/>
          </a:xfrm>
          <a:prstGeom prst="rect">
            <a:avLst/>
          </a:prstGeom>
          <a:noFill/>
          <a:ln/>
        </p:spPr>
        <p:txBody>
          <a:bodyPr wrap="square" rtlCol="0" anchor="ctr"/>
          <a:lstStyle/>
          <a:p>
            <a:pPr algn="ctr" indent="0" marL="0">
              <a:buNone/>
            </a:pPr>
            <a:r>
              <a:rPr lang="en-US" sz="1100" b="1" spc="300" kern="0" dirty="0">
                <a:solidFill>
                  <a:srgbClr val="E5B85C"/>
                </a:solidFill>
                <a:latin typeface="Calibri" pitchFamily="34" charset="0"/>
                <a:ea typeface="Calibri" pitchFamily="34" charset="-122"/>
                <a:cs typeface="Calibri" pitchFamily="34" charset="-120"/>
              </a:rPr>
              <a:t>AXE 3 — VARIABLE</a:t>
            </a:r>
            <a:endParaRPr lang="en-US" sz="1100" dirty="0"/>
          </a:p>
        </p:txBody>
      </p:sp>
      <p:sp>
        <p:nvSpPr>
          <p:cNvPr id="21" name="Text 19"/>
          <p:cNvSpPr/>
          <p:nvPr/>
        </p:nvSpPr>
        <p:spPr>
          <a:xfrm>
            <a:off x="8321040" y="2880360"/>
            <a:ext cx="3291840" cy="457200"/>
          </a:xfrm>
          <a:prstGeom prst="rect">
            <a:avLst/>
          </a:prstGeom>
          <a:noFill/>
          <a:ln/>
        </p:spPr>
        <p:txBody>
          <a:bodyPr wrap="square" rtlCol="0" anchor="ctr"/>
          <a:lstStyle/>
          <a:p>
            <a:pPr algn="ctr" indent="0" marL="0">
              <a:buNone/>
            </a:pPr>
            <a:r>
              <a:rPr lang="en-US" sz="1800" b="1" dirty="0">
                <a:solidFill>
                  <a:srgbClr val="0A2540"/>
                </a:solidFill>
                <a:latin typeface="Georgia" pitchFamily="34" charset="0"/>
                <a:ea typeface="Georgia" pitchFamily="34" charset="-122"/>
                <a:cs typeface="Georgia" pitchFamily="34" charset="-120"/>
              </a:rPr>
              <a:t>Commission FCM 15%</a:t>
            </a:r>
            <a:endParaRPr lang="en-US" sz="1800" dirty="0"/>
          </a:p>
        </p:txBody>
      </p:sp>
      <p:sp>
        <p:nvSpPr>
          <p:cNvPr id="22" name="Text 20"/>
          <p:cNvSpPr/>
          <p:nvPr/>
        </p:nvSpPr>
        <p:spPr>
          <a:xfrm>
            <a:off x="8412480" y="3520440"/>
            <a:ext cx="3200400" cy="2011680"/>
          </a:xfrm>
          <a:prstGeom prst="rect">
            <a:avLst/>
          </a:prstGeom>
          <a:noFill/>
          <a:ln/>
        </p:spPr>
        <p:txBody>
          <a:bodyPr wrap="square" rtlCol="0" anchor="ctr"/>
          <a:lstStyle/>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15% sur chaque transaction</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Prélevée automatiquement</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Croît avec le volume d'événements</a:t>
            </a:r>
            <a:endParaRPr lang="en-US" sz="1000" dirty="0"/>
          </a:p>
          <a:p>
            <a:pPr marL="342900" indent="-342900">
              <a:spcAft>
                <a:spcPts val="600"/>
              </a:spcAft>
              <a:buSzPct val="100000"/>
              <a:buChar char="●"/>
            </a:pPr>
            <a:r>
              <a:rPr lang="en-US" sz="1000" dirty="0">
                <a:solidFill>
                  <a:srgbClr val="5A6470"/>
                </a:solidFill>
                <a:latin typeface="Calibri" pitchFamily="34" charset="0"/>
                <a:ea typeface="Calibri" pitchFamily="34" charset="-122"/>
                <a:cs typeface="Calibri" pitchFamily="34" charset="-120"/>
              </a:rPr>
              <a:t>Revenu scalable sans coût marginal</a:t>
            </a:r>
            <a:endParaRPr lang="en-US" sz="1000" dirty="0"/>
          </a:p>
        </p:txBody>
      </p:sp>
      <p:sp>
        <p:nvSpPr>
          <p:cNvPr id="23" name="Shape 21"/>
          <p:cNvSpPr/>
          <p:nvPr/>
        </p:nvSpPr>
        <p:spPr>
          <a:xfrm>
            <a:off x="8138160" y="5623560"/>
            <a:ext cx="3657600" cy="594360"/>
          </a:xfrm>
          <a:prstGeom prst="rect">
            <a:avLst/>
          </a:prstGeom>
          <a:solidFill>
            <a:srgbClr val="F7F9FB"/>
          </a:solidFill>
          <a:ln/>
        </p:spPr>
      </p:sp>
      <p:sp>
        <p:nvSpPr>
          <p:cNvPr id="24" name="Text 22"/>
          <p:cNvSpPr/>
          <p:nvPr/>
        </p:nvSpPr>
        <p:spPr>
          <a:xfrm>
            <a:off x="8275320" y="5623560"/>
            <a:ext cx="3383280" cy="594360"/>
          </a:xfrm>
          <a:prstGeom prst="rect">
            <a:avLst/>
          </a:prstGeom>
          <a:noFill/>
          <a:ln/>
        </p:spPr>
        <p:txBody>
          <a:bodyPr wrap="square" rtlCol="0" anchor="ctr"/>
          <a:lstStyle/>
          <a:p>
            <a:pPr algn="ctr" indent="0" marL="0">
              <a:buNone/>
            </a:pPr>
            <a:r>
              <a:rPr lang="en-US" sz="1000" b="1" i="1" dirty="0">
                <a:solidFill>
                  <a:srgbClr val="B8862E"/>
                </a:solidFill>
                <a:latin typeface="Calibri" pitchFamily="34" charset="0"/>
                <a:ea typeface="Calibri" pitchFamily="34" charset="-122"/>
                <a:cs typeface="Calibri" pitchFamily="34" charset="-120"/>
              </a:rPr>
              <a:t>Notre flywheel — scalabilité maximale</a:t>
            </a:r>
            <a:endParaRPr lang="en-US" sz="1000" dirty="0"/>
          </a:p>
        </p:txBody>
      </p:sp>
      <p:sp>
        <p:nvSpPr>
          <p:cNvPr id="25" name="Text 23"/>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09  ·  PROJECTIONS</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Rentable dès l'année 1.</a:t>
            </a:r>
            <a:endParaRPr lang="en-US" sz="3200" dirty="0"/>
          </a:p>
        </p:txBody>
      </p:sp>
      <p:sp>
        <p:nvSpPr>
          <p:cNvPr id="4" name="Shape 2"/>
          <p:cNvSpPr/>
          <p:nvPr/>
        </p:nvSpPr>
        <p:spPr>
          <a:xfrm>
            <a:off x="457200" y="2194560"/>
            <a:ext cx="4114800" cy="502920"/>
          </a:xfrm>
          <a:prstGeom prst="rect">
            <a:avLst/>
          </a:prstGeom>
          <a:solidFill>
            <a:srgbClr val="0A2540"/>
          </a:solidFill>
          <a:ln/>
        </p:spPr>
      </p:sp>
      <p:sp>
        <p:nvSpPr>
          <p:cNvPr id="5" name="Text 3"/>
          <p:cNvSpPr/>
          <p:nvPr/>
        </p:nvSpPr>
        <p:spPr>
          <a:xfrm>
            <a:off x="548640" y="2194560"/>
            <a:ext cx="3931920" cy="502920"/>
          </a:xfrm>
          <a:prstGeom prst="rect">
            <a:avLst/>
          </a:prstGeom>
          <a:noFill/>
          <a:ln/>
        </p:spPr>
        <p:txBody>
          <a:bodyPr wrap="square" rtlCol="0" anchor="ctr"/>
          <a:lstStyle/>
          <a:p>
            <a:pPr algn="l" indent="0" marL="0">
              <a:buNone/>
            </a:pPr>
            <a:endParaRPr lang="en-US" sz="1200" dirty="0"/>
          </a:p>
        </p:txBody>
      </p:sp>
      <p:sp>
        <p:nvSpPr>
          <p:cNvPr id="6" name="Shape 4"/>
          <p:cNvSpPr/>
          <p:nvPr/>
        </p:nvSpPr>
        <p:spPr>
          <a:xfrm>
            <a:off x="4572000" y="2194560"/>
            <a:ext cx="2468880" cy="502920"/>
          </a:xfrm>
          <a:prstGeom prst="rect">
            <a:avLst/>
          </a:prstGeom>
          <a:solidFill>
            <a:srgbClr val="0A2540"/>
          </a:solidFill>
          <a:ln/>
        </p:spPr>
      </p:sp>
      <p:sp>
        <p:nvSpPr>
          <p:cNvPr id="7" name="Text 5"/>
          <p:cNvSpPr/>
          <p:nvPr/>
        </p:nvSpPr>
        <p:spPr>
          <a:xfrm>
            <a:off x="4663440" y="219456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 1</a:t>
            </a:r>
            <a:endParaRPr lang="en-US" sz="1200" dirty="0"/>
          </a:p>
        </p:txBody>
      </p:sp>
      <p:sp>
        <p:nvSpPr>
          <p:cNvPr id="8" name="Shape 6"/>
          <p:cNvSpPr/>
          <p:nvPr/>
        </p:nvSpPr>
        <p:spPr>
          <a:xfrm>
            <a:off x="7040880" y="2194560"/>
            <a:ext cx="2468880" cy="502920"/>
          </a:xfrm>
          <a:prstGeom prst="rect">
            <a:avLst/>
          </a:prstGeom>
          <a:solidFill>
            <a:srgbClr val="0A2540"/>
          </a:solidFill>
          <a:ln/>
        </p:spPr>
      </p:sp>
      <p:sp>
        <p:nvSpPr>
          <p:cNvPr id="9" name="Text 7"/>
          <p:cNvSpPr/>
          <p:nvPr/>
        </p:nvSpPr>
        <p:spPr>
          <a:xfrm>
            <a:off x="7132320" y="219456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 2</a:t>
            </a:r>
            <a:endParaRPr lang="en-US" sz="1200" dirty="0"/>
          </a:p>
        </p:txBody>
      </p:sp>
      <p:sp>
        <p:nvSpPr>
          <p:cNvPr id="10" name="Shape 8"/>
          <p:cNvSpPr/>
          <p:nvPr/>
        </p:nvSpPr>
        <p:spPr>
          <a:xfrm>
            <a:off x="9509760" y="2194560"/>
            <a:ext cx="2468880" cy="502920"/>
          </a:xfrm>
          <a:prstGeom prst="rect">
            <a:avLst/>
          </a:prstGeom>
          <a:solidFill>
            <a:srgbClr val="0A2540"/>
          </a:solidFill>
          <a:ln/>
        </p:spPr>
      </p:sp>
      <p:sp>
        <p:nvSpPr>
          <p:cNvPr id="11" name="Text 9"/>
          <p:cNvSpPr/>
          <p:nvPr/>
        </p:nvSpPr>
        <p:spPr>
          <a:xfrm>
            <a:off x="9601200" y="219456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 3</a:t>
            </a:r>
            <a:endParaRPr lang="en-US" sz="1200" dirty="0"/>
          </a:p>
        </p:txBody>
      </p:sp>
      <p:sp>
        <p:nvSpPr>
          <p:cNvPr id="12" name="Shape 10"/>
          <p:cNvSpPr/>
          <p:nvPr/>
        </p:nvSpPr>
        <p:spPr>
          <a:xfrm>
            <a:off x="457200" y="2697480"/>
            <a:ext cx="4114800" cy="640080"/>
          </a:xfrm>
          <a:prstGeom prst="rect">
            <a:avLst/>
          </a:prstGeom>
          <a:solidFill>
            <a:srgbClr val="F7F9FB"/>
          </a:solidFill>
          <a:ln/>
        </p:spPr>
      </p:sp>
      <p:sp>
        <p:nvSpPr>
          <p:cNvPr id="13" name="Text 11"/>
          <p:cNvSpPr/>
          <p:nvPr/>
        </p:nvSpPr>
        <p:spPr>
          <a:xfrm>
            <a:off x="548640" y="2697480"/>
            <a:ext cx="3931920" cy="640080"/>
          </a:xfrm>
          <a:prstGeom prst="rect">
            <a:avLst/>
          </a:prstGeom>
          <a:noFill/>
          <a:ln/>
        </p:spPr>
        <p:txBody>
          <a:bodyPr wrap="square" rtlCol="0" anchor="ctr"/>
          <a:lstStyle/>
          <a:p>
            <a:pPr algn="l" indent="0" marL="0">
              <a:buNone/>
            </a:pPr>
            <a:r>
              <a:rPr lang="en-US" sz="1300" b="1" dirty="0">
                <a:solidFill>
                  <a:srgbClr val="0A2540"/>
                </a:solidFill>
                <a:latin typeface="Calibri" pitchFamily="34" charset="0"/>
                <a:ea typeface="Calibri" pitchFamily="34" charset="-122"/>
                <a:cs typeface="Calibri" pitchFamily="34" charset="-120"/>
              </a:rPr>
              <a:t>Chiffre d'affaires</a:t>
            </a:r>
            <a:endParaRPr lang="en-US" sz="1300" dirty="0"/>
          </a:p>
        </p:txBody>
      </p:sp>
      <p:sp>
        <p:nvSpPr>
          <p:cNvPr id="14" name="Shape 12"/>
          <p:cNvSpPr/>
          <p:nvPr/>
        </p:nvSpPr>
        <p:spPr>
          <a:xfrm>
            <a:off x="4572000" y="2697480"/>
            <a:ext cx="2468880" cy="640080"/>
          </a:xfrm>
          <a:prstGeom prst="rect">
            <a:avLst/>
          </a:prstGeom>
          <a:solidFill>
            <a:srgbClr val="F7F9FB"/>
          </a:solidFill>
          <a:ln/>
        </p:spPr>
      </p:sp>
      <p:sp>
        <p:nvSpPr>
          <p:cNvPr id="15" name="Text 13"/>
          <p:cNvSpPr/>
          <p:nvPr/>
        </p:nvSpPr>
        <p:spPr>
          <a:xfrm>
            <a:off x="4663440" y="269748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27,3 M FCFA</a:t>
            </a:r>
            <a:endParaRPr lang="en-US" sz="1300" dirty="0"/>
          </a:p>
        </p:txBody>
      </p:sp>
      <p:sp>
        <p:nvSpPr>
          <p:cNvPr id="16" name="Shape 14"/>
          <p:cNvSpPr/>
          <p:nvPr/>
        </p:nvSpPr>
        <p:spPr>
          <a:xfrm>
            <a:off x="7040880" y="2697480"/>
            <a:ext cx="2468880" cy="640080"/>
          </a:xfrm>
          <a:prstGeom prst="rect">
            <a:avLst/>
          </a:prstGeom>
          <a:solidFill>
            <a:srgbClr val="F7F9FB"/>
          </a:solidFill>
          <a:ln/>
        </p:spPr>
      </p:sp>
      <p:sp>
        <p:nvSpPr>
          <p:cNvPr id="17" name="Text 15"/>
          <p:cNvSpPr/>
          <p:nvPr/>
        </p:nvSpPr>
        <p:spPr>
          <a:xfrm>
            <a:off x="7132320" y="269748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67,5 M FCFA</a:t>
            </a:r>
            <a:endParaRPr lang="en-US" sz="1300" dirty="0"/>
          </a:p>
        </p:txBody>
      </p:sp>
      <p:sp>
        <p:nvSpPr>
          <p:cNvPr id="18" name="Shape 16"/>
          <p:cNvSpPr/>
          <p:nvPr/>
        </p:nvSpPr>
        <p:spPr>
          <a:xfrm>
            <a:off x="9509760" y="2697480"/>
            <a:ext cx="2468880" cy="640080"/>
          </a:xfrm>
          <a:prstGeom prst="rect">
            <a:avLst/>
          </a:prstGeom>
          <a:solidFill>
            <a:srgbClr val="F7F9FB"/>
          </a:solidFill>
          <a:ln/>
        </p:spPr>
      </p:sp>
      <p:sp>
        <p:nvSpPr>
          <p:cNvPr id="19" name="Text 17"/>
          <p:cNvSpPr/>
          <p:nvPr/>
        </p:nvSpPr>
        <p:spPr>
          <a:xfrm>
            <a:off x="9601200" y="269748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127,8 M FCFA</a:t>
            </a:r>
            <a:endParaRPr lang="en-US" sz="1300" dirty="0"/>
          </a:p>
        </p:txBody>
      </p:sp>
      <p:sp>
        <p:nvSpPr>
          <p:cNvPr id="20" name="Text 18"/>
          <p:cNvSpPr/>
          <p:nvPr/>
        </p:nvSpPr>
        <p:spPr>
          <a:xfrm>
            <a:off x="548640" y="3337560"/>
            <a:ext cx="3931920" cy="640080"/>
          </a:xfrm>
          <a:prstGeom prst="rect">
            <a:avLst/>
          </a:prstGeom>
          <a:noFill/>
          <a:ln/>
        </p:spPr>
        <p:txBody>
          <a:bodyPr wrap="square" rtlCol="0" anchor="ctr"/>
          <a:lstStyle/>
          <a:p>
            <a:pPr algn="l" indent="0" marL="0">
              <a:buNone/>
            </a:pPr>
            <a:r>
              <a:rPr lang="en-US" sz="1300" b="1" dirty="0">
                <a:solidFill>
                  <a:srgbClr val="0A2540"/>
                </a:solidFill>
                <a:latin typeface="Calibri" pitchFamily="34" charset="0"/>
                <a:ea typeface="Calibri" pitchFamily="34" charset="-122"/>
                <a:cs typeface="Calibri" pitchFamily="34" charset="-120"/>
              </a:rPr>
              <a:t>Charges totales</a:t>
            </a:r>
            <a:endParaRPr lang="en-US" sz="1300" dirty="0"/>
          </a:p>
        </p:txBody>
      </p:sp>
      <p:sp>
        <p:nvSpPr>
          <p:cNvPr id="21" name="Text 19"/>
          <p:cNvSpPr/>
          <p:nvPr/>
        </p:nvSpPr>
        <p:spPr>
          <a:xfrm>
            <a:off x="4663440" y="333756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22,8 M FCFA</a:t>
            </a:r>
            <a:endParaRPr lang="en-US" sz="1300" dirty="0"/>
          </a:p>
        </p:txBody>
      </p:sp>
      <p:sp>
        <p:nvSpPr>
          <p:cNvPr id="22" name="Text 20"/>
          <p:cNvSpPr/>
          <p:nvPr/>
        </p:nvSpPr>
        <p:spPr>
          <a:xfrm>
            <a:off x="7132320" y="333756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27,8 M FCFA</a:t>
            </a:r>
            <a:endParaRPr lang="en-US" sz="1300" dirty="0"/>
          </a:p>
        </p:txBody>
      </p:sp>
      <p:sp>
        <p:nvSpPr>
          <p:cNvPr id="23" name="Text 21"/>
          <p:cNvSpPr/>
          <p:nvPr/>
        </p:nvSpPr>
        <p:spPr>
          <a:xfrm>
            <a:off x="9601200" y="333756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39,9 M FCFA</a:t>
            </a:r>
            <a:endParaRPr lang="en-US" sz="1300" dirty="0"/>
          </a:p>
        </p:txBody>
      </p:sp>
      <p:sp>
        <p:nvSpPr>
          <p:cNvPr id="24" name="Shape 22"/>
          <p:cNvSpPr/>
          <p:nvPr/>
        </p:nvSpPr>
        <p:spPr>
          <a:xfrm>
            <a:off x="457200" y="3977640"/>
            <a:ext cx="4114800" cy="640080"/>
          </a:xfrm>
          <a:prstGeom prst="rect">
            <a:avLst/>
          </a:prstGeom>
          <a:solidFill>
            <a:srgbClr val="F7F9FB"/>
          </a:solidFill>
          <a:ln/>
        </p:spPr>
      </p:sp>
      <p:sp>
        <p:nvSpPr>
          <p:cNvPr id="25" name="Shape 23"/>
          <p:cNvSpPr/>
          <p:nvPr/>
        </p:nvSpPr>
        <p:spPr>
          <a:xfrm>
            <a:off x="457200" y="3977640"/>
            <a:ext cx="4114800" cy="640080"/>
          </a:xfrm>
          <a:prstGeom prst="rect">
            <a:avLst/>
          </a:prstGeom>
          <a:solidFill>
            <a:srgbClr val="FCF7E8"/>
          </a:solidFill>
          <a:ln/>
        </p:spPr>
      </p:sp>
      <p:sp>
        <p:nvSpPr>
          <p:cNvPr id="26" name="Text 24"/>
          <p:cNvSpPr/>
          <p:nvPr/>
        </p:nvSpPr>
        <p:spPr>
          <a:xfrm>
            <a:off x="548640" y="3977640"/>
            <a:ext cx="3931920" cy="640080"/>
          </a:xfrm>
          <a:prstGeom prst="rect">
            <a:avLst/>
          </a:prstGeom>
          <a:noFill/>
          <a:ln/>
        </p:spPr>
        <p:txBody>
          <a:bodyPr wrap="square" rtlCol="0" anchor="ctr"/>
          <a:lstStyle/>
          <a:p>
            <a:pPr algn="l" indent="0" marL="0">
              <a:buNone/>
            </a:pPr>
            <a:r>
              <a:rPr lang="en-US" sz="1600" b="1" dirty="0">
                <a:solidFill>
                  <a:srgbClr val="B8862E"/>
                </a:solidFill>
                <a:latin typeface="Georgia" pitchFamily="34" charset="0"/>
                <a:ea typeface="Georgia" pitchFamily="34" charset="-122"/>
                <a:cs typeface="Georgia" pitchFamily="34" charset="-120"/>
              </a:rPr>
              <a:t>Résultat net</a:t>
            </a:r>
            <a:endParaRPr lang="en-US" sz="1600" dirty="0"/>
          </a:p>
        </p:txBody>
      </p:sp>
      <p:sp>
        <p:nvSpPr>
          <p:cNvPr id="27" name="Shape 25"/>
          <p:cNvSpPr/>
          <p:nvPr/>
        </p:nvSpPr>
        <p:spPr>
          <a:xfrm>
            <a:off x="4572000" y="3977640"/>
            <a:ext cx="2468880" cy="640080"/>
          </a:xfrm>
          <a:prstGeom prst="rect">
            <a:avLst/>
          </a:prstGeom>
          <a:solidFill>
            <a:srgbClr val="F7F9FB"/>
          </a:solidFill>
          <a:ln/>
        </p:spPr>
      </p:sp>
      <p:sp>
        <p:nvSpPr>
          <p:cNvPr id="28" name="Shape 26"/>
          <p:cNvSpPr/>
          <p:nvPr/>
        </p:nvSpPr>
        <p:spPr>
          <a:xfrm>
            <a:off x="4572000" y="3977640"/>
            <a:ext cx="2468880" cy="640080"/>
          </a:xfrm>
          <a:prstGeom prst="rect">
            <a:avLst/>
          </a:prstGeom>
          <a:solidFill>
            <a:srgbClr val="FCF7E8"/>
          </a:solidFill>
          <a:ln/>
        </p:spPr>
      </p:sp>
      <p:sp>
        <p:nvSpPr>
          <p:cNvPr id="29" name="Text 27"/>
          <p:cNvSpPr/>
          <p:nvPr/>
        </p:nvSpPr>
        <p:spPr>
          <a:xfrm>
            <a:off x="4663440" y="3977640"/>
            <a:ext cx="2286000" cy="640080"/>
          </a:xfrm>
          <a:prstGeom prst="rect">
            <a:avLst/>
          </a:prstGeom>
          <a:noFill/>
          <a:ln/>
        </p:spPr>
        <p:txBody>
          <a:bodyPr wrap="square" rtlCol="0" anchor="ctr"/>
          <a:lstStyle/>
          <a:p>
            <a:pPr algn="ctr" indent="0" marL="0">
              <a:buNone/>
            </a:pPr>
            <a:r>
              <a:rPr lang="en-US" sz="1600" b="1" dirty="0">
                <a:solidFill>
                  <a:srgbClr val="B8862E"/>
                </a:solidFill>
                <a:latin typeface="Georgia" pitchFamily="34" charset="0"/>
                <a:ea typeface="Georgia" pitchFamily="34" charset="-122"/>
                <a:cs typeface="Georgia" pitchFamily="34" charset="-120"/>
              </a:rPr>
              <a:t>+4,5 M FCFA</a:t>
            </a:r>
            <a:endParaRPr lang="en-US" sz="1600" dirty="0"/>
          </a:p>
        </p:txBody>
      </p:sp>
      <p:sp>
        <p:nvSpPr>
          <p:cNvPr id="30" name="Shape 28"/>
          <p:cNvSpPr/>
          <p:nvPr/>
        </p:nvSpPr>
        <p:spPr>
          <a:xfrm>
            <a:off x="7040880" y="3977640"/>
            <a:ext cx="2468880" cy="640080"/>
          </a:xfrm>
          <a:prstGeom prst="rect">
            <a:avLst/>
          </a:prstGeom>
          <a:solidFill>
            <a:srgbClr val="F7F9FB"/>
          </a:solidFill>
          <a:ln/>
        </p:spPr>
      </p:sp>
      <p:sp>
        <p:nvSpPr>
          <p:cNvPr id="31" name="Shape 29"/>
          <p:cNvSpPr/>
          <p:nvPr/>
        </p:nvSpPr>
        <p:spPr>
          <a:xfrm>
            <a:off x="7040880" y="3977640"/>
            <a:ext cx="2468880" cy="640080"/>
          </a:xfrm>
          <a:prstGeom prst="rect">
            <a:avLst/>
          </a:prstGeom>
          <a:solidFill>
            <a:srgbClr val="FCF7E8"/>
          </a:solidFill>
          <a:ln/>
        </p:spPr>
      </p:sp>
      <p:sp>
        <p:nvSpPr>
          <p:cNvPr id="32" name="Text 30"/>
          <p:cNvSpPr/>
          <p:nvPr/>
        </p:nvSpPr>
        <p:spPr>
          <a:xfrm>
            <a:off x="7132320" y="3977640"/>
            <a:ext cx="2286000" cy="640080"/>
          </a:xfrm>
          <a:prstGeom prst="rect">
            <a:avLst/>
          </a:prstGeom>
          <a:noFill/>
          <a:ln/>
        </p:spPr>
        <p:txBody>
          <a:bodyPr wrap="square" rtlCol="0" anchor="ctr"/>
          <a:lstStyle/>
          <a:p>
            <a:pPr algn="ctr" indent="0" marL="0">
              <a:buNone/>
            </a:pPr>
            <a:r>
              <a:rPr lang="en-US" sz="1600" b="1" dirty="0">
                <a:solidFill>
                  <a:srgbClr val="B8862E"/>
                </a:solidFill>
                <a:latin typeface="Georgia" pitchFamily="34" charset="0"/>
                <a:ea typeface="Georgia" pitchFamily="34" charset="-122"/>
                <a:cs typeface="Georgia" pitchFamily="34" charset="-120"/>
              </a:rPr>
              <a:t>+39,7 M FCFA</a:t>
            </a:r>
            <a:endParaRPr lang="en-US" sz="1600" dirty="0"/>
          </a:p>
        </p:txBody>
      </p:sp>
      <p:sp>
        <p:nvSpPr>
          <p:cNvPr id="33" name="Shape 31"/>
          <p:cNvSpPr/>
          <p:nvPr/>
        </p:nvSpPr>
        <p:spPr>
          <a:xfrm>
            <a:off x="9509760" y="3977640"/>
            <a:ext cx="2468880" cy="640080"/>
          </a:xfrm>
          <a:prstGeom prst="rect">
            <a:avLst/>
          </a:prstGeom>
          <a:solidFill>
            <a:srgbClr val="F7F9FB"/>
          </a:solidFill>
          <a:ln/>
        </p:spPr>
      </p:sp>
      <p:sp>
        <p:nvSpPr>
          <p:cNvPr id="34" name="Shape 32"/>
          <p:cNvSpPr/>
          <p:nvPr/>
        </p:nvSpPr>
        <p:spPr>
          <a:xfrm>
            <a:off x="9509760" y="3977640"/>
            <a:ext cx="2468880" cy="640080"/>
          </a:xfrm>
          <a:prstGeom prst="rect">
            <a:avLst/>
          </a:prstGeom>
          <a:solidFill>
            <a:srgbClr val="FCF7E8"/>
          </a:solidFill>
          <a:ln/>
        </p:spPr>
      </p:sp>
      <p:sp>
        <p:nvSpPr>
          <p:cNvPr id="35" name="Text 33"/>
          <p:cNvSpPr/>
          <p:nvPr/>
        </p:nvSpPr>
        <p:spPr>
          <a:xfrm>
            <a:off x="9601200" y="3977640"/>
            <a:ext cx="2286000" cy="640080"/>
          </a:xfrm>
          <a:prstGeom prst="rect">
            <a:avLst/>
          </a:prstGeom>
          <a:noFill/>
          <a:ln/>
        </p:spPr>
        <p:txBody>
          <a:bodyPr wrap="square" rtlCol="0" anchor="ctr"/>
          <a:lstStyle/>
          <a:p>
            <a:pPr algn="ctr" indent="0" marL="0">
              <a:buNone/>
            </a:pPr>
            <a:r>
              <a:rPr lang="en-US" sz="1600" b="1" dirty="0">
                <a:solidFill>
                  <a:srgbClr val="B8862E"/>
                </a:solidFill>
                <a:latin typeface="Georgia" pitchFamily="34" charset="0"/>
                <a:ea typeface="Georgia" pitchFamily="34" charset="-122"/>
                <a:cs typeface="Georgia" pitchFamily="34" charset="-120"/>
              </a:rPr>
              <a:t>+87,9 M FCFA</a:t>
            </a:r>
            <a:endParaRPr lang="en-US" sz="1600" dirty="0"/>
          </a:p>
        </p:txBody>
      </p:sp>
      <p:sp>
        <p:nvSpPr>
          <p:cNvPr id="36" name="Text 34"/>
          <p:cNvSpPr/>
          <p:nvPr/>
        </p:nvSpPr>
        <p:spPr>
          <a:xfrm>
            <a:off x="548640" y="4617720"/>
            <a:ext cx="3931920" cy="640080"/>
          </a:xfrm>
          <a:prstGeom prst="rect">
            <a:avLst/>
          </a:prstGeom>
          <a:noFill/>
          <a:ln/>
        </p:spPr>
        <p:txBody>
          <a:bodyPr wrap="square" rtlCol="0" anchor="ctr"/>
          <a:lstStyle/>
          <a:p>
            <a:pPr algn="l" indent="0" marL="0">
              <a:buNone/>
            </a:pPr>
            <a:r>
              <a:rPr lang="en-US" sz="1300" b="1" dirty="0">
                <a:solidFill>
                  <a:srgbClr val="0A2540"/>
                </a:solidFill>
                <a:latin typeface="Calibri" pitchFamily="34" charset="0"/>
                <a:ea typeface="Calibri" pitchFamily="34" charset="-122"/>
                <a:cs typeface="Calibri" pitchFamily="34" charset="-120"/>
              </a:rPr>
              <a:t>Marge nette</a:t>
            </a:r>
            <a:endParaRPr lang="en-US" sz="1300" dirty="0"/>
          </a:p>
        </p:txBody>
      </p:sp>
      <p:sp>
        <p:nvSpPr>
          <p:cNvPr id="37" name="Text 35"/>
          <p:cNvSpPr/>
          <p:nvPr/>
        </p:nvSpPr>
        <p:spPr>
          <a:xfrm>
            <a:off x="4663440" y="461772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16,5%</a:t>
            </a:r>
            <a:endParaRPr lang="en-US" sz="1300" dirty="0"/>
          </a:p>
        </p:txBody>
      </p:sp>
      <p:sp>
        <p:nvSpPr>
          <p:cNvPr id="38" name="Text 36"/>
          <p:cNvSpPr/>
          <p:nvPr/>
        </p:nvSpPr>
        <p:spPr>
          <a:xfrm>
            <a:off x="7132320" y="461772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58,8%</a:t>
            </a:r>
            <a:endParaRPr lang="en-US" sz="1300" dirty="0"/>
          </a:p>
        </p:txBody>
      </p:sp>
      <p:sp>
        <p:nvSpPr>
          <p:cNvPr id="39" name="Text 37"/>
          <p:cNvSpPr/>
          <p:nvPr/>
        </p:nvSpPr>
        <p:spPr>
          <a:xfrm>
            <a:off x="9601200" y="4617720"/>
            <a:ext cx="2286000" cy="640080"/>
          </a:xfrm>
          <a:prstGeom prst="rect">
            <a:avLst/>
          </a:prstGeom>
          <a:noFill/>
          <a:ln/>
        </p:spPr>
        <p:txBody>
          <a:bodyPr wrap="square" rtlCol="0" anchor="ctr"/>
          <a:lstStyle/>
          <a:p>
            <a:pPr algn="ctr" indent="0" marL="0">
              <a:buNone/>
            </a:pPr>
            <a:r>
              <a:rPr lang="en-US" sz="1300" dirty="0">
                <a:solidFill>
                  <a:srgbClr val="5A6470"/>
                </a:solidFill>
                <a:latin typeface="Calibri" pitchFamily="34" charset="0"/>
                <a:ea typeface="Calibri" pitchFamily="34" charset="-122"/>
                <a:cs typeface="Calibri" pitchFamily="34" charset="-120"/>
              </a:rPr>
              <a:t>68,8%</a:t>
            </a:r>
            <a:endParaRPr lang="en-US" sz="1300" dirty="0"/>
          </a:p>
        </p:txBody>
      </p:sp>
      <p:sp>
        <p:nvSpPr>
          <p:cNvPr id="40" name="Shape 38"/>
          <p:cNvSpPr/>
          <p:nvPr/>
        </p:nvSpPr>
        <p:spPr>
          <a:xfrm>
            <a:off x="457200" y="5486400"/>
            <a:ext cx="10972800" cy="914400"/>
          </a:xfrm>
          <a:prstGeom prst="rect">
            <a:avLst/>
          </a:prstGeom>
          <a:solidFill>
            <a:srgbClr val="0A2540"/>
          </a:solidFill>
          <a:ln/>
        </p:spPr>
      </p:sp>
      <p:sp>
        <p:nvSpPr>
          <p:cNvPr id="41" name="Shape 39"/>
          <p:cNvSpPr/>
          <p:nvPr/>
        </p:nvSpPr>
        <p:spPr>
          <a:xfrm>
            <a:off x="457200" y="5486400"/>
            <a:ext cx="73152" cy="914400"/>
          </a:xfrm>
          <a:prstGeom prst="rect">
            <a:avLst/>
          </a:prstGeom>
          <a:solidFill>
            <a:srgbClr val="B8862E"/>
          </a:solidFill>
          <a:ln/>
        </p:spPr>
      </p:sp>
      <p:sp>
        <p:nvSpPr>
          <p:cNvPr id="42" name="Text 40"/>
          <p:cNvSpPr/>
          <p:nvPr/>
        </p:nvSpPr>
        <p:spPr>
          <a:xfrm>
            <a:off x="777240" y="5486400"/>
            <a:ext cx="10515600" cy="91440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Hypothèses conservatrices. Une traction commerciale supérieure (probable avec partenariat actif Association) ou un investissement marketing renforcé peuvent significativement améliorer ces résultats dès l'année 1.</a:t>
            </a:r>
            <a:endParaRPr lang="en-US" sz="1200" dirty="0"/>
          </a:p>
        </p:txBody>
      </p:sp>
      <p:sp>
        <p:nvSpPr>
          <p:cNvPr id="43" name="Text 41"/>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10  ·  UNIT ECONOMICS</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Le ROI client justifie tout.</a:t>
            </a:r>
            <a:endParaRPr lang="en-US" sz="3200" dirty="0"/>
          </a:p>
        </p:txBody>
      </p:sp>
      <p:sp>
        <p:nvSpPr>
          <p:cNvPr id="4" name="Text 2"/>
          <p:cNvSpPr/>
          <p:nvPr/>
        </p:nvSpPr>
        <p:spPr>
          <a:xfrm>
            <a:off x="457200" y="1783080"/>
            <a:ext cx="5486400" cy="365760"/>
          </a:xfrm>
          <a:prstGeom prst="rect">
            <a:avLst/>
          </a:prstGeom>
          <a:noFill/>
          <a:ln/>
        </p:spPr>
        <p:txBody>
          <a:bodyPr wrap="square" rtlCol="0" anchor="ctr"/>
          <a:lstStyle/>
          <a:p>
            <a:pPr indent="0" marL="0">
              <a:buNone/>
            </a:pPr>
            <a:r>
              <a:rPr lang="en-US" sz="1100" b="1" spc="300" kern="0" dirty="0">
                <a:solidFill>
                  <a:srgbClr val="B8862E"/>
                </a:solidFill>
                <a:latin typeface="Calibri" pitchFamily="34" charset="0"/>
                <a:ea typeface="Calibri" pitchFamily="34" charset="-122"/>
                <a:cs typeface="Calibri" pitchFamily="34" charset="-120"/>
              </a:rPr>
              <a:t>Cas concret — Mairie type</a:t>
            </a:r>
            <a:endParaRPr lang="en-US" sz="1100" dirty="0"/>
          </a:p>
        </p:txBody>
      </p:sp>
      <p:sp>
        <p:nvSpPr>
          <p:cNvPr id="5" name="Text 3"/>
          <p:cNvSpPr/>
          <p:nvPr/>
        </p:nvSpPr>
        <p:spPr>
          <a:xfrm>
            <a:off x="6400800" y="1783080"/>
            <a:ext cx="5486400" cy="365760"/>
          </a:xfrm>
          <a:prstGeom prst="rect">
            <a:avLst/>
          </a:prstGeom>
          <a:noFill/>
          <a:ln/>
        </p:spPr>
        <p:txBody>
          <a:bodyPr wrap="square" rtlCol="0" anchor="ctr"/>
          <a:lstStyle/>
          <a:p>
            <a:pPr indent="0" marL="0">
              <a:buNone/>
            </a:pPr>
            <a:r>
              <a:rPr lang="en-US" sz="1100" b="1" spc="300" kern="0" dirty="0">
                <a:solidFill>
                  <a:srgbClr val="B8862E"/>
                </a:solidFill>
                <a:latin typeface="Calibri" pitchFamily="34" charset="0"/>
                <a:ea typeface="Calibri" pitchFamily="34" charset="-122"/>
                <a:cs typeface="Calibri" pitchFamily="34" charset="-120"/>
              </a:rPr>
              <a:t>Cas concret — Ministère type</a:t>
            </a:r>
            <a:endParaRPr lang="en-US" sz="1100" dirty="0"/>
          </a:p>
        </p:txBody>
      </p:sp>
      <p:sp>
        <p:nvSpPr>
          <p:cNvPr id="6" name="Shape 4"/>
          <p:cNvSpPr/>
          <p:nvPr/>
        </p:nvSpPr>
        <p:spPr>
          <a:xfrm>
            <a:off x="457200" y="2194560"/>
            <a:ext cx="5486400" cy="4206240"/>
          </a:xfrm>
          <a:prstGeom prst="rect">
            <a:avLst/>
          </a:prstGeom>
          <a:solidFill>
            <a:srgbClr val="F7F9FB"/>
          </a:solidFill>
          <a:ln/>
        </p:spPr>
      </p:sp>
      <p:sp>
        <p:nvSpPr>
          <p:cNvPr id="7" name="Text 5"/>
          <p:cNvSpPr/>
          <p:nvPr/>
        </p:nvSpPr>
        <p:spPr>
          <a:xfrm>
            <a:off x="640080" y="2331720"/>
            <a:ext cx="5120640" cy="365760"/>
          </a:xfrm>
          <a:prstGeom prst="rect">
            <a:avLst/>
          </a:prstGeom>
          <a:noFill/>
          <a:ln/>
        </p:spPr>
        <p:txBody>
          <a:bodyPr wrap="square" rtlCol="0" anchor="ctr"/>
          <a:lstStyle/>
          <a:p>
            <a:pPr indent="0" marL="0">
              <a:buNone/>
            </a:pPr>
            <a:r>
              <a:rPr lang="en-US" sz="1100" b="1" dirty="0">
                <a:solidFill>
                  <a:srgbClr val="5A6470"/>
                </a:solidFill>
                <a:latin typeface="Calibri" pitchFamily="34" charset="0"/>
                <a:ea typeface="Calibri" pitchFamily="34" charset="-122"/>
                <a:cs typeface="Calibri" pitchFamily="34" charset="-120"/>
              </a:rPr>
              <a:t>Avant HERALDO PRESS</a:t>
            </a:r>
            <a:endParaRPr lang="en-US" sz="1100" dirty="0"/>
          </a:p>
        </p:txBody>
      </p:sp>
      <p:sp>
        <p:nvSpPr>
          <p:cNvPr id="8" name="Text 6"/>
          <p:cNvSpPr/>
          <p:nvPr/>
        </p:nvSpPr>
        <p:spPr>
          <a:xfrm>
            <a:off x="640080" y="2697480"/>
            <a:ext cx="5120640" cy="640080"/>
          </a:xfrm>
          <a:prstGeom prst="rect">
            <a:avLst/>
          </a:prstGeom>
          <a:noFill/>
          <a:ln/>
        </p:spPr>
        <p:txBody>
          <a:bodyPr wrap="square" rtlCol="0" anchor="ctr"/>
          <a:lstStyle/>
          <a:p>
            <a:pPr indent="0" marL="0">
              <a:buNone/>
            </a:pPr>
            <a:r>
              <a:rPr lang="en-US" sz="2800" b="1" dirty="0">
                <a:solidFill>
                  <a:srgbClr val="5A6470"/>
                </a:solidFill>
                <a:latin typeface="Georgia" pitchFamily="34" charset="0"/>
                <a:ea typeface="Georgia" pitchFamily="34" charset="-122"/>
                <a:cs typeface="Georgia" pitchFamily="34" charset="-120"/>
              </a:rPr>
              <a:t>9 000 000 FCFA / an</a:t>
            </a:r>
            <a:endParaRPr lang="en-US" sz="2800" dirty="0"/>
          </a:p>
        </p:txBody>
      </p:sp>
      <p:sp>
        <p:nvSpPr>
          <p:cNvPr id="9" name="Shape 7"/>
          <p:cNvSpPr/>
          <p:nvPr/>
        </p:nvSpPr>
        <p:spPr>
          <a:xfrm>
            <a:off x="640080" y="3520440"/>
            <a:ext cx="5120640" cy="0"/>
          </a:xfrm>
          <a:prstGeom prst="line">
            <a:avLst/>
          </a:prstGeom>
          <a:noFill/>
          <a:ln w="6350">
            <a:solidFill>
              <a:srgbClr val="B8862E"/>
            </a:solidFill>
            <a:prstDash val="solid"/>
          </a:ln>
        </p:spPr>
      </p:sp>
      <p:sp>
        <p:nvSpPr>
          <p:cNvPr id="10" name="Text 8"/>
          <p:cNvSpPr/>
          <p:nvPr/>
        </p:nvSpPr>
        <p:spPr>
          <a:xfrm>
            <a:off x="640080" y="3657600"/>
            <a:ext cx="5120640" cy="365760"/>
          </a:xfrm>
          <a:prstGeom prst="rect">
            <a:avLst/>
          </a:prstGeom>
          <a:noFill/>
          <a:ln/>
        </p:spPr>
        <p:txBody>
          <a:bodyPr wrap="square" rtlCol="0" anchor="ctr"/>
          <a:lstStyle/>
          <a:p>
            <a:pPr indent="0" marL="0">
              <a:buNone/>
            </a:pPr>
            <a:r>
              <a:rPr lang="en-US" sz="1100" b="1" dirty="0">
                <a:solidFill>
                  <a:srgbClr val="B8862E"/>
                </a:solidFill>
                <a:latin typeface="Calibri" pitchFamily="34" charset="0"/>
                <a:ea typeface="Calibri" pitchFamily="34" charset="-122"/>
                <a:cs typeface="Calibri" pitchFamily="34" charset="-120"/>
              </a:rPr>
              <a:t>Avec HERALDO PRESS</a:t>
            </a:r>
            <a:endParaRPr lang="en-US" sz="1100" dirty="0"/>
          </a:p>
        </p:txBody>
      </p:sp>
      <p:sp>
        <p:nvSpPr>
          <p:cNvPr id="11" name="Text 9"/>
          <p:cNvSpPr/>
          <p:nvPr/>
        </p:nvSpPr>
        <p:spPr>
          <a:xfrm>
            <a:off x="640080" y="4023360"/>
            <a:ext cx="5120640" cy="640080"/>
          </a:xfrm>
          <a:prstGeom prst="rect">
            <a:avLst/>
          </a:prstGeom>
          <a:noFill/>
          <a:ln/>
        </p:spPr>
        <p:txBody>
          <a:bodyPr wrap="square" rtlCol="0" anchor="ctr"/>
          <a:lstStyle/>
          <a:p>
            <a:pPr indent="0" marL="0">
              <a:buNone/>
            </a:pPr>
            <a:r>
              <a:rPr lang="en-US" sz="2800" b="1" dirty="0">
                <a:solidFill>
                  <a:srgbClr val="0A2540"/>
                </a:solidFill>
                <a:latin typeface="Georgia" pitchFamily="34" charset="0"/>
                <a:ea typeface="Georgia" pitchFamily="34" charset="-122"/>
                <a:cs typeface="Georgia" pitchFamily="34" charset="-120"/>
              </a:rPr>
              <a:t>2 720 000 FCFA / an</a:t>
            </a:r>
            <a:endParaRPr lang="en-US" sz="2800" dirty="0"/>
          </a:p>
        </p:txBody>
      </p:sp>
      <p:sp>
        <p:nvSpPr>
          <p:cNvPr id="12" name="Shape 10"/>
          <p:cNvSpPr/>
          <p:nvPr/>
        </p:nvSpPr>
        <p:spPr>
          <a:xfrm>
            <a:off x="640080" y="4937760"/>
            <a:ext cx="5120640" cy="1280160"/>
          </a:xfrm>
          <a:prstGeom prst="rect">
            <a:avLst/>
          </a:prstGeom>
          <a:solidFill>
            <a:srgbClr val="0A2540"/>
          </a:solidFill>
          <a:ln/>
        </p:spPr>
      </p:sp>
      <p:sp>
        <p:nvSpPr>
          <p:cNvPr id="13" name="Text 11"/>
          <p:cNvSpPr/>
          <p:nvPr/>
        </p:nvSpPr>
        <p:spPr>
          <a:xfrm>
            <a:off x="777240" y="4983480"/>
            <a:ext cx="4846320" cy="320040"/>
          </a:xfrm>
          <a:prstGeom prst="rect">
            <a:avLst/>
          </a:prstGeom>
          <a:noFill/>
          <a:ln/>
        </p:spPr>
        <p:txBody>
          <a:bodyPr wrap="square" rtlCol="0" anchor="ctr"/>
          <a:lstStyle/>
          <a:p>
            <a:pPr indent="0" marL="0">
              <a:buNone/>
            </a:pPr>
            <a:r>
              <a:rPr lang="en-US" sz="900" b="1" spc="200" kern="0" dirty="0">
                <a:solidFill>
                  <a:srgbClr val="E5B85C"/>
                </a:solidFill>
                <a:latin typeface="Calibri" pitchFamily="34" charset="0"/>
                <a:ea typeface="Calibri" pitchFamily="34" charset="-122"/>
                <a:cs typeface="Calibri" pitchFamily="34" charset="-120"/>
              </a:rPr>
              <a:t>Économie nette</a:t>
            </a:r>
            <a:endParaRPr lang="en-US" sz="900" dirty="0"/>
          </a:p>
        </p:txBody>
      </p:sp>
      <p:sp>
        <p:nvSpPr>
          <p:cNvPr id="14" name="Text 12"/>
          <p:cNvSpPr/>
          <p:nvPr/>
        </p:nvSpPr>
        <p:spPr>
          <a:xfrm>
            <a:off x="777240" y="5257800"/>
            <a:ext cx="4846320" cy="50292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+ 6,28 M FCFA</a:t>
            </a:r>
            <a:endParaRPr lang="en-US" sz="2400" dirty="0"/>
          </a:p>
        </p:txBody>
      </p:sp>
      <p:sp>
        <p:nvSpPr>
          <p:cNvPr id="15" name="Text 13"/>
          <p:cNvSpPr/>
          <p:nvPr/>
        </p:nvSpPr>
        <p:spPr>
          <a:xfrm>
            <a:off x="777240" y="5760720"/>
            <a:ext cx="4846320" cy="411480"/>
          </a:xfrm>
          <a:prstGeom prst="rect">
            <a:avLst/>
          </a:prstGeom>
          <a:noFill/>
          <a:ln/>
        </p:spPr>
        <p:txBody>
          <a:bodyPr wrap="square" rtlCol="0" anchor="ctr"/>
          <a:lstStyle/>
          <a:p>
            <a:pPr indent="0" marL="0">
              <a:buNone/>
            </a:pPr>
            <a:r>
              <a:rPr lang="en-US" sz="1200" b="1" i="1" dirty="0">
                <a:solidFill>
                  <a:srgbClr val="E5B85C"/>
                </a:solidFill>
                <a:latin typeface="Calibri" pitchFamily="34" charset="0"/>
                <a:ea typeface="Calibri" pitchFamily="34" charset="-122"/>
                <a:cs typeface="Calibri" pitchFamily="34" charset="-120"/>
              </a:rPr>
              <a:t>ROI : 1 308% par an</a:t>
            </a:r>
            <a:endParaRPr lang="en-US" sz="1200" dirty="0"/>
          </a:p>
        </p:txBody>
      </p:sp>
      <p:sp>
        <p:nvSpPr>
          <p:cNvPr id="16" name="Shape 14"/>
          <p:cNvSpPr/>
          <p:nvPr/>
        </p:nvSpPr>
        <p:spPr>
          <a:xfrm>
            <a:off x="6400800" y="2194560"/>
            <a:ext cx="5303520" cy="4206240"/>
          </a:xfrm>
          <a:prstGeom prst="rect">
            <a:avLst/>
          </a:prstGeom>
          <a:solidFill>
            <a:srgbClr val="F7F9FB"/>
          </a:solidFill>
          <a:ln/>
        </p:spPr>
      </p:sp>
      <p:sp>
        <p:nvSpPr>
          <p:cNvPr id="17" name="Text 15"/>
          <p:cNvSpPr/>
          <p:nvPr/>
        </p:nvSpPr>
        <p:spPr>
          <a:xfrm>
            <a:off x="6583680" y="2331720"/>
            <a:ext cx="4937760" cy="365760"/>
          </a:xfrm>
          <a:prstGeom prst="rect">
            <a:avLst/>
          </a:prstGeom>
          <a:noFill/>
          <a:ln/>
        </p:spPr>
        <p:txBody>
          <a:bodyPr wrap="square" rtlCol="0" anchor="ctr"/>
          <a:lstStyle/>
          <a:p>
            <a:pPr indent="0" marL="0">
              <a:buNone/>
            </a:pPr>
            <a:r>
              <a:rPr lang="en-US" sz="1100" b="1" dirty="0">
                <a:solidFill>
                  <a:srgbClr val="5A6470"/>
                </a:solidFill>
                <a:latin typeface="Calibri" pitchFamily="34" charset="0"/>
                <a:ea typeface="Calibri" pitchFamily="34" charset="-122"/>
                <a:cs typeface="Calibri" pitchFamily="34" charset="-120"/>
              </a:rPr>
              <a:t>Avant HERALDO PRESS</a:t>
            </a:r>
            <a:endParaRPr lang="en-US" sz="1100" dirty="0"/>
          </a:p>
        </p:txBody>
      </p:sp>
      <p:sp>
        <p:nvSpPr>
          <p:cNvPr id="18" name="Text 16"/>
          <p:cNvSpPr/>
          <p:nvPr/>
        </p:nvSpPr>
        <p:spPr>
          <a:xfrm>
            <a:off x="6583680" y="2697480"/>
            <a:ext cx="4937760" cy="640080"/>
          </a:xfrm>
          <a:prstGeom prst="rect">
            <a:avLst/>
          </a:prstGeom>
          <a:noFill/>
          <a:ln/>
        </p:spPr>
        <p:txBody>
          <a:bodyPr wrap="square" rtlCol="0" anchor="ctr"/>
          <a:lstStyle/>
          <a:p>
            <a:pPr indent="0" marL="0">
              <a:buNone/>
            </a:pPr>
            <a:r>
              <a:rPr lang="en-US" sz="2600" b="1" dirty="0">
                <a:solidFill>
                  <a:srgbClr val="5A6470"/>
                </a:solidFill>
                <a:latin typeface="Georgia" pitchFamily="34" charset="0"/>
                <a:ea typeface="Georgia" pitchFamily="34" charset="-122"/>
                <a:cs typeface="Georgia" pitchFamily="34" charset="-120"/>
              </a:rPr>
              <a:t>37 800 000 FCFA / an</a:t>
            </a:r>
            <a:endParaRPr lang="en-US" sz="2600" dirty="0"/>
          </a:p>
        </p:txBody>
      </p:sp>
      <p:sp>
        <p:nvSpPr>
          <p:cNvPr id="19" name="Shape 17"/>
          <p:cNvSpPr/>
          <p:nvPr/>
        </p:nvSpPr>
        <p:spPr>
          <a:xfrm>
            <a:off x="6583680" y="3520440"/>
            <a:ext cx="4937760" cy="0"/>
          </a:xfrm>
          <a:prstGeom prst="line">
            <a:avLst/>
          </a:prstGeom>
          <a:noFill/>
          <a:ln w="6350">
            <a:solidFill>
              <a:srgbClr val="B8862E"/>
            </a:solidFill>
            <a:prstDash val="solid"/>
          </a:ln>
        </p:spPr>
      </p:sp>
      <p:sp>
        <p:nvSpPr>
          <p:cNvPr id="20" name="Text 18"/>
          <p:cNvSpPr/>
          <p:nvPr/>
        </p:nvSpPr>
        <p:spPr>
          <a:xfrm>
            <a:off x="6583680" y="3657600"/>
            <a:ext cx="4937760" cy="365760"/>
          </a:xfrm>
          <a:prstGeom prst="rect">
            <a:avLst/>
          </a:prstGeom>
          <a:noFill/>
          <a:ln/>
        </p:spPr>
        <p:txBody>
          <a:bodyPr wrap="square" rtlCol="0" anchor="ctr"/>
          <a:lstStyle/>
          <a:p>
            <a:pPr indent="0" marL="0">
              <a:buNone/>
            </a:pPr>
            <a:r>
              <a:rPr lang="en-US" sz="1100" b="1" dirty="0">
                <a:solidFill>
                  <a:srgbClr val="B8862E"/>
                </a:solidFill>
                <a:latin typeface="Calibri" pitchFamily="34" charset="0"/>
                <a:ea typeface="Calibri" pitchFamily="34" charset="-122"/>
                <a:cs typeface="Calibri" pitchFamily="34" charset="-120"/>
              </a:rPr>
              <a:t>Avec HERALDO PRESS</a:t>
            </a:r>
            <a:endParaRPr lang="en-US" sz="1100" dirty="0"/>
          </a:p>
        </p:txBody>
      </p:sp>
      <p:sp>
        <p:nvSpPr>
          <p:cNvPr id="21" name="Text 19"/>
          <p:cNvSpPr/>
          <p:nvPr/>
        </p:nvSpPr>
        <p:spPr>
          <a:xfrm>
            <a:off x="6583680" y="4023360"/>
            <a:ext cx="4937760" cy="640080"/>
          </a:xfrm>
          <a:prstGeom prst="rect">
            <a:avLst/>
          </a:prstGeom>
          <a:noFill/>
          <a:ln/>
        </p:spPr>
        <p:txBody>
          <a:bodyPr wrap="square" rtlCol="0" anchor="ctr"/>
          <a:lstStyle/>
          <a:p>
            <a:pPr indent="0" marL="0">
              <a:buNone/>
            </a:pPr>
            <a:r>
              <a:rPr lang="en-US" sz="2600" b="1" dirty="0">
                <a:solidFill>
                  <a:srgbClr val="0A2540"/>
                </a:solidFill>
                <a:latin typeface="Georgia" pitchFamily="34" charset="0"/>
                <a:ea typeface="Georgia" pitchFamily="34" charset="-122"/>
                <a:cs typeface="Georgia" pitchFamily="34" charset="-120"/>
              </a:rPr>
              <a:t>11 480 000 FCFA / an</a:t>
            </a:r>
            <a:endParaRPr lang="en-US" sz="2600" dirty="0"/>
          </a:p>
        </p:txBody>
      </p:sp>
      <p:sp>
        <p:nvSpPr>
          <p:cNvPr id="22" name="Shape 20"/>
          <p:cNvSpPr/>
          <p:nvPr/>
        </p:nvSpPr>
        <p:spPr>
          <a:xfrm>
            <a:off x="6583680" y="4937760"/>
            <a:ext cx="4937760" cy="1280160"/>
          </a:xfrm>
          <a:prstGeom prst="rect">
            <a:avLst/>
          </a:prstGeom>
          <a:solidFill>
            <a:srgbClr val="0A2540"/>
          </a:solidFill>
          <a:ln/>
        </p:spPr>
      </p:sp>
      <p:sp>
        <p:nvSpPr>
          <p:cNvPr id="23" name="Text 21"/>
          <p:cNvSpPr/>
          <p:nvPr/>
        </p:nvSpPr>
        <p:spPr>
          <a:xfrm>
            <a:off x="6720840" y="4983480"/>
            <a:ext cx="4663440" cy="320040"/>
          </a:xfrm>
          <a:prstGeom prst="rect">
            <a:avLst/>
          </a:prstGeom>
          <a:noFill/>
          <a:ln/>
        </p:spPr>
        <p:txBody>
          <a:bodyPr wrap="square" rtlCol="0" anchor="ctr"/>
          <a:lstStyle/>
          <a:p>
            <a:pPr indent="0" marL="0">
              <a:buNone/>
            </a:pPr>
            <a:r>
              <a:rPr lang="en-US" sz="900" b="1" spc="200" kern="0" dirty="0">
                <a:solidFill>
                  <a:srgbClr val="E5B85C"/>
                </a:solidFill>
                <a:latin typeface="Calibri" pitchFamily="34" charset="0"/>
                <a:ea typeface="Calibri" pitchFamily="34" charset="-122"/>
                <a:cs typeface="Calibri" pitchFamily="34" charset="-120"/>
              </a:rPr>
              <a:t>Économie nette</a:t>
            </a:r>
            <a:endParaRPr lang="en-US" sz="900" dirty="0"/>
          </a:p>
        </p:txBody>
      </p:sp>
      <p:sp>
        <p:nvSpPr>
          <p:cNvPr id="24" name="Text 22"/>
          <p:cNvSpPr/>
          <p:nvPr/>
        </p:nvSpPr>
        <p:spPr>
          <a:xfrm>
            <a:off x="6720840" y="5257800"/>
            <a:ext cx="4663440" cy="50292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+ 26,32 M FCFA</a:t>
            </a:r>
            <a:endParaRPr lang="en-US" sz="2400" dirty="0"/>
          </a:p>
        </p:txBody>
      </p:sp>
      <p:sp>
        <p:nvSpPr>
          <p:cNvPr id="25" name="Text 23"/>
          <p:cNvSpPr/>
          <p:nvPr/>
        </p:nvSpPr>
        <p:spPr>
          <a:xfrm>
            <a:off x="6720840" y="5760720"/>
            <a:ext cx="4663440" cy="411480"/>
          </a:xfrm>
          <a:prstGeom prst="rect">
            <a:avLst/>
          </a:prstGeom>
          <a:noFill/>
          <a:ln/>
        </p:spPr>
        <p:txBody>
          <a:bodyPr wrap="square" rtlCol="0" anchor="ctr"/>
          <a:lstStyle/>
          <a:p>
            <a:pPr indent="0" marL="0">
              <a:buNone/>
            </a:pPr>
            <a:r>
              <a:rPr lang="en-US" sz="1200" b="1" i="1" dirty="0">
                <a:solidFill>
                  <a:srgbClr val="E5B85C"/>
                </a:solidFill>
                <a:latin typeface="Calibri" pitchFamily="34" charset="0"/>
                <a:ea typeface="Calibri" pitchFamily="34" charset="-122"/>
                <a:cs typeface="Calibri" pitchFamily="34" charset="-120"/>
              </a:rPr>
              <a:t>Équivalent à 2 cadres supplémentaires</a:t>
            </a:r>
            <a:endParaRPr lang="en-US" sz="1200" dirty="0"/>
          </a:p>
        </p:txBody>
      </p:sp>
      <p:sp>
        <p:nvSpPr>
          <p:cNvPr id="26" name="Text 24"/>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11  ·  ROADMAP</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Une feuille de route progressive et chiffrée.</a:t>
            </a:r>
            <a:endParaRPr lang="en-US" sz="3200" dirty="0"/>
          </a:p>
        </p:txBody>
      </p:sp>
      <p:sp>
        <p:nvSpPr>
          <p:cNvPr id="4" name="Shape 2"/>
          <p:cNvSpPr/>
          <p:nvPr/>
        </p:nvSpPr>
        <p:spPr>
          <a:xfrm>
            <a:off x="1051560" y="2103120"/>
            <a:ext cx="777240" cy="777240"/>
          </a:xfrm>
          <a:prstGeom prst="ellipse">
            <a:avLst/>
          </a:prstGeom>
          <a:solidFill>
            <a:srgbClr val="0A2540"/>
          </a:solidFill>
          <a:ln w="25400">
            <a:solidFill>
              <a:srgbClr val="B8862E"/>
            </a:solidFill>
            <a:prstDash val="solid"/>
          </a:ln>
        </p:spPr>
      </p:sp>
      <p:sp>
        <p:nvSpPr>
          <p:cNvPr id="5" name="Text 3"/>
          <p:cNvSpPr/>
          <p:nvPr/>
        </p:nvSpPr>
        <p:spPr>
          <a:xfrm>
            <a:off x="1051560" y="2103120"/>
            <a:ext cx="777240" cy="777240"/>
          </a:xfrm>
          <a:prstGeom prst="rect">
            <a:avLst/>
          </a:prstGeom>
          <a:noFill/>
          <a:ln/>
        </p:spPr>
        <p:txBody>
          <a:bodyPr wrap="square" rtlCol="0" anchor="ctr"/>
          <a:lstStyle/>
          <a:p>
            <a:pPr algn="ctr" indent="0" marL="0">
              <a:buNone/>
            </a:pPr>
            <a:r>
              <a:rPr lang="en-US" sz="2200" b="1" dirty="0">
                <a:solidFill>
                  <a:srgbClr val="E5B85C"/>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457200" y="2971800"/>
            <a:ext cx="196596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M0–M2</a:t>
            </a:r>
            <a:endParaRPr lang="en-US" sz="1000" dirty="0"/>
          </a:p>
        </p:txBody>
      </p:sp>
      <p:sp>
        <p:nvSpPr>
          <p:cNvPr id="7" name="Text 5"/>
          <p:cNvSpPr/>
          <p:nvPr/>
        </p:nvSpPr>
        <p:spPr>
          <a:xfrm>
            <a:off x="457200" y="3291840"/>
            <a:ext cx="1965960" cy="365760"/>
          </a:xfrm>
          <a:prstGeom prst="rect">
            <a:avLst/>
          </a:prstGeom>
          <a:noFill/>
          <a:ln/>
        </p:spPr>
        <p:txBody>
          <a:bodyPr wrap="square" rtlCol="0" anchor="ctr"/>
          <a:lstStyle/>
          <a:p>
            <a:pPr algn="ctr" indent="0" marL="0">
              <a:buNone/>
            </a:pPr>
            <a:r>
              <a:rPr lang="en-US" sz="1300" b="1" spc="100" kern="0" dirty="0">
                <a:solidFill>
                  <a:srgbClr val="0A2540"/>
                </a:solidFill>
                <a:latin typeface="Calibri" pitchFamily="34" charset="0"/>
                <a:ea typeface="Calibri" pitchFamily="34" charset="-122"/>
                <a:cs typeface="Calibri" pitchFamily="34" charset="-120"/>
              </a:rPr>
              <a:t>FONDATION</a:t>
            </a:r>
            <a:endParaRPr lang="en-US" sz="1300" dirty="0"/>
          </a:p>
        </p:txBody>
      </p:sp>
      <p:sp>
        <p:nvSpPr>
          <p:cNvPr id="8" name="Text 6"/>
          <p:cNvSpPr/>
          <p:nvPr/>
        </p:nvSpPr>
        <p:spPr>
          <a:xfrm>
            <a:off x="457200" y="3703320"/>
            <a:ext cx="1965960" cy="15544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Constitution juridique</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Partenariat Association</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Recrutement CTO</a:t>
            </a:r>
            <a:endParaRPr lang="en-US" sz="1000" dirty="0"/>
          </a:p>
        </p:txBody>
      </p:sp>
      <p:sp>
        <p:nvSpPr>
          <p:cNvPr id="9" name="Shape 7"/>
          <p:cNvSpPr/>
          <p:nvPr/>
        </p:nvSpPr>
        <p:spPr>
          <a:xfrm>
            <a:off x="731520" y="5349240"/>
            <a:ext cx="1417320" cy="457200"/>
          </a:xfrm>
          <a:prstGeom prst="rect">
            <a:avLst/>
          </a:prstGeom>
          <a:solidFill>
            <a:srgbClr val="F7F9FB"/>
          </a:solidFill>
          <a:ln/>
        </p:spPr>
      </p:sp>
      <p:sp>
        <p:nvSpPr>
          <p:cNvPr id="10" name="Text 8"/>
          <p:cNvSpPr/>
          <p:nvPr/>
        </p:nvSpPr>
        <p:spPr>
          <a:xfrm>
            <a:off x="731520" y="5349240"/>
            <a:ext cx="1417320" cy="457200"/>
          </a:xfrm>
          <a:prstGeom prst="rect">
            <a:avLst/>
          </a:prstGeom>
          <a:noFill/>
          <a:ln/>
        </p:spPr>
        <p:txBody>
          <a:bodyPr wrap="square" rtlCol="0" anchor="ctr"/>
          <a:lstStyle/>
          <a:p>
            <a:pPr algn="ctr" indent="0" marL="0">
              <a:buNone/>
            </a:pPr>
            <a:r>
              <a:rPr lang="en-US" sz="1100" b="1" dirty="0">
                <a:solidFill>
                  <a:srgbClr val="B8862E"/>
                </a:solidFill>
                <a:latin typeface="Calibri" pitchFamily="34" charset="0"/>
                <a:ea typeface="Calibri" pitchFamily="34" charset="-122"/>
                <a:cs typeface="Calibri" pitchFamily="34" charset="-120"/>
              </a:rPr>
              <a:t>2 M FCFA</a:t>
            </a:r>
            <a:endParaRPr lang="en-US" sz="1100" dirty="0"/>
          </a:p>
        </p:txBody>
      </p:sp>
      <p:sp>
        <p:nvSpPr>
          <p:cNvPr id="11" name="Shape 9"/>
          <p:cNvSpPr/>
          <p:nvPr/>
        </p:nvSpPr>
        <p:spPr>
          <a:xfrm>
            <a:off x="2999232" y="2103120"/>
            <a:ext cx="777240" cy="777240"/>
          </a:xfrm>
          <a:prstGeom prst="ellipse">
            <a:avLst/>
          </a:prstGeom>
          <a:solidFill>
            <a:srgbClr val="0A2540"/>
          </a:solidFill>
          <a:ln w="25400">
            <a:solidFill>
              <a:srgbClr val="B8862E"/>
            </a:solidFill>
            <a:prstDash val="solid"/>
          </a:ln>
        </p:spPr>
      </p:sp>
      <p:sp>
        <p:nvSpPr>
          <p:cNvPr id="12" name="Text 10"/>
          <p:cNvSpPr/>
          <p:nvPr/>
        </p:nvSpPr>
        <p:spPr>
          <a:xfrm>
            <a:off x="2999232" y="2103120"/>
            <a:ext cx="777240" cy="777240"/>
          </a:xfrm>
          <a:prstGeom prst="rect">
            <a:avLst/>
          </a:prstGeom>
          <a:noFill/>
          <a:ln/>
        </p:spPr>
        <p:txBody>
          <a:bodyPr wrap="square" rtlCol="0" anchor="ctr"/>
          <a:lstStyle/>
          <a:p>
            <a:pPr algn="ctr" indent="0" marL="0">
              <a:buNone/>
            </a:pPr>
            <a:r>
              <a:rPr lang="en-US" sz="2200" b="1" dirty="0">
                <a:solidFill>
                  <a:srgbClr val="E5B85C"/>
                </a:solidFill>
                <a:latin typeface="Georgia" pitchFamily="34" charset="0"/>
                <a:ea typeface="Georgia" pitchFamily="34" charset="-122"/>
                <a:cs typeface="Georgia" pitchFamily="34" charset="-120"/>
              </a:rPr>
              <a:t>02</a:t>
            </a:r>
            <a:endParaRPr lang="en-US" sz="2200" dirty="0"/>
          </a:p>
        </p:txBody>
      </p:sp>
      <p:sp>
        <p:nvSpPr>
          <p:cNvPr id="13" name="Text 11"/>
          <p:cNvSpPr/>
          <p:nvPr/>
        </p:nvSpPr>
        <p:spPr>
          <a:xfrm>
            <a:off x="2404872" y="2971800"/>
            <a:ext cx="196596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M2–M5</a:t>
            </a:r>
            <a:endParaRPr lang="en-US" sz="1000" dirty="0"/>
          </a:p>
        </p:txBody>
      </p:sp>
      <p:sp>
        <p:nvSpPr>
          <p:cNvPr id="14" name="Text 12"/>
          <p:cNvSpPr/>
          <p:nvPr/>
        </p:nvSpPr>
        <p:spPr>
          <a:xfrm>
            <a:off x="2404872" y="3291840"/>
            <a:ext cx="1965960" cy="365760"/>
          </a:xfrm>
          <a:prstGeom prst="rect">
            <a:avLst/>
          </a:prstGeom>
          <a:noFill/>
          <a:ln/>
        </p:spPr>
        <p:txBody>
          <a:bodyPr wrap="square" rtlCol="0" anchor="ctr"/>
          <a:lstStyle/>
          <a:p>
            <a:pPr algn="ctr" indent="0" marL="0">
              <a:buNone/>
            </a:pPr>
            <a:r>
              <a:rPr lang="en-US" sz="1300" b="1" spc="100" kern="0" dirty="0">
                <a:solidFill>
                  <a:srgbClr val="0A2540"/>
                </a:solidFill>
                <a:latin typeface="Calibri" pitchFamily="34" charset="0"/>
                <a:ea typeface="Calibri" pitchFamily="34" charset="-122"/>
                <a:cs typeface="Calibri" pitchFamily="34" charset="-120"/>
              </a:rPr>
              <a:t>MVP</a:t>
            </a:r>
            <a:endParaRPr lang="en-US" sz="1300" dirty="0"/>
          </a:p>
        </p:txBody>
      </p:sp>
      <p:sp>
        <p:nvSpPr>
          <p:cNvPr id="15" name="Text 13"/>
          <p:cNvSpPr/>
          <p:nvPr/>
        </p:nvSpPr>
        <p:spPr>
          <a:xfrm>
            <a:off x="2404872" y="3703320"/>
            <a:ext cx="1965960" cy="15544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Développement modules</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5 médias pilotes</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App téléchargeable V1</a:t>
            </a:r>
            <a:endParaRPr lang="en-US" sz="1000" dirty="0"/>
          </a:p>
        </p:txBody>
      </p:sp>
      <p:sp>
        <p:nvSpPr>
          <p:cNvPr id="16" name="Shape 14"/>
          <p:cNvSpPr/>
          <p:nvPr/>
        </p:nvSpPr>
        <p:spPr>
          <a:xfrm>
            <a:off x="2679192" y="5349240"/>
            <a:ext cx="1417320" cy="457200"/>
          </a:xfrm>
          <a:prstGeom prst="rect">
            <a:avLst/>
          </a:prstGeom>
          <a:solidFill>
            <a:srgbClr val="F7F9FB"/>
          </a:solidFill>
          <a:ln/>
        </p:spPr>
      </p:sp>
      <p:sp>
        <p:nvSpPr>
          <p:cNvPr id="17" name="Text 15"/>
          <p:cNvSpPr/>
          <p:nvPr/>
        </p:nvSpPr>
        <p:spPr>
          <a:xfrm>
            <a:off x="2679192" y="5349240"/>
            <a:ext cx="1417320" cy="457200"/>
          </a:xfrm>
          <a:prstGeom prst="rect">
            <a:avLst/>
          </a:prstGeom>
          <a:noFill/>
          <a:ln/>
        </p:spPr>
        <p:txBody>
          <a:bodyPr wrap="square" rtlCol="0" anchor="ctr"/>
          <a:lstStyle/>
          <a:p>
            <a:pPr algn="ctr" indent="0" marL="0">
              <a:buNone/>
            </a:pPr>
            <a:r>
              <a:rPr lang="en-US" sz="1100" b="1" dirty="0">
                <a:solidFill>
                  <a:srgbClr val="B8862E"/>
                </a:solidFill>
                <a:latin typeface="Calibri" pitchFamily="34" charset="0"/>
                <a:ea typeface="Calibri" pitchFamily="34" charset="-122"/>
                <a:cs typeface="Calibri" pitchFamily="34" charset="-120"/>
              </a:rPr>
              <a:t>8 M FCFA</a:t>
            </a:r>
            <a:endParaRPr lang="en-US" sz="1100" dirty="0"/>
          </a:p>
        </p:txBody>
      </p:sp>
      <p:sp>
        <p:nvSpPr>
          <p:cNvPr id="18" name="Shape 16"/>
          <p:cNvSpPr/>
          <p:nvPr/>
        </p:nvSpPr>
        <p:spPr>
          <a:xfrm>
            <a:off x="4946904" y="2103120"/>
            <a:ext cx="777240" cy="777240"/>
          </a:xfrm>
          <a:prstGeom prst="ellipse">
            <a:avLst/>
          </a:prstGeom>
          <a:solidFill>
            <a:srgbClr val="0A2540"/>
          </a:solidFill>
          <a:ln w="25400">
            <a:solidFill>
              <a:srgbClr val="B8862E"/>
            </a:solidFill>
            <a:prstDash val="solid"/>
          </a:ln>
        </p:spPr>
      </p:sp>
      <p:sp>
        <p:nvSpPr>
          <p:cNvPr id="19" name="Text 17"/>
          <p:cNvSpPr/>
          <p:nvPr/>
        </p:nvSpPr>
        <p:spPr>
          <a:xfrm>
            <a:off x="4946904" y="2103120"/>
            <a:ext cx="777240" cy="777240"/>
          </a:xfrm>
          <a:prstGeom prst="rect">
            <a:avLst/>
          </a:prstGeom>
          <a:noFill/>
          <a:ln/>
        </p:spPr>
        <p:txBody>
          <a:bodyPr wrap="square" rtlCol="0" anchor="ctr"/>
          <a:lstStyle/>
          <a:p>
            <a:pPr algn="ctr" indent="0" marL="0">
              <a:buNone/>
            </a:pPr>
            <a:r>
              <a:rPr lang="en-US" sz="2200" b="1" dirty="0">
                <a:solidFill>
                  <a:srgbClr val="E5B85C"/>
                </a:solidFill>
                <a:latin typeface="Georgia" pitchFamily="34" charset="0"/>
                <a:ea typeface="Georgia" pitchFamily="34" charset="-122"/>
                <a:cs typeface="Georgia" pitchFamily="34" charset="-120"/>
              </a:rPr>
              <a:t>03</a:t>
            </a:r>
            <a:endParaRPr lang="en-US" sz="2200" dirty="0"/>
          </a:p>
        </p:txBody>
      </p:sp>
      <p:sp>
        <p:nvSpPr>
          <p:cNvPr id="20" name="Text 18"/>
          <p:cNvSpPr/>
          <p:nvPr/>
        </p:nvSpPr>
        <p:spPr>
          <a:xfrm>
            <a:off x="4352544" y="2971800"/>
            <a:ext cx="196596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M5–M8</a:t>
            </a:r>
            <a:endParaRPr lang="en-US" sz="1000" dirty="0"/>
          </a:p>
        </p:txBody>
      </p:sp>
      <p:sp>
        <p:nvSpPr>
          <p:cNvPr id="21" name="Text 19"/>
          <p:cNvSpPr/>
          <p:nvPr/>
        </p:nvSpPr>
        <p:spPr>
          <a:xfrm>
            <a:off x="4352544" y="3291840"/>
            <a:ext cx="1965960" cy="365760"/>
          </a:xfrm>
          <a:prstGeom prst="rect">
            <a:avLst/>
          </a:prstGeom>
          <a:noFill/>
          <a:ln/>
        </p:spPr>
        <p:txBody>
          <a:bodyPr wrap="square" rtlCol="0" anchor="ctr"/>
          <a:lstStyle/>
          <a:p>
            <a:pPr algn="ctr" indent="0" marL="0">
              <a:buNone/>
            </a:pPr>
            <a:r>
              <a:rPr lang="en-US" sz="1300" b="1" spc="100" kern="0" dirty="0">
                <a:solidFill>
                  <a:srgbClr val="0A2540"/>
                </a:solidFill>
                <a:latin typeface="Calibri" pitchFamily="34" charset="0"/>
                <a:ea typeface="Calibri" pitchFamily="34" charset="-122"/>
                <a:cs typeface="Calibri" pitchFamily="34" charset="-120"/>
              </a:rPr>
              <a:t>LANCEMENT</a:t>
            </a:r>
            <a:endParaRPr lang="en-US" sz="1300" dirty="0"/>
          </a:p>
        </p:txBody>
      </p:sp>
      <p:sp>
        <p:nvSpPr>
          <p:cNvPr id="22" name="Text 20"/>
          <p:cNvSpPr/>
          <p:nvPr/>
        </p:nvSpPr>
        <p:spPr>
          <a:xfrm>
            <a:off x="4352544" y="3703320"/>
            <a:ext cx="1965960" cy="15544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20 premiers clients</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Activation FCM</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Lancement Abidjan</a:t>
            </a:r>
            <a:endParaRPr lang="en-US" sz="1000" dirty="0"/>
          </a:p>
        </p:txBody>
      </p:sp>
      <p:sp>
        <p:nvSpPr>
          <p:cNvPr id="23" name="Shape 21"/>
          <p:cNvSpPr/>
          <p:nvPr/>
        </p:nvSpPr>
        <p:spPr>
          <a:xfrm>
            <a:off x="4626864" y="5349240"/>
            <a:ext cx="1417320" cy="457200"/>
          </a:xfrm>
          <a:prstGeom prst="rect">
            <a:avLst/>
          </a:prstGeom>
          <a:solidFill>
            <a:srgbClr val="F7F9FB"/>
          </a:solidFill>
          <a:ln/>
        </p:spPr>
      </p:sp>
      <p:sp>
        <p:nvSpPr>
          <p:cNvPr id="24" name="Text 22"/>
          <p:cNvSpPr/>
          <p:nvPr/>
        </p:nvSpPr>
        <p:spPr>
          <a:xfrm>
            <a:off x="4626864" y="5349240"/>
            <a:ext cx="1417320" cy="457200"/>
          </a:xfrm>
          <a:prstGeom prst="rect">
            <a:avLst/>
          </a:prstGeom>
          <a:noFill/>
          <a:ln/>
        </p:spPr>
        <p:txBody>
          <a:bodyPr wrap="square" rtlCol="0" anchor="ctr"/>
          <a:lstStyle/>
          <a:p>
            <a:pPr algn="ctr" indent="0" marL="0">
              <a:buNone/>
            </a:pPr>
            <a:r>
              <a:rPr lang="en-US" sz="1100" b="1" dirty="0">
                <a:solidFill>
                  <a:srgbClr val="B8862E"/>
                </a:solidFill>
                <a:latin typeface="Calibri" pitchFamily="34" charset="0"/>
                <a:ea typeface="Calibri" pitchFamily="34" charset="-122"/>
                <a:cs typeface="Calibri" pitchFamily="34" charset="-120"/>
              </a:rPr>
              <a:t>3 M FCFA</a:t>
            </a:r>
            <a:endParaRPr lang="en-US" sz="1100" dirty="0"/>
          </a:p>
        </p:txBody>
      </p:sp>
      <p:sp>
        <p:nvSpPr>
          <p:cNvPr id="25" name="Shape 23"/>
          <p:cNvSpPr/>
          <p:nvPr/>
        </p:nvSpPr>
        <p:spPr>
          <a:xfrm>
            <a:off x="6894576" y="2103120"/>
            <a:ext cx="777240" cy="777240"/>
          </a:xfrm>
          <a:prstGeom prst="ellipse">
            <a:avLst/>
          </a:prstGeom>
          <a:solidFill>
            <a:srgbClr val="0A2540"/>
          </a:solidFill>
          <a:ln w="25400">
            <a:solidFill>
              <a:srgbClr val="B8862E"/>
            </a:solidFill>
            <a:prstDash val="solid"/>
          </a:ln>
        </p:spPr>
      </p:sp>
      <p:sp>
        <p:nvSpPr>
          <p:cNvPr id="26" name="Text 24"/>
          <p:cNvSpPr/>
          <p:nvPr/>
        </p:nvSpPr>
        <p:spPr>
          <a:xfrm>
            <a:off x="6894576" y="2103120"/>
            <a:ext cx="777240" cy="777240"/>
          </a:xfrm>
          <a:prstGeom prst="rect">
            <a:avLst/>
          </a:prstGeom>
          <a:noFill/>
          <a:ln/>
        </p:spPr>
        <p:txBody>
          <a:bodyPr wrap="square" rtlCol="0" anchor="ctr"/>
          <a:lstStyle/>
          <a:p>
            <a:pPr algn="ctr" indent="0" marL="0">
              <a:buNone/>
            </a:pPr>
            <a:r>
              <a:rPr lang="en-US" sz="2200" b="1" dirty="0">
                <a:solidFill>
                  <a:srgbClr val="E5B85C"/>
                </a:solidFill>
                <a:latin typeface="Georgia" pitchFamily="34" charset="0"/>
                <a:ea typeface="Georgia" pitchFamily="34" charset="-122"/>
                <a:cs typeface="Georgia" pitchFamily="34" charset="-120"/>
              </a:rPr>
              <a:t>04</a:t>
            </a:r>
            <a:endParaRPr lang="en-US" sz="2200" dirty="0"/>
          </a:p>
        </p:txBody>
      </p:sp>
      <p:sp>
        <p:nvSpPr>
          <p:cNvPr id="27" name="Text 25"/>
          <p:cNvSpPr/>
          <p:nvPr/>
        </p:nvSpPr>
        <p:spPr>
          <a:xfrm>
            <a:off x="6300216" y="2971800"/>
            <a:ext cx="196596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M8–M12</a:t>
            </a:r>
            <a:endParaRPr lang="en-US" sz="1000" dirty="0"/>
          </a:p>
        </p:txBody>
      </p:sp>
      <p:sp>
        <p:nvSpPr>
          <p:cNvPr id="28" name="Text 26"/>
          <p:cNvSpPr/>
          <p:nvPr/>
        </p:nvSpPr>
        <p:spPr>
          <a:xfrm>
            <a:off x="6300216" y="3291840"/>
            <a:ext cx="1965960" cy="365760"/>
          </a:xfrm>
          <a:prstGeom prst="rect">
            <a:avLst/>
          </a:prstGeom>
          <a:noFill/>
          <a:ln/>
        </p:spPr>
        <p:txBody>
          <a:bodyPr wrap="square" rtlCol="0" anchor="ctr"/>
          <a:lstStyle/>
          <a:p>
            <a:pPr algn="ctr" indent="0" marL="0">
              <a:buNone/>
            </a:pPr>
            <a:r>
              <a:rPr lang="en-US" sz="1300" b="1" spc="100" kern="0" dirty="0">
                <a:solidFill>
                  <a:srgbClr val="0A2540"/>
                </a:solidFill>
                <a:latin typeface="Calibri" pitchFamily="34" charset="0"/>
                <a:ea typeface="Calibri" pitchFamily="34" charset="-122"/>
                <a:cs typeface="Calibri" pitchFamily="34" charset="-120"/>
              </a:rPr>
              <a:t>CROISSANCE CI</a:t>
            </a:r>
            <a:endParaRPr lang="en-US" sz="1300" dirty="0"/>
          </a:p>
        </p:txBody>
      </p:sp>
      <p:sp>
        <p:nvSpPr>
          <p:cNvPr id="29" name="Text 27"/>
          <p:cNvSpPr/>
          <p:nvPr/>
        </p:nvSpPr>
        <p:spPr>
          <a:xfrm>
            <a:off x="6300216" y="3703320"/>
            <a:ext cx="1965960" cy="15544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100 clients CI</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22 M FCFA ARR</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UVICOCI · Assemblée Nat.</a:t>
            </a:r>
            <a:endParaRPr lang="en-US" sz="1000" dirty="0"/>
          </a:p>
        </p:txBody>
      </p:sp>
      <p:sp>
        <p:nvSpPr>
          <p:cNvPr id="30" name="Shape 28"/>
          <p:cNvSpPr/>
          <p:nvPr/>
        </p:nvSpPr>
        <p:spPr>
          <a:xfrm>
            <a:off x="6574536" y="5349240"/>
            <a:ext cx="1417320" cy="457200"/>
          </a:xfrm>
          <a:prstGeom prst="rect">
            <a:avLst/>
          </a:prstGeom>
          <a:solidFill>
            <a:srgbClr val="F7F9FB"/>
          </a:solidFill>
          <a:ln/>
        </p:spPr>
      </p:sp>
      <p:sp>
        <p:nvSpPr>
          <p:cNvPr id="31" name="Text 29"/>
          <p:cNvSpPr/>
          <p:nvPr/>
        </p:nvSpPr>
        <p:spPr>
          <a:xfrm>
            <a:off x="6574536" y="5349240"/>
            <a:ext cx="1417320" cy="457200"/>
          </a:xfrm>
          <a:prstGeom prst="rect">
            <a:avLst/>
          </a:prstGeom>
          <a:noFill/>
          <a:ln/>
        </p:spPr>
        <p:txBody>
          <a:bodyPr wrap="square" rtlCol="0" anchor="ctr"/>
          <a:lstStyle/>
          <a:p>
            <a:pPr algn="ctr" indent="0" marL="0">
              <a:buNone/>
            </a:pPr>
            <a:r>
              <a:rPr lang="en-US" sz="1100" b="1" dirty="0">
                <a:solidFill>
                  <a:srgbClr val="B8862E"/>
                </a:solidFill>
                <a:latin typeface="Calibri" pitchFamily="34" charset="0"/>
                <a:ea typeface="Calibri" pitchFamily="34" charset="-122"/>
                <a:cs typeface="Calibri" pitchFamily="34" charset="-120"/>
              </a:rPr>
              <a:t>4 M FCFA</a:t>
            </a:r>
            <a:endParaRPr lang="en-US" sz="1100" dirty="0"/>
          </a:p>
        </p:txBody>
      </p:sp>
      <p:sp>
        <p:nvSpPr>
          <p:cNvPr id="32" name="Shape 30"/>
          <p:cNvSpPr/>
          <p:nvPr/>
        </p:nvSpPr>
        <p:spPr>
          <a:xfrm>
            <a:off x="8842248" y="2103120"/>
            <a:ext cx="777240" cy="777240"/>
          </a:xfrm>
          <a:prstGeom prst="ellipse">
            <a:avLst/>
          </a:prstGeom>
          <a:solidFill>
            <a:srgbClr val="0A2540"/>
          </a:solidFill>
          <a:ln w="25400">
            <a:solidFill>
              <a:srgbClr val="B8862E"/>
            </a:solidFill>
            <a:prstDash val="solid"/>
          </a:ln>
        </p:spPr>
      </p:sp>
      <p:sp>
        <p:nvSpPr>
          <p:cNvPr id="33" name="Text 31"/>
          <p:cNvSpPr/>
          <p:nvPr/>
        </p:nvSpPr>
        <p:spPr>
          <a:xfrm>
            <a:off x="8842248" y="2103120"/>
            <a:ext cx="777240" cy="777240"/>
          </a:xfrm>
          <a:prstGeom prst="rect">
            <a:avLst/>
          </a:prstGeom>
          <a:noFill/>
          <a:ln/>
        </p:spPr>
        <p:txBody>
          <a:bodyPr wrap="square" rtlCol="0" anchor="ctr"/>
          <a:lstStyle/>
          <a:p>
            <a:pPr algn="ctr" indent="0" marL="0">
              <a:buNone/>
            </a:pPr>
            <a:r>
              <a:rPr lang="en-US" sz="2200" b="1" dirty="0">
                <a:solidFill>
                  <a:srgbClr val="E5B85C"/>
                </a:solidFill>
                <a:latin typeface="Georgia" pitchFamily="34" charset="0"/>
                <a:ea typeface="Georgia" pitchFamily="34" charset="-122"/>
                <a:cs typeface="Georgia" pitchFamily="34" charset="-120"/>
              </a:rPr>
              <a:t>05</a:t>
            </a:r>
            <a:endParaRPr lang="en-US" sz="2200" dirty="0"/>
          </a:p>
        </p:txBody>
      </p:sp>
      <p:sp>
        <p:nvSpPr>
          <p:cNvPr id="34" name="Text 32"/>
          <p:cNvSpPr/>
          <p:nvPr/>
        </p:nvSpPr>
        <p:spPr>
          <a:xfrm>
            <a:off x="8247888" y="2971800"/>
            <a:ext cx="196596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M12–M18</a:t>
            </a:r>
            <a:endParaRPr lang="en-US" sz="1000" dirty="0"/>
          </a:p>
        </p:txBody>
      </p:sp>
      <p:sp>
        <p:nvSpPr>
          <p:cNvPr id="35" name="Text 33"/>
          <p:cNvSpPr/>
          <p:nvPr/>
        </p:nvSpPr>
        <p:spPr>
          <a:xfrm>
            <a:off x="8247888" y="3291840"/>
            <a:ext cx="1965960" cy="365760"/>
          </a:xfrm>
          <a:prstGeom prst="rect">
            <a:avLst/>
          </a:prstGeom>
          <a:noFill/>
          <a:ln/>
        </p:spPr>
        <p:txBody>
          <a:bodyPr wrap="square" rtlCol="0" anchor="ctr"/>
          <a:lstStyle/>
          <a:p>
            <a:pPr algn="ctr" indent="0" marL="0">
              <a:buNone/>
            </a:pPr>
            <a:r>
              <a:rPr lang="en-US" sz="1300" b="1" spc="100" kern="0" dirty="0">
                <a:solidFill>
                  <a:srgbClr val="0A2540"/>
                </a:solidFill>
                <a:latin typeface="Calibri" pitchFamily="34" charset="0"/>
                <a:ea typeface="Calibri" pitchFamily="34" charset="-122"/>
                <a:cs typeface="Calibri" pitchFamily="34" charset="-120"/>
              </a:rPr>
              <a:t>SÉNÉGAL</a:t>
            </a:r>
            <a:endParaRPr lang="en-US" sz="1300" dirty="0"/>
          </a:p>
        </p:txBody>
      </p:sp>
      <p:sp>
        <p:nvSpPr>
          <p:cNvPr id="36" name="Text 34"/>
          <p:cNvSpPr/>
          <p:nvPr/>
        </p:nvSpPr>
        <p:spPr>
          <a:xfrm>
            <a:off x="8247888" y="3703320"/>
            <a:ext cx="1965960" cy="15544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Country Manager Dakar</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50 clients Sénégal</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15 M FCFA ARR local</a:t>
            </a:r>
            <a:endParaRPr lang="en-US" sz="1000" dirty="0"/>
          </a:p>
        </p:txBody>
      </p:sp>
      <p:sp>
        <p:nvSpPr>
          <p:cNvPr id="37" name="Shape 35"/>
          <p:cNvSpPr/>
          <p:nvPr/>
        </p:nvSpPr>
        <p:spPr>
          <a:xfrm>
            <a:off x="8522208" y="5349240"/>
            <a:ext cx="1417320" cy="457200"/>
          </a:xfrm>
          <a:prstGeom prst="rect">
            <a:avLst/>
          </a:prstGeom>
          <a:solidFill>
            <a:srgbClr val="F7F9FB"/>
          </a:solidFill>
          <a:ln/>
        </p:spPr>
      </p:sp>
      <p:sp>
        <p:nvSpPr>
          <p:cNvPr id="38" name="Text 36"/>
          <p:cNvSpPr/>
          <p:nvPr/>
        </p:nvSpPr>
        <p:spPr>
          <a:xfrm>
            <a:off x="8522208" y="5349240"/>
            <a:ext cx="1417320" cy="457200"/>
          </a:xfrm>
          <a:prstGeom prst="rect">
            <a:avLst/>
          </a:prstGeom>
          <a:noFill/>
          <a:ln/>
        </p:spPr>
        <p:txBody>
          <a:bodyPr wrap="square" rtlCol="0" anchor="ctr"/>
          <a:lstStyle/>
          <a:p>
            <a:pPr algn="ctr" indent="0" marL="0">
              <a:buNone/>
            </a:pPr>
            <a:r>
              <a:rPr lang="en-US" sz="1100" b="1" dirty="0">
                <a:solidFill>
                  <a:srgbClr val="B8862E"/>
                </a:solidFill>
                <a:latin typeface="Calibri" pitchFamily="34" charset="0"/>
                <a:ea typeface="Calibri" pitchFamily="34" charset="-122"/>
                <a:cs typeface="Calibri" pitchFamily="34" charset="-120"/>
              </a:rPr>
              <a:t>6 M FCFA</a:t>
            </a:r>
            <a:endParaRPr lang="en-US" sz="1100" dirty="0"/>
          </a:p>
        </p:txBody>
      </p:sp>
      <p:sp>
        <p:nvSpPr>
          <p:cNvPr id="39" name="Shape 37"/>
          <p:cNvSpPr/>
          <p:nvPr/>
        </p:nvSpPr>
        <p:spPr>
          <a:xfrm>
            <a:off x="10789920" y="2103120"/>
            <a:ext cx="777240" cy="777240"/>
          </a:xfrm>
          <a:prstGeom prst="ellipse">
            <a:avLst/>
          </a:prstGeom>
          <a:solidFill>
            <a:srgbClr val="0A2540"/>
          </a:solidFill>
          <a:ln w="25400">
            <a:solidFill>
              <a:srgbClr val="B8862E"/>
            </a:solidFill>
            <a:prstDash val="solid"/>
          </a:ln>
        </p:spPr>
      </p:sp>
      <p:sp>
        <p:nvSpPr>
          <p:cNvPr id="40" name="Text 38"/>
          <p:cNvSpPr/>
          <p:nvPr/>
        </p:nvSpPr>
        <p:spPr>
          <a:xfrm>
            <a:off x="10789920" y="2103120"/>
            <a:ext cx="777240" cy="777240"/>
          </a:xfrm>
          <a:prstGeom prst="rect">
            <a:avLst/>
          </a:prstGeom>
          <a:noFill/>
          <a:ln/>
        </p:spPr>
        <p:txBody>
          <a:bodyPr wrap="square" rtlCol="0" anchor="ctr"/>
          <a:lstStyle/>
          <a:p>
            <a:pPr algn="ctr" indent="0" marL="0">
              <a:buNone/>
            </a:pPr>
            <a:r>
              <a:rPr lang="en-US" sz="2200" b="1" dirty="0">
                <a:solidFill>
                  <a:srgbClr val="E5B85C"/>
                </a:solidFill>
                <a:latin typeface="Georgia" pitchFamily="34" charset="0"/>
                <a:ea typeface="Georgia" pitchFamily="34" charset="-122"/>
                <a:cs typeface="Georgia" pitchFamily="34" charset="-120"/>
              </a:rPr>
              <a:t>06</a:t>
            </a:r>
            <a:endParaRPr lang="en-US" sz="2200" dirty="0"/>
          </a:p>
        </p:txBody>
      </p:sp>
      <p:sp>
        <p:nvSpPr>
          <p:cNvPr id="41" name="Text 39"/>
          <p:cNvSpPr/>
          <p:nvPr/>
        </p:nvSpPr>
        <p:spPr>
          <a:xfrm>
            <a:off x="10195560" y="2971800"/>
            <a:ext cx="196596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M18–M24</a:t>
            </a:r>
            <a:endParaRPr lang="en-US" sz="1000" dirty="0"/>
          </a:p>
        </p:txBody>
      </p:sp>
      <p:sp>
        <p:nvSpPr>
          <p:cNvPr id="42" name="Text 40"/>
          <p:cNvSpPr/>
          <p:nvPr/>
        </p:nvSpPr>
        <p:spPr>
          <a:xfrm>
            <a:off x="10195560" y="3291840"/>
            <a:ext cx="1965960" cy="365760"/>
          </a:xfrm>
          <a:prstGeom prst="rect">
            <a:avLst/>
          </a:prstGeom>
          <a:noFill/>
          <a:ln/>
        </p:spPr>
        <p:txBody>
          <a:bodyPr wrap="square" rtlCol="0" anchor="ctr"/>
          <a:lstStyle/>
          <a:p>
            <a:pPr algn="ctr" indent="0" marL="0">
              <a:buNone/>
            </a:pPr>
            <a:r>
              <a:rPr lang="en-US" sz="1300" b="1" spc="100" kern="0" dirty="0">
                <a:solidFill>
                  <a:srgbClr val="0A2540"/>
                </a:solidFill>
                <a:latin typeface="Calibri" pitchFamily="34" charset="0"/>
                <a:ea typeface="Calibri" pitchFamily="34" charset="-122"/>
                <a:cs typeface="Calibri" pitchFamily="34" charset="-120"/>
              </a:rPr>
              <a:t>UEMOA</a:t>
            </a:r>
            <a:endParaRPr lang="en-US" sz="1300" dirty="0"/>
          </a:p>
        </p:txBody>
      </p:sp>
      <p:sp>
        <p:nvSpPr>
          <p:cNvPr id="43" name="Text 41"/>
          <p:cNvSpPr/>
          <p:nvPr/>
        </p:nvSpPr>
        <p:spPr>
          <a:xfrm>
            <a:off x="10195560" y="3703320"/>
            <a:ext cx="1965960" cy="1554480"/>
          </a:xfrm>
          <a:prstGeom prst="rect">
            <a:avLst/>
          </a:prstGeom>
          <a:noFill/>
          <a:ln/>
        </p:spPr>
        <p:txBody>
          <a:bodyPr wrap="square" rtlCol="0" anchor="ctr"/>
          <a:lstStyle/>
          <a:p>
            <a:pPr algn="ctr" indent="0" marL="0">
              <a:buNone/>
            </a:pPr>
            <a:r>
              <a:rPr lang="en-US" sz="1000" dirty="0">
                <a:solidFill>
                  <a:srgbClr val="5A6470"/>
                </a:solidFill>
                <a:latin typeface="Calibri" pitchFamily="34" charset="0"/>
                <a:ea typeface="Calibri" pitchFamily="34" charset="-122"/>
                <a:cs typeface="Calibri" pitchFamily="34" charset="-120"/>
              </a:rPr>
              <a:t>Burkina + Mali</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Marque AFRICA</a:t>
            </a:r>
            <a:endParaRPr lang="en-US" sz="1000" dirty="0"/>
          </a:p>
          <a:p>
            <a:pPr algn="ctr" indent="0" marL="0">
              <a:buNone/>
            </a:pPr>
            <a:r>
              <a:rPr lang="en-US" sz="1000" dirty="0">
                <a:solidFill>
                  <a:srgbClr val="5A6470"/>
                </a:solidFill>
                <a:latin typeface="Calibri" pitchFamily="34" charset="0"/>
                <a:ea typeface="Calibri" pitchFamily="34" charset="-122"/>
                <a:cs typeface="Calibri" pitchFamily="34" charset="-120"/>
              </a:rPr>
              <a:t>80 M FCFA ARR total</a:t>
            </a:r>
            <a:endParaRPr lang="en-US" sz="1000" dirty="0"/>
          </a:p>
        </p:txBody>
      </p:sp>
      <p:sp>
        <p:nvSpPr>
          <p:cNvPr id="44" name="Shape 42"/>
          <p:cNvSpPr/>
          <p:nvPr/>
        </p:nvSpPr>
        <p:spPr>
          <a:xfrm>
            <a:off x="10469880" y="5349240"/>
            <a:ext cx="1417320" cy="457200"/>
          </a:xfrm>
          <a:prstGeom prst="rect">
            <a:avLst/>
          </a:prstGeom>
          <a:solidFill>
            <a:srgbClr val="F7F9FB"/>
          </a:solidFill>
          <a:ln/>
        </p:spPr>
      </p:sp>
      <p:sp>
        <p:nvSpPr>
          <p:cNvPr id="45" name="Text 43"/>
          <p:cNvSpPr/>
          <p:nvPr/>
        </p:nvSpPr>
        <p:spPr>
          <a:xfrm>
            <a:off x="10469880" y="5349240"/>
            <a:ext cx="1417320" cy="457200"/>
          </a:xfrm>
          <a:prstGeom prst="rect">
            <a:avLst/>
          </a:prstGeom>
          <a:noFill/>
          <a:ln/>
        </p:spPr>
        <p:txBody>
          <a:bodyPr wrap="square" rtlCol="0" anchor="ctr"/>
          <a:lstStyle/>
          <a:p>
            <a:pPr algn="ctr" indent="0" marL="0">
              <a:buNone/>
            </a:pPr>
            <a:r>
              <a:rPr lang="en-US" sz="1100" b="1" dirty="0">
                <a:solidFill>
                  <a:srgbClr val="B8862E"/>
                </a:solidFill>
                <a:latin typeface="Calibri" pitchFamily="34" charset="0"/>
                <a:ea typeface="Calibri" pitchFamily="34" charset="-122"/>
                <a:cs typeface="Calibri" pitchFamily="34" charset="-120"/>
              </a:rPr>
              <a:t>8 M FCFA</a:t>
            </a:r>
            <a:endParaRPr lang="en-US" sz="1100" dirty="0"/>
          </a:p>
        </p:txBody>
      </p:sp>
      <p:sp>
        <p:nvSpPr>
          <p:cNvPr id="46" name="Shape 44"/>
          <p:cNvSpPr/>
          <p:nvPr/>
        </p:nvSpPr>
        <p:spPr>
          <a:xfrm>
            <a:off x="822960" y="2487168"/>
            <a:ext cx="10515600" cy="0"/>
          </a:xfrm>
          <a:prstGeom prst="line">
            <a:avLst/>
          </a:prstGeom>
          <a:noFill/>
          <a:ln w="19050">
            <a:solidFill>
              <a:srgbClr val="B8862E"/>
            </a:solidFill>
            <a:prstDash val="dash"/>
          </a:ln>
        </p:spPr>
      </p:sp>
      <p:sp>
        <p:nvSpPr>
          <p:cNvPr id="47" name="Text 45"/>
          <p:cNvSpPr/>
          <p:nvPr/>
        </p:nvSpPr>
        <p:spPr>
          <a:xfrm>
            <a:off x="457200" y="6126480"/>
            <a:ext cx="10972800" cy="365760"/>
          </a:xfrm>
          <a:prstGeom prst="rect">
            <a:avLst/>
          </a:prstGeom>
          <a:noFill/>
          <a:ln/>
        </p:spPr>
        <p:txBody>
          <a:bodyPr wrap="square" rtlCol="0" anchor="ctr"/>
          <a:lstStyle/>
          <a:p>
            <a:pPr algn="ctr" indent="0" marL="0">
              <a:buNone/>
            </a:pPr>
            <a:r>
              <a:rPr lang="en-US" sz="1300" b="1" spc="300" kern="0" dirty="0">
                <a:solidFill>
                  <a:srgbClr val="0A2540"/>
                </a:solidFill>
                <a:latin typeface="Calibri" pitchFamily="34" charset="0"/>
                <a:ea typeface="Calibri" pitchFamily="34" charset="-122"/>
                <a:cs typeface="Calibri" pitchFamily="34" charset="-120"/>
              </a:rPr>
              <a:t>BUDGET TOTAL D'EXÉCUTION SUR 24 MOIS  ·  31 M FCFA</a:t>
            </a:r>
            <a:endParaRPr lang="en-US" sz="1300" dirty="0"/>
          </a:p>
        </p:txBody>
      </p:sp>
      <p:sp>
        <p:nvSpPr>
          <p:cNvPr id="48" name="Text 46"/>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12  ·  ÉQUIPE</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Une équipe ramassée, engagée, qui scale.</a:t>
            </a:r>
            <a:endParaRPr lang="en-US" sz="3200" dirty="0"/>
          </a:p>
        </p:txBody>
      </p:sp>
      <p:sp>
        <p:nvSpPr>
          <p:cNvPr id="4" name="Text 2"/>
          <p:cNvSpPr/>
          <p:nvPr/>
        </p:nvSpPr>
        <p:spPr>
          <a:xfrm>
            <a:off x="457200" y="1828800"/>
            <a:ext cx="10972800" cy="365760"/>
          </a:xfrm>
          <a:prstGeom prst="rect">
            <a:avLst/>
          </a:prstGeom>
          <a:noFill/>
          <a:ln/>
        </p:spPr>
        <p:txBody>
          <a:bodyPr wrap="square" rtlCol="0" anchor="ctr"/>
          <a:lstStyle/>
          <a:p>
            <a:pPr indent="0" marL="0">
              <a:buNone/>
            </a:pPr>
            <a:r>
              <a:rPr lang="en-US" sz="1100" b="1" spc="300" kern="0" dirty="0">
                <a:solidFill>
                  <a:srgbClr val="B8862E"/>
                </a:solidFill>
                <a:latin typeface="Calibri" pitchFamily="34" charset="0"/>
                <a:ea typeface="Calibri" pitchFamily="34" charset="-122"/>
                <a:cs typeface="Calibri" pitchFamily="34" charset="-120"/>
              </a:rPr>
              <a:t>ÉQUIPE INITIALE — M0</a:t>
            </a:r>
            <a:endParaRPr lang="en-US" sz="1100" dirty="0"/>
          </a:p>
        </p:txBody>
      </p:sp>
      <p:sp>
        <p:nvSpPr>
          <p:cNvPr id="5" name="Shape 3"/>
          <p:cNvSpPr/>
          <p:nvPr/>
        </p:nvSpPr>
        <p:spPr>
          <a:xfrm>
            <a:off x="457200" y="2331720"/>
            <a:ext cx="5486400" cy="1554480"/>
          </a:xfrm>
          <a:prstGeom prst="rect">
            <a:avLst/>
          </a:prstGeom>
          <a:solidFill>
            <a:srgbClr val="F7F9FB"/>
          </a:solidFill>
          <a:ln/>
        </p:spPr>
      </p:sp>
      <p:sp>
        <p:nvSpPr>
          <p:cNvPr id="6" name="Shape 4"/>
          <p:cNvSpPr/>
          <p:nvPr/>
        </p:nvSpPr>
        <p:spPr>
          <a:xfrm>
            <a:off x="731520" y="2606040"/>
            <a:ext cx="1005840" cy="1005840"/>
          </a:xfrm>
          <a:prstGeom prst="ellipse">
            <a:avLst/>
          </a:prstGeom>
          <a:solidFill>
            <a:srgbClr val="0A2540"/>
          </a:solidFill>
          <a:ln w="25400">
            <a:solidFill>
              <a:srgbClr val="B8862E"/>
            </a:solidFill>
            <a:prstDash val="solid"/>
          </a:ln>
        </p:spPr>
      </p:sp>
      <p:sp>
        <p:nvSpPr>
          <p:cNvPr id="7" name="Text 5"/>
          <p:cNvSpPr/>
          <p:nvPr/>
        </p:nvSpPr>
        <p:spPr>
          <a:xfrm>
            <a:off x="731520" y="2606040"/>
            <a:ext cx="1005840" cy="1005840"/>
          </a:xfrm>
          <a:prstGeom prst="rect">
            <a:avLst/>
          </a:prstGeom>
          <a:noFill/>
          <a:ln/>
        </p:spPr>
        <p:txBody>
          <a:bodyPr wrap="square" rtlCol="0" anchor="ctr"/>
          <a:lstStyle/>
          <a:p>
            <a:pPr algn="ctr" indent="0" marL="0">
              <a:buNone/>
            </a:pPr>
            <a:r>
              <a:rPr lang="en-US" sz="1800" b="1" dirty="0">
                <a:solidFill>
                  <a:srgbClr val="E5B85C"/>
                </a:solidFill>
                <a:latin typeface="Georgia" pitchFamily="34" charset="0"/>
                <a:ea typeface="Georgia" pitchFamily="34" charset="-122"/>
                <a:cs typeface="Georgia" pitchFamily="34" charset="-120"/>
              </a:rPr>
              <a:t>DG</a:t>
            </a:r>
            <a:endParaRPr lang="en-US" sz="1800" dirty="0"/>
          </a:p>
        </p:txBody>
      </p:sp>
      <p:sp>
        <p:nvSpPr>
          <p:cNvPr id="8" name="Text 6"/>
          <p:cNvSpPr/>
          <p:nvPr/>
        </p:nvSpPr>
        <p:spPr>
          <a:xfrm>
            <a:off x="1920240" y="2468880"/>
            <a:ext cx="393192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Directeur Général</a:t>
            </a:r>
            <a:endParaRPr lang="en-US" sz="1400" dirty="0"/>
          </a:p>
        </p:txBody>
      </p:sp>
      <p:sp>
        <p:nvSpPr>
          <p:cNvPr id="9" name="Text 7"/>
          <p:cNvSpPr/>
          <p:nvPr/>
        </p:nvSpPr>
        <p:spPr>
          <a:xfrm>
            <a:off x="1920240" y="2834640"/>
            <a:ext cx="3931920" cy="109728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Fondateur · Directeur Pays ONG ADN</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Chef d'entreprise HABITEAX (immobilier)</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Ancrage institutionnel CI fort</a:t>
            </a:r>
            <a:endParaRPr lang="en-US" sz="1000" dirty="0"/>
          </a:p>
        </p:txBody>
      </p:sp>
      <p:sp>
        <p:nvSpPr>
          <p:cNvPr id="10" name="Shape 8"/>
          <p:cNvSpPr/>
          <p:nvPr/>
        </p:nvSpPr>
        <p:spPr>
          <a:xfrm>
            <a:off x="6126480" y="2331720"/>
            <a:ext cx="5486400" cy="1554480"/>
          </a:xfrm>
          <a:prstGeom prst="rect">
            <a:avLst/>
          </a:prstGeom>
          <a:solidFill>
            <a:srgbClr val="F7F9FB"/>
          </a:solidFill>
          <a:ln/>
        </p:spPr>
      </p:sp>
      <p:sp>
        <p:nvSpPr>
          <p:cNvPr id="11" name="Shape 9"/>
          <p:cNvSpPr/>
          <p:nvPr/>
        </p:nvSpPr>
        <p:spPr>
          <a:xfrm>
            <a:off x="6400800" y="2606040"/>
            <a:ext cx="1005840" cy="1005840"/>
          </a:xfrm>
          <a:prstGeom prst="ellipse">
            <a:avLst/>
          </a:prstGeom>
          <a:solidFill>
            <a:srgbClr val="0A2540"/>
          </a:solidFill>
          <a:ln w="25400">
            <a:solidFill>
              <a:srgbClr val="B8862E"/>
            </a:solidFill>
            <a:prstDash val="solid"/>
          </a:ln>
        </p:spPr>
      </p:sp>
      <p:sp>
        <p:nvSpPr>
          <p:cNvPr id="12" name="Text 10"/>
          <p:cNvSpPr/>
          <p:nvPr/>
        </p:nvSpPr>
        <p:spPr>
          <a:xfrm>
            <a:off x="6400800" y="2606040"/>
            <a:ext cx="1005840" cy="1005840"/>
          </a:xfrm>
          <a:prstGeom prst="rect">
            <a:avLst/>
          </a:prstGeom>
          <a:noFill/>
          <a:ln/>
        </p:spPr>
        <p:txBody>
          <a:bodyPr wrap="square" rtlCol="0" anchor="ctr"/>
          <a:lstStyle/>
          <a:p>
            <a:pPr algn="ctr" indent="0" marL="0">
              <a:buNone/>
            </a:pPr>
            <a:r>
              <a:rPr lang="en-US" sz="1800" b="1" dirty="0">
                <a:solidFill>
                  <a:srgbClr val="E5B85C"/>
                </a:solidFill>
                <a:latin typeface="Georgia" pitchFamily="34" charset="0"/>
                <a:ea typeface="Georgia" pitchFamily="34" charset="-122"/>
                <a:cs typeface="Georgia" pitchFamily="34" charset="-120"/>
              </a:rPr>
              <a:t>CTO</a:t>
            </a:r>
            <a:endParaRPr lang="en-US" sz="1800" dirty="0"/>
          </a:p>
        </p:txBody>
      </p:sp>
      <p:sp>
        <p:nvSpPr>
          <p:cNvPr id="13" name="Text 11"/>
          <p:cNvSpPr/>
          <p:nvPr/>
        </p:nvSpPr>
        <p:spPr>
          <a:xfrm>
            <a:off x="7589520" y="2468880"/>
            <a:ext cx="393192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Directeur Technique</a:t>
            </a:r>
            <a:endParaRPr lang="en-US" sz="1400" dirty="0"/>
          </a:p>
        </p:txBody>
      </p:sp>
      <p:sp>
        <p:nvSpPr>
          <p:cNvPr id="14" name="Text 12"/>
          <p:cNvSpPr/>
          <p:nvPr/>
        </p:nvSpPr>
        <p:spPr>
          <a:xfrm>
            <a:off x="7589520" y="2834640"/>
            <a:ext cx="3931920" cy="109728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À recruter — Bac+5 informatique</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8+ ans expérience SaaS B2B</a:t>
            </a:r>
            <a:endParaRPr lang="en-US" sz="1000" dirty="0"/>
          </a:p>
          <a:p>
            <a:pPr indent="0" marL="0">
              <a:buNone/>
            </a:pPr>
            <a:r>
              <a:rPr lang="en-US" sz="1000" dirty="0">
                <a:solidFill>
                  <a:srgbClr val="5A6470"/>
                </a:solidFill>
                <a:latin typeface="Calibri" pitchFamily="34" charset="0"/>
                <a:ea typeface="Calibri" pitchFamily="34" charset="-122"/>
                <a:cs typeface="Calibri" pitchFamily="34" charset="-120"/>
              </a:rPr>
              <a:t>Maîtrise NestJS · Next.js · WebRTC</a:t>
            </a:r>
            <a:endParaRPr lang="en-US" sz="1000" dirty="0"/>
          </a:p>
        </p:txBody>
      </p:sp>
      <p:sp>
        <p:nvSpPr>
          <p:cNvPr id="15" name="Text 13"/>
          <p:cNvSpPr/>
          <p:nvPr/>
        </p:nvSpPr>
        <p:spPr>
          <a:xfrm>
            <a:off x="457200" y="4114800"/>
            <a:ext cx="10972800" cy="365760"/>
          </a:xfrm>
          <a:prstGeom prst="rect">
            <a:avLst/>
          </a:prstGeom>
          <a:noFill/>
          <a:ln/>
        </p:spPr>
        <p:txBody>
          <a:bodyPr wrap="square" rtlCol="0" anchor="ctr"/>
          <a:lstStyle/>
          <a:p>
            <a:pPr indent="0" marL="0">
              <a:buNone/>
            </a:pPr>
            <a:r>
              <a:rPr lang="en-US" sz="1100" b="1" spc="300" kern="0" dirty="0">
                <a:solidFill>
                  <a:srgbClr val="B8862E"/>
                </a:solidFill>
                <a:latin typeface="Calibri" pitchFamily="34" charset="0"/>
                <a:ea typeface="Calibri" pitchFamily="34" charset="-122"/>
                <a:cs typeface="Calibri" pitchFamily="34" charset="-120"/>
              </a:rPr>
              <a:t>TRAJECTOIRE D'EFFECTIFS — 24 MOIS</a:t>
            </a:r>
            <a:endParaRPr lang="en-US" sz="1100" dirty="0"/>
          </a:p>
        </p:txBody>
      </p:sp>
      <p:sp>
        <p:nvSpPr>
          <p:cNvPr id="16" name="Shape 14"/>
          <p:cNvSpPr/>
          <p:nvPr/>
        </p:nvSpPr>
        <p:spPr>
          <a:xfrm>
            <a:off x="457200" y="4617720"/>
            <a:ext cx="1828800" cy="1645920"/>
          </a:xfrm>
          <a:prstGeom prst="rect">
            <a:avLst/>
          </a:prstGeom>
          <a:solidFill>
            <a:srgbClr val="FFFFFF"/>
          </a:solidFill>
          <a:ln w="9525">
            <a:solidFill>
              <a:srgbClr val="B8862E"/>
            </a:solidFill>
            <a:prstDash val="solid"/>
          </a:ln>
        </p:spPr>
      </p:sp>
      <p:sp>
        <p:nvSpPr>
          <p:cNvPr id="17" name="Text 15"/>
          <p:cNvSpPr/>
          <p:nvPr/>
        </p:nvSpPr>
        <p:spPr>
          <a:xfrm>
            <a:off x="457200" y="4709160"/>
            <a:ext cx="182880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M0</a:t>
            </a:r>
            <a:endParaRPr lang="en-US" sz="1000" dirty="0"/>
          </a:p>
        </p:txBody>
      </p:sp>
      <p:sp>
        <p:nvSpPr>
          <p:cNvPr id="18" name="Text 16"/>
          <p:cNvSpPr/>
          <p:nvPr/>
        </p:nvSpPr>
        <p:spPr>
          <a:xfrm>
            <a:off x="457200" y="5029200"/>
            <a:ext cx="1828800" cy="640080"/>
          </a:xfrm>
          <a:prstGeom prst="rect">
            <a:avLst/>
          </a:prstGeom>
          <a:noFill/>
          <a:ln/>
        </p:spPr>
        <p:txBody>
          <a:bodyPr wrap="square" rtlCol="0" anchor="ctr"/>
          <a:lstStyle/>
          <a:p>
            <a:pPr algn="ctr" indent="0" marL="0">
              <a:buNone/>
            </a:pPr>
            <a:r>
              <a:rPr lang="en-US" sz="3600" b="1" dirty="0">
                <a:solidFill>
                  <a:srgbClr val="0A2540"/>
                </a:solidFill>
                <a:latin typeface="Georgia" pitchFamily="34" charset="0"/>
                <a:ea typeface="Georgia" pitchFamily="34" charset="-122"/>
                <a:cs typeface="Georgia" pitchFamily="34" charset="-120"/>
              </a:rPr>
              <a:t>2</a:t>
            </a:r>
            <a:endParaRPr lang="en-US" sz="3600" dirty="0"/>
          </a:p>
        </p:txBody>
      </p:sp>
      <p:sp>
        <p:nvSpPr>
          <p:cNvPr id="19" name="Text 17"/>
          <p:cNvSpPr/>
          <p:nvPr/>
        </p:nvSpPr>
        <p:spPr>
          <a:xfrm>
            <a:off x="457200" y="5623560"/>
            <a:ext cx="1828800" cy="274320"/>
          </a:xfrm>
          <a:prstGeom prst="rect">
            <a:avLst/>
          </a:prstGeom>
          <a:noFill/>
          <a:ln/>
        </p:spPr>
        <p:txBody>
          <a:bodyPr wrap="square" rtlCol="0" anchor="ctr"/>
          <a:lstStyle/>
          <a:p>
            <a:pPr algn="ctr" indent="0" marL="0">
              <a:buNone/>
            </a:pPr>
            <a:r>
              <a:rPr lang="en-US" sz="900" dirty="0">
                <a:solidFill>
                  <a:srgbClr val="5A6470"/>
                </a:solidFill>
                <a:latin typeface="Calibri" pitchFamily="34" charset="0"/>
                <a:ea typeface="Calibri" pitchFamily="34" charset="-122"/>
                <a:cs typeface="Calibri" pitchFamily="34" charset="-120"/>
              </a:rPr>
              <a:t>ETP</a:t>
            </a:r>
            <a:endParaRPr lang="en-US" sz="900" dirty="0"/>
          </a:p>
        </p:txBody>
      </p:sp>
      <p:sp>
        <p:nvSpPr>
          <p:cNvPr id="20" name="Text 18"/>
          <p:cNvSpPr/>
          <p:nvPr/>
        </p:nvSpPr>
        <p:spPr>
          <a:xfrm>
            <a:off x="457200" y="5897880"/>
            <a:ext cx="1828800" cy="365760"/>
          </a:xfrm>
          <a:prstGeom prst="rect">
            <a:avLst/>
          </a:prstGeom>
          <a:noFill/>
          <a:ln/>
        </p:spPr>
        <p:txBody>
          <a:bodyPr wrap="square" rtlCol="0" anchor="ctr"/>
          <a:lstStyle/>
          <a:p>
            <a:pPr algn="ctr" indent="0" marL="0">
              <a:buNone/>
            </a:pPr>
            <a:r>
              <a:rPr lang="en-US" sz="900" i="1" dirty="0">
                <a:solidFill>
                  <a:srgbClr val="5A6470"/>
                </a:solidFill>
                <a:latin typeface="Calibri" pitchFamily="34" charset="0"/>
                <a:ea typeface="Calibri" pitchFamily="34" charset="-122"/>
                <a:cs typeface="Calibri" pitchFamily="34" charset="-120"/>
              </a:rPr>
              <a:t>DG · CTO</a:t>
            </a:r>
            <a:endParaRPr lang="en-US" sz="900" dirty="0"/>
          </a:p>
        </p:txBody>
      </p:sp>
      <p:sp>
        <p:nvSpPr>
          <p:cNvPr id="21" name="Shape 19"/>
          <p:cNvSpPr/>
          <p:nvPr/>
        </p:nvSpPr>
        <p:spPr>
          <a:xfrm>
            <a:off x="2404872" y="4617720"/>
            <a:ext cx="1828800" cy="1645920"/>
          </a:xfrm>
          <a:prstGeom prst="rect">
            <a:avLst/>
          </a:prstGeom>
          <a:solidFill>
            <a:srgbClr val="FFFFFF"/>
          </a:solidFill>
          <a:ln w="9525">
            <a:solidFill>
              <a:srgbClr val="B8862E"/>
            </a:solidFill>
            <a:prstDash val="solid"/>
          </a:ln>
        </p:spPr>
      </p:sp>
      <p:sp>
        <p:nvSpPr>
          <p:cNvPr id="22" name="Text 20"/>
          <p:cNvSpPr/>
          <p:nvPr/>
        </p:nvSpPr>
        <p:spPr>
          <a:xfrm>
            <a:off x="2404872" y="4709160"/>
            <a:ext cx="182880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M3</a:t>
            </a:r>
            <a:endParaRPr lang="en-US" sz="1000" dirty="0"/>
          </a:p>
        </p:txBody>
      </p:sp>
      <p:sp>
        <p:nvSpPr>
          <p:cNvPr id="23" name="Text 21"/>
          <p:cNvSpPr/>
          <p:nvPr/>
        </p:nvSpPr>
        <p:spPr>
          <a:xfrm>
            <a:off x="2404872" y="5029200"/>
            <a:ext cx="1828800" cy="640080"/>
          </a:xfrm>
          <a:prstGeom prst="rect">
            <a:avLst/>
          </a:prstGeom>
          <a:noFill/>
          <a:ln/>
        </p:spPr>
        <p:txBody>
          <a:bodyPr wrap="square" rtlCol="0" anchor="ctr"/>
          <a:lstStyle/>
          <a:p>
            <a:pPr algn="ctr" indent="0" marL="0">
              <a:buNone/>
            </a:pPr>
            <a:r>
              <a:rPr lang="en-US" sz="3600" b="1" dirty="0">
                <a:solidFill>
                  <a:srgbClr val="0A2540"/>
                </a:solidFill>
                <a:latin typeface="Georgia" pitchFamily="34" charset="0"/>
                <a:ea typeface="Georgia" pitchFamily="34" charset="-122"/>
                <a:cs typeface="Georgia" pitchFamily="34" charset="-120"/>
              </a:rPr>
              <a:t>3</a:t>
            </a:r>
            <a:endParaRPr lang="en-US" sz="3600" dirty="0"/>
          </a:p>
        </p:txBody>
      </p:sp>
      <p:sp>
        <p:nvSpPr>
          <p:cNvPr id="24" name="Text 22"/>
          <p:cNvSpPr/>
          <p:nvPr/>
        </p:nvSpPr>
        <p:spPr>
          <a:xfrm>
            <a:off x="2404872" y="5623560"/>
            <a:ext cx="1828800" cy="274320"/>
          </a:xfrm>
          <a:prstGeom prst="rect">
            <a:avLst/>
          </a:prstGeom>
          <a:noFill/>
          <a:ln/>
        </p:spPr>
        <p:txBody>
          <a:bodyPr wrap="square" rtlCol="0" anchor="ctr"/>
          <a:lstStyle/>
          <a:p>
            <a:pPr algn="ctr" indent="0" marL="0">
              <a:buNone/>
            </a:pPr>
            <a:r>
              <a:rPr lang="en-US" sz="900" dirty="0">
                <a:solidFill>
                  <a:srgbClr val="5A6470"/>
                </a:solidFill>
                <a:latin typeface="Calibri" pitchFamily="34" charset="0"/>
                <a:ea typeface="Calibri" pitchFamily="34" charset="-122"/>
                <a:cs typeface="Calibri" pitchFamily="34" charset="-120"/>
              </a:rPr>
              <a:t>ETP</a:t>
            </a:r>
            <a:endParaRPr lang="en-US" sz="900" dirty="0"/>
          </a:p>
        </p:txBody>
      </p:sp>
      <p:sp>
        <p:nvSpPr>
          <p:cNvPr id="25" name="Text 23"/>
          <p:cNvSpPr/>
          <p:nvPr/>
        </p:nvSpPr>
        <p:spPr>
          <a:xfrm>
            <a:off x="2404872" y="5897880"/>
            <a:ext cx="1828800" cy="365760"/>
          </a:xfrm>
          <a:prstGeom prst="rect">
            <a:avLst/>
          </a:prstGeom>
          <a:noFill/>
          <a:ln/>
        </p:spPr>
        <p:txBody>
          <a:bodyPr wrap="square" rtlCol="0" anchor="ctr"/>
          <a:lstStyle/>
          <a:p>
            <a:pPr algn="ctr" indent="0" marL="0">
              <a:buNone/>
            </a:pPr>
            <a:r>
              <a:rPr lang="en-US" sz="900" i="1" dirty="0">
                <a:solidFill>
                  <a:srgbClr val="5A6470"/>
                </a:solidFill>
                <a:latin typeface="Calibri" pitchFamily="34" charset="0"/>
                <a:ea typeface="Calibri" pitchFamily="34" charset="-122"/>
                <a:cs typeface="Calibri" pitchFamily="34" charset="-120"/>
              </a:rPr>
              <a:t>+ Lead Dev</a:t>
            </a:r>
            <a:endParaRPr lang="en-US" sz="900" dirty="0"/>
          </a:p>
        </p:txBody>
      </p:sp>
      <p:sp>
        <p:nvSpPr>
          <p:cNvPr id="26" name="Shape 24"/>
          <p:cNvSpPr/>
          <p:nvPr/>
        </p:nvSpPr>
        <p:spPr>
          <a:xfrm>
            <a:off x="4352544" y="4617720"/>
            <a:ext cx="1828800" cy="1645920"/>
          </a:xfrm>
          <a:prstGeom prst="rect">
            <a:avLst/>
          </a:prstGeom>
          <a:solidFill>
            <a:srgbClr val="FFFFFF"/>
          </a:solidFill>
          <a:ln w="9525">
            <a:solidFill>
              <a:srgbClr val="B8862E"/>
            </a:solidFill>
            <a:prstDash val="solid"/>
          </a:ln>
        </p:spPr>
      </p:sp>
      <p:sp>
        <p:nvSpPr>
          <p:cNvPr id="27" name="Text 25"/>
          <p:cNvSpPr/>
          <p:nvPr/>
        </p:nvSpPr>
        <p:spPr>
          <a:xfrm>
            <a:off x="4352544" y="4709160"/>
            <a:ext cx="182880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M6</a:t>
            </a:r>
            <a:endParaRPr lang="en-US" sz="1000" dirty="0"/>
          </a:p>
        </p:txBody>
      </p:sp>
      <p:sp>
        <p:nvSpPr>
          <p:cNvPr id="28" name="Text 26"/>
          <p:cNvSpPr/>
          <p:nvPr/>
        </p:nvSpPr>
        <p:spPr>
          <a:xfrm>
            <a:off x="4352544" y="5029200"/>
            <a:ext cx="1828800" cy="640080"/>
          </a:xfrm>
          <a:prstGeom prst="rect">
            <a:avLst/>
          </a:prstGeom>
          <a:noFill/>
          <a:ln/>
        </p:spPr>
        <p:txBody>
          <a:bodyPr wrap="square" rtlCol="0" anchor="ctr"/>
          <a:lstStyle/>
          <a:p>
            <a:pPr algn="ctr" indent="0" marL="0">
              <a:buNone/>
            </a:pPr>
            <a:r>
              <a:rPr lang="en-US" sz="3600" b="1" dirty="0">
                <a:solidFill>
                  <a:srgbClr val="0A2540"/>
                </a:solidFill>
                <a:latin typeface="Georgia" pitchFamily="34" charset="0"/>
                <a:ea typeface="Georgia" pitchFamily="34" charset="-122"/>
                <a:cs typeface="Georgia" pitchFamily="34" charset="-120"/>
              </a:rPr>
              <a:t>4</a:t>
            </a:r>
            <a:endParaRPr lang="en-US" sz="3600" dirty="0"/>
          </a:p>
        </p:txBody>
      </p:sp>
      <p:sp>
        <p:nvSpPr>
          <p:cNvPr id="29" name="Text 27"/>
          <p:cNvSpPr/>
          <p:nvPr/>
        </p:nvSpPr>
        <p:spPr>
          <a:xfrm>
            <a:off x="4352544" y="5623560"/>
            <a:ext cx="1828800" cy="274320"/>
          </a:xfrm>
          <a:prstGeom prst="rect">
            <a:avLst/>
          </a:prstGeom>
          <a:noFill/>
          <a:ln/>
        </p:spPr>
        <p:txBody>
          <a:bodyPr wrap="square" rtlCol="0" anchor="ctr"/>
          <a:lstStyle/>
          <a:p>
            <a:pPr algn="ctr" indent="0" marL="0">
              <a:buNone/>
            </a:pPr>
            <a:r>
              <a:rPr lang="en-US" sz="900" dirty="0">
                <a:solidFill>
                  <a:srgbClr val="5A6470"/>
                </a:solidFill>
                <a:latin typeface="Calibri" pitchFamily="34" charset="0"/>
                <a:ea typeface="Calibri" pitchFamily="34" charset="-122"/>
                <a:cs typeface="Calibri" pitchFamily="34" charset="-120"/>
              </a:rPr>
              <a:t>ETP</a:t>
            </a:r>
            <a:endParaRPr lang="en-US" sz="900" dirty="0"/>
          </a:p>
        </p:txBody>
      </p:sp>
      <p:sp>
        <p:nvSpPr>
          <p:cNvPr id="30" name="Text 28"/>
          <p:cNvSpPr/>
          <p:nvPr/>
        </p:nvSpPr>
        <p:spPr>
          <a:xfrm>
            <a:off x="4352544" y="5897880"/>
            <a:ext cx="1828800" cy="365760"/>
          </a:xfrm>
          <a:prstGeom prst="rect">
            <a:avLst/>
          </a:prstGeom>
          <a:noFill/>
          <a:ln/>
        </p:spPr>
        <p:txBody>
          <a:bodyPr wrap="square" rtlCol="0" anchor="ctr"/>
          <a:lstStyle/>
          <a:p>
            <a:pPr algn="ctr" indent="0" marL="0">
              <a:buNone/>
            </a:pPr>
            <a:r>
              <a:rPr lang="en-US" sz="900" i="1" dirty="0">
                <a:solidFill>
                  <a:srgbClr val="5A6470"/>
                </a:solidFill>
                <a:latin typeface="Calibri" pitchFamily="34" charset="0"/>
                <a:ea typeface="Calibri" pitchFamily="34" charset="-122"/>
                <a:cs typeface="Calibri" pitchFamily="34" charset="-120"/>
              </a:rPr>
              <a:t>+ Commercial</a:t>
            </a:r>
            <a:endParaRPr lang="en-US" sz="900" dirty="0"/>
          </a:p>
        </p:txBody>
      </p:sp>
      <p:sp>
        <p:nvSpPr>
          <p:cNvPr id="31" name="Shape 29"/>
          <p:cNvSpPr/>
          <p:nvPr/>
        </p:nvSpPr>
        <p:spPr>
          <a:xfrm>
            <a:off x="6300216" y="4617720"/>
            <a:ext cx="1828800" cy="1645920"/>
          </a:xfrm>
          <a:prstGeom prst="rect">
            <a:avLst/>
          </a:prstGeom>
          <a:solidFill>
            <a:srgbClr val="FFFFFF"/>
          </a:solidFill>
          <a:ln w="9525">
            <a:solidFill>
              <a:srgbClr val="B8862E"/>
            </a:solidFill>
            <a:prstDash val="solid"/>
          </a:ln>
        </p:spPr>
      </p:sp>
      <p:sp>
        <p:nvSpPr>
          <p:cNvPr id="32" name="Text 30"/>
          <p:cNvSpPr/>
          <p:nvPr/>
        </p:nvSpPr>
        <p:spPr>
          <a:xfrm>
            <a:off x="6300216" y="4709160"/>
            <a:ext cx="182880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M9</a:t>
            </a:r>
            <a:endParaRPr lang="en-US" sz="1000" dirty="0"/>
          </a:p>
        </p:txBody>
      </p:sp>
      <p:sp>
        <p:nvSpPr>
          <p:cNvPr id="33" name="Text 31"/>
          <p:cNvSpPr/>
          <p:nvPr/>
        </p:nvSpPr>
        <p:spPr>
          <a:xfrm>
            <a:off x="6300216" y="5029200"/>
            <a:ext cx="1828800" cy="640080"/>
          </a:xfrm>
          <a:prstGeom prst="rect">
            <a:avLst/>
          </a:prstGeom>
          <a:noFill/>
          <a:ln/>
        </p:spPr>
        <p:txBody>
          <a:bodyPr wrap="square" rtlCol="0" anchor="ctr"/>
          <a:lstStyle/>
          <a:p>
            <a:pPr algn="ctr" indent="0" marL="0">
              <a:buNone/>
            </a:pPr>
            <a:r>
              <a:rPr lang="en-US" sz="3600" b="1" dirty="0">
                <a:solidFill>
                  <a:srgbClr val="0A2540"/>
                </a:solidFill>
                <a:latin typeface="Georgia" pitchFamily="34" charset="0"/>
                <a:ea typeface="Georgia" pitchFamily="34" charset="-122"/>
                <a:cs typeface="Georgia" pitchFamily="34" charset="-120"/>
              </a:rPr>
              <a:t>5</a:t>
            </a:r>
            <a:endParaRPr lang="en-US" sz="3600" dirty="0"/>
          </a:p>
        </p:txBody>
      </p:sp>
      <p:sp>
        <p:nvSpPr>
          <p:cNvPr id="34" name="Text 32"/>
          <p:cNvSpPr/>
          <p:nvPr/>
        </p:nvSpPr>
        <p:spPr>
          <a:xfrm>
            <a:off x="6300216" y="5623560"/>
            <a:ext cx="1828800" cy="274320"/>
          </a:xfrm>
          <a:prstGeom prst="rect">
            <a:avLst/>
          </a:prstGeom>
          <a:noFill/>
          <a:ln/>
        </p:spPr>
        <p:txBody>
          <a:bodyPr wrap="square" rtlCol="0" anchor="ctr"/>
          <a:lstStyle/>
          <a:p>
            <a:pPr algn="ctr" indent="0" marL="0">
              <a:buNone/>
            </a:pPr>
            <a:r>
              <a:rPr lang="en-US" sz="900" dirty="0">
                <a:solidFill>
                  <a:srgbClr val="5A6470"/>
                </a:solidFill>
                <a:latin typeface="Calibri" pitchFamily="34" charset="0"/>
                <a:ea typeface="Calibri" pitchFamily="34" charset="-122"/>
                <a:cs typeface="Calibri" pitchFamily="34" charset="-120"/>
              </a:rPr>
              <a:t>ETP</a:t>
            </a:r>
            <a:endParaRPr lang="en-US" sz="900" dirty="0"/>
          </a:p>
        </p:txBody>
      </p:sp>
      <p:sp>
        <p:nvSpPr>
          <p:cNvPr id="35" name="Text 33"/>
          <p:cNvSpPr/>
          <p:nvPr/>
        </p:nvSpPr>
        <p:spPr>
          <a:xfrm>
            <a:off x="6300216" y="5897880"/>
            <a:ext cx="1828800" cy="365760"/>
          </a:xfrm>
          <a:prstGeom prst="rect">
            <a:avLst/>
          </a:prstGeom>
          <a:noFill/>
          <a:ln/>
        </p:spPr>
        <p:txBody>
          <a:bodyPr wrap="square" rtlCol="0" anchor="ctr"/>
          <a:lstStyle/>
          <a:p>
            <a:pPr algn="ctr" indent="0" marL="0">
              <a:buNone/>
            </a:pPr>
            <a:r>
              <a:rPr lang="en-US" sz="900" i="1" dirty="0">
                <a:solidFill>
                  <a:srgbClr val="5A6470"/>
                </a:solidFill>
                <a:latin typeface="Calibri" pitchFamily="34" charset="0"/>
                <a:ea typeface="Calibri" pitchFamily="34" charset="-122"/>
                <a:cs typeface="Calibri" pitchFamily="34" charset="-120"/>
              </a:rPr>
              <a:t>+ Customer Success</a:t>
            </a:r>
            <a:endParaRPr lang="en-US" sz="900" dirty="0"/>
          </a:p>
        </p:txBody>
      </p:sp>
      <p:sp>
        <p:nvSpPr>
          <p:cNvPr id="36" name="Shape 34"/>
          <p:cNvSpPr/>
          <p:nvPr/>
        </p:nvSpPr>
        <p:spPr>
          <a:xfrm>
            <a:off x="8247888" y="4617720"/>
            <a:ext cx="1828800" cy="1645920"/>
          </a:xfrm>
          <a:prstGeom prst="rect">
            <a:avLst/>
          </a:prstGeom>
          <a:solidFill>
            <a:srgbClr val="FFFFFF"/>
          </a:solidFill>
          <a:ln w="9525">
            <a:solidFill>
              <a:srgbClr val="B8862E"/>
            </a:solidFill>
            <a:prstDash val="solid"/>
          </a:ln>
        </p:spPr>
      </p:sp>
      <p:sp>
        <p:nvSpPr>
          <p:cNvPr id="37" name="Text 35"/>
          <p:cNvSpPr/>
          <p:nvPr/>
        </p:nvSpPr>
        <p:spPr>
          <a:xfrm>
            <a:off x="8247888" y="4709160"/>
            <a:ext cx="182880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M15</a:t>
            </a:r>
            <a:endParaRPr lang="en-US" sz="1000" dirty="0"/>
          </a:p>
        </p:txBody>
      </p:sp>
      <p:sp>
        <p:nvSpPr>
          <p:cNvPr id="38" name="Text 36"/>
          <p:cNvSpPr/>
          <p:nvPr/>
        </p:nvSpPr>
        <p:spPr>
          <a:xfrm>
            <a:off x="8247888" y="5029200"/>
            <a:ext cx="1828800" cy="640080"/>
          </a:xfrm>
          <a:prstGeom prst="rect">
            <a:avLst/>
          </a:prstGeom>
          <a:noFill/>
          <a:ln/>
        </p:spPr>
        <p:txBody>
          <a:bodyPr wrap="square" rtlCol="0" anchor="ctr"/>
          <a:lstStyle/>
          <a:p>
            <a:pPr algn="ctr" indent="0" marL="0">
              <a:buNone/>
            </a:pPr>
            <a:r>
              <a:rPr lang="en-US" sz="3600" b="1" dirty="0">
                <a:solidFill>
                  <a:srgbClr val="0A2540"/>
                </a:solidFill>
                <a:latin typeface="Georgia" pitchFamily="34" charset="0"/>
                <a:ea typeface="Georgia" pitchFamily="34" charset="-122"/>
                <a:cs typeface="Georgia" pitchFamily="34" charset="-120"/>
              </a:rPr>
              <a:t>6</a:t>
            </a:r>
            <a:endParaRPr lang="en-US" sz="3600" dirty="0"/>
          </a:p>
        </p:txBody>
      </p:sp>
      <p:sp>
        <p:nvSpPr>
          <p:cNvPr id="39" name="Text 37"/>
          <p:cNvSpPr/>
          <p:nvPr/>
        </p:nvSpPr>
        <p:spPr>
          <a:xfrm>
            <a:off x="8247888" y="5623560"/>
            <a:ext cx="1828800" cy="274320"/>
          </a:xfrm>
          <a:prstGeom prst="rect">
            <a:avLst/>
          </a:prstGeom>
          <a:noFill/>
          <a:ln/>
        </p:spPr>
        <p:txBody>
          <a:bodyPr wrap="square" rtlCol="0" anchor="ctr"/>
          <a:lstStyle/>
          <a:p>
            <a:pPr algn="ctr" indent="0" marL="0">
              <a:buNone/>
            </a:pPr>
            <a:r>
              <a:rPr lang="en-US" sz="900" dirty="0">
                <a:solidFill>
                  <a:srgbClr val="5A6470"/>
                </a:solidFill>
                <a:latin typeface="Calibri" pitchFamily="34" charset="0"/>
                <a:ea typeface="Calibri" pitchFamily="34" charset="-122"/>
                <a:cs typeface="Calibri" pitchFamily="34" charset="-120"/>
              </a:rPr>
              <a:t>ETP</a:t>
            </a:r>
            <a:endParaRPr lang="en-US" sz="900" dirty="0"/>
          </a:p>
        </p:txBody>
      </p:sp>
      <p:sp>
        <p:nvSpPr>
          <p:cNvPr id="40" name="Text 38"/>
          <p:cNvSpPr/>
          <p:nvPr/>
        </p:nvSpPr>
        <p:spPr>
          <a:xfrm>
            <a:off x="8247888" y="5897880"/>
            <a:ext cx="1828800" cy="365760"/>
          </a:xfrm>
          <a:prstGeom prst="rect">
            <a:avLst/>
          </a:prstGeom>
          <a:noFill/>
          <a:ln/>
        </p:spPr>
        <p:txBody>
          <a:bodyPr wrap="square" rtlCol="0" anchor="ctr"/>
          <a:lstStyle/>
          <a:p>
            <a:pPr algn="ctr" indent="0" marL="0">
              <a:buNone/>
            </a:pPr>
            <a:r>
              <a:rPr lang="en-US" sz="900" i="1" dirty="0">
                <a:solidFill>
                  <a:srgbClr val="5A6470"/>
                </a:solidFill>
                <a:latin typeface="Calibri" pitchFamily="34" charset="0"/>
                <a:ea typeface="Calibri" pitchFamily="34" charset="-122"/>
                <a:cs typeface="Calibri" pitchFamily="34" charset="-120"/>
              </a:rPr>
              <a:t>+ Country Mgr Sénégal</a:t>
            </a:r>
            <a:endParaRPr lang="en-US" sz="900" dirty="0"/>
          </a:p>
        </p:txBody>
      </p:sp>
      <p:sp>
        <p:nvSpPr>
          <p:cNvPr id="41" name="Shape 39"/>
          <p:cNvSpPr/>
          <p:nvPr/>
        </p:nvSpPr>
        <p:spPr>
          <a:xfrm>
            <a:off x="10195560" y="4617720"/>
            <a:ext cx="1828800" cy="1645920"/>
          </a:xfrm>
          <a:prstGeom prst="rect">
            <a:avLst/>
          </a:prstGeom>
          <a:solidFill>
            <a:srgbClr val="FFFFFF"/>
          </a:solidFill>
          <a:ln w="9525">
            <a:solidFill>
              <a:srgbClr val="B8862E"/>
            </a:solidFill>
            <a:prstDash val="solid"/>
          </a:ln>
        </p:spPr>
      </p:sp>
      <p:sp>
        <p:nvSpPr>
          <p:cNvPr id="42" name="Text 40"/>
          <p:cNvSpPr/>
          <p:nvPr/>
        </p:nvSpPr>
        <p:spPr>
          <a:xfrm>
            <a:off x="10195560" y="4709160"/>
            <a:ext cx="1828800" cy="320040"/>
          </a:xfrm>
          <a:prstGeom prst="rect">
            <a:avLst/>
          </a:prstGeom>
          <a:noFill/>
          <a:ln/>
        </p:spPr>
        <p:txBody>
          <a:bodyPr wrap="square" rtlCol="0" anchor="ctr"/>
          <a:lstStyle/>
          <a:p>
            <a:pPr algn="ctr" indent="0" marL="0">
              <a:buNone/>
            </a:pPr>
            <a:r>
              <a:rPr lang="en-US" sz="1000" b="1" dirty="0">
                <a:solidFill>
                  <a:srgbClr val="B8862E"/>
                </a:solidFill>
                <a:latin typeface="Calibri" pitchFamily="34" charset="0"/>
                <a:ea typeface="Calibri" pitchFamily="34" charset="-122"/>
                <a:cs typeface="Calibri" pitchFamily="34" charset="-120"/>
              </a:rPr>
              <a:t>M24</a:t>
            </a:r>
            <a:endParaRPr lang="en-US" sz="1000" dirty="0"/>
          </a:p>
        </p:txBody>
      </p:sp>
      <p:sp>
        <p:nvSpPr>
          <p:cNvPr id="43" name="Text 41"/>
          <p:cNvSpPr/>
          <p:nvPr/>
        </p:nvSpPr>
        <p:spPr>
          <a:xfrm>
            <a:off x="10195560" y="5029200"/>
            <a:ext cx="1828800" cy="640080"/>
          </a:xfrm>
          <a:prstGeom prst="rect">
            <a:avLst/>
          </a:prstGeom>
          <a:noFill/>
          <a:ln/>
        </p:spPr>
        <p:txBody>
          <a:bodyPr wrap="square" rtlCol="0" anchor="ctr"/>
          <a:lstStyle/>
          <a:p>
            <a:pPr algn="ctr" indent="0" marL="0">
              <a:buNone/>
            </a:pPr>
            <a:r>
              <a:rPr lang="en-US" sz="3600" b="1" dirty="0">
                <a:solidFill>
                  <a:srgbClr val="0A2540"/>
                </a:solidFill>
                <a:latin typeface="Georgia" pitchFamily="34" charset="0"/>
                <a:ea typeface="Georgia" pitchFamily="34" charset="-122"/>
                <a:cs typeface="Georgia" pitchFamily="34" charset="-120"/>
              </a:rPr>
              <a:t>8</a:t>
            </a:r>
            <a:endParaRPr lang="en-US" sz="3600" dirty="0"/>
          </a:p>
        </p:txBody>
      </p:sp>
      <p:sp>
        <p:nvSpPr>
          <p:cNvPr id="44" name="Text 42"/>
          <p:cNvSpPr/>
          <p:nvPr/>
        </p:nvSpPr>
        <p:spPr>
          <a:xfrm>
            <a:off x="10195560" y="5623560"/>
            <a:ext cx="1828800" cy="274320"/>
          </a:xfrm>
          <a:prstGeom prst="rect">
            <a:avLst/>
          </a:prstGeom>
          <a:noFill/>
          <a:ln/>
        </p:spPr>
        <p:txBody>
          <a:bodyPr wrap="square" rtlCol="0" anchor="ctr"/>
          <a:lstStyle/>
          <a:p>
            <a:pPr algn="ctr" indent="0" marL="0">
              <a:buNone/>
            </a:pPr>
            <a:r>
              <a:rPr lang="en-US" sz="900" dirty="0">
                <a:solidFill>
                  <a:srgbClr val="5A6470"/>
                </a:solidFill>
                <a:latin typeface="Calibri" pitchFamily="34" charset="0"/>
                <a:ea typeface="Calibri" pitchFamily="34" charset="-122"/>
                <a:cs typeface="Calibri" pitchFamily="34" charset="-120"/>
              </a:rPr>
              <a:t>ETP</a:t>
            </a:r>
            <a:endParaRPr lang="en-US" sz="900" dirty="0"/>
          </a:p>
        </p:txBody>
      </p:sp>
      <p:sp>
        <p:nvSpPr>
          <p:cNvPr id="45" name="Text 43"/>
          <p:cNvSpPr/>
          <p:nvPr/>
        </p:nvSpPr>
        <p:spPr>
          <a:xfrm>
            <a:off x="10195560" y="5897880"/>
            <a:ext cx="1828800" cy="365760"/>
          </a:xfrm>
          <a:prstGeom prst="rect">
            <a:avLst/>
          </a:prstGeom>
          <a:noFill/>
          <a:ln/>
        </p:spPr>
        <p:txBody>
          <a:bodyPr wrap="square" rtlCol="0" anchor="ctr"/>
          <a:lstStyle/>
          <a:p>
            <a:pPr algn="ctr" indent="0" marL="0">
              <a:buNone/>
            </a:pPr>
            <a:r>
              <a:rPr lang="en-US" sz="900" i="1" dirty="0">
                <a:solidFill>
                  <a:srgbClr val="5A6470"/>
                </a:solidFill>
                <a:latin typeface="Calibri" pitchFamily="34" charset="0"/>
                <a:ea typeface="Calibri" pitchFamily="34" charset="-122"/>
                <a:cs typeface="Calibri" pitchFamily="34" charset="-120"/>
              </a:rPr>
              <a:t>+ Mobile Dev · Marketing</a:t>
            </a:r>
            <a:endParaRPr lang="en-US" sz="900" dirty="0"/>
          </a:p>
        </p:txBody>
      </p:sp>
      <p:sp>
        <p:nvSpPr>
          <p:cNvPr id="46" name="Text 44"/>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13  ·  PARTENARIATS</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Notre verrou stratégique.</a:t>
            </a:r>
            <a:endParaRPr lang="en-US" sz="3200" dirty="0"/>
          </a:p>
        </p:txBody>
      </p:sp>
      <p:sp>
        <p:nvSpPr>
          <p:cNvPr id="4" name="Text 2"/>
          <p:cNvSpPr/>
          <p:nvPr/>
        </p:nvSpPr>
        <p:spPr>
          <a:xfrm>
            <a:off x="457200" y="1783080"/>
            <a:ext cx="10972800" cy="1371600"/>
          </a:xfrm>
          <a:prstGeom prst="rect">
            <a:avLst/>
          </a:prstGeom>
          <a:noFill/>
          <a:ln/>
        </p:spPr>
        <p:txBody>
          <a:bodyPr wrap="square" rtlCol="0" anchor="ctr"/>
          <a:lstStyle/>
          <a:p>
            <a:pPr indent="0" marL="0">
              <a:lnSpc>
                <a:spcPct val="140000"/>
              </a:lnSpc>
              <a:buNone/>
            </a:pPr>
            <a:r>
              <a:rPr lang="en-US" sz="1300" dirty="0">
                <a:solidFill>
                  <a:srgbClr val="5A6470"/>
                </a:solidFill>
                <a:latin typeface="Calibri" pitchFamily="34" charset="0"/>
                <a:ea typeface="Calibri" pitchFamily="34" charset="-122"/>
                <a:cs typeface="Calibri" pitchFamily="34" charset="-120"/>
              </a:rPr>
              <a:t>Le partenariat fondateur avec l'Association des Directeurs de Publications des Journaux de Côte d'Ivoire est notre principal verrou concurrentiel. Sans lui, HERALDO PRESS serait une place de marché sans vendeurs. Avec lui, nous disposons immédiatement d'un réseau de médias accrédités, d'une légitimité éditoriale et d'une caution institutionnelle.</a:t>
            </a:r>
            <a:endParaRPr lang="en-US" sz="1300" dirty="0"/>
          </a:p>
        </p:txBody>
      </p:sp>
      <p:sp>
        <p:nvSpPr>
          <p:cNvPr id="5" name="Shape 3"/>
          <p:cNvSpPr/>
          <p:nvPr/>
        </p:nvSpPr>
        <p:spPr>
          <a:xfrm>
            <a:off x="457200" y="3383280"/>
            <a:ext cx="5486400" cy="3017520"/>
          </a:xfrm>
          <a:prstGeom prst="rect">
            <a:avLst/>
          </a:prstGeom>
          <a:solidFill>
            <a:srgbClr val="F7F9FB"/>
          </a:solidFill>
          <a:ln/>
        </p:spPr>
      </p:sp>
      <p:sp>
        <p:nvSpPr>
          <p:cNvPr id="6" name="Text 4"/>
          <p:cNvSpPr/>
          <p:nvPr/>
        </p:nvSpPr>
        <p:spPr>
          <a:xfrm>
            <a:off x="731520" y="3566160"/>
            <a:ext cx="5120640" cy="365760"/>
          </a:xfrm>
          <a:prstGeom prst="rect">
            <a:avLst/>
          </a:prstGeom>
          <a:noFill/>
          <a:ln/>
        </p:spPr>
        <p:txBody>
          <a:bodyPr wrap="square" rtlCol="0" anchor="ctr"/>
          <a:lstStyle/>
          <a:p>
            <a:pPr indent="0" marL="0">
              <a:buNone/>
            </a:pPr>
            <a:r>
              <a:rPr lang="en-US" sz="1000" b="1" spc="300" kern="0" dirty="0">
                <a:solidFill>
                  <a:srgbClr val="B8862E"/>
                </a:solidFill>
                <a:latin typeface="Calibri" pitchFamily="34" charset="0"/>
                <a:ea typeface="Calibri" pitchFamily="34" charset="-122"/>
                <a:cs typeface="Calibri" pitchFamily="34" charset="-120"/>
              </a:rPr>
              <a:t>CE QUE NOUS APPORTONS</a:t>
            </a:r>
            <a:endParaRPr lang="en-US" sz="1000" dirty="0"/>
          </a:p>
        </p:txBody>
      </p:sp>
      <p:sp>
        <p:nvSpPr>
          <p:cNvPr id="7" name="Text 5"/>
          <p:cNvSpPr/>
          <p:nvPr/>
        </p:nvSpPr>
        <p:spPr>
          <a:xfrm>
            <a:off x="822960" y="4023360"/>
            <a:ext cx="4937760" cy="2286000"/>
          </a:xfrm>
          <a:prstGeom prst="rect">
            <a:avLst/>
          </a:prstGeom>
          <a:noFill/>
          <a:ln/>
        </p:spPr>
        <p:txBody>
          <a:bodyPr wrap="square" rtlCol="0" anchor="ctr"/>
          <a:lstStyle/>
          <a:p>
            <a:pPr marL="342900" indent="-342900">
              <a:spcAft>
                <a:spcPts val="800"/>
              </a:spcAft>
              <a:buSzPct val="100000"/>
              <a:buChar char="●"/>
            </a:pPr>
            <a:r>
              <a:rPr lang="en-US" sz="1100" dirty="0">
                <a:solidFill>
                  <a:srgbClr val="0A2540"/>
                </a:solidFill>
                <a:latin typeface="Calibri" pitchFamily="34" charset="0"/>
                <a:ea typeface="Calibri" pitchFamily="34" charset="-122"/>
                <a:cs typeface="Calibri" pitchFamily="34" charset="-120"/>
              </a:rPr>
              <a:t>Commission FCM reversée aux membres</a:t>
            </a:r>
            <a:endParaRPr lang="en-US" sz="1100" dirty="0"/>
          </a:p>
          <a:p>
            <a:pPr marL="342900" indent="-342900">
              <a:spcAft>
                <a:spcPts val="800"/>
              </a:spcAft>
              <a:buSzPct val="100000"/>
              <a:buChar char="●"/>
            </a:pPr>
            <a:r>
              <a:rPr lang="en-US" sz="1100" dirty="0">
                <a:solidFill>
                  <a:srgbClr val="0A2540"/>
                </a:solidFill>
                <a:latin typeface="Calibri" pitchFamily="34" charset="0"/>
                <a:ea typeface="Calibri" pitchFamily="34" charset="-122"/>
                <a:cs typeface="Calibri" pitchFamily="34" charset="-120"/>
              </a:rPr>
              <a:t>Badge Partenaire officiel sur la plateforme</a:t>
            </a:r>
            <a:endParaRPr lang="en-US" sz="1100" dirty="0"/>
          </a:p>
          <a:p>
            <a:pPr marL="342900" indent="-342900">
              <a:spcAft>
                <a:spcPts val="800"/>
              </a:spcAft>
              <a:buSzPct val="100000"/>
              <a:buChar char="●"/>
            </a:pPr>
            <a:r>
              <a:rPr lang="en-US" sz="1100" dirty="0">
                <a:solidFill>
                  <a:srgbClr val="0A2540"/>
                </a:solidFill>
                <a:latin typeface="Calibri" pitchFamily="34" charset="0"/>
                <a:ea typeface="Calibri" pitchFamily="34" charset="-122"/>
                <a:cs typeface="Calibri" pitchFamily="34" charset="-120"/>
              </a:rPr>
              <a:t>Salle AGORA gratuite pour les AG</a:t>
            </a:r>
            <a:endParaRPr lang="en-US" sz="1100" dirty="0"/>
          </a:p>
          <a:p>
            <a:pPr marL="342900" indent="-342900">
              <a:spcAft>
                <a:spcPts val="800"/>
              </a:spcAft>
              <a:buSzPct val="100000"/>
              <a:buChar char="●"/>
            </a:pPr>
            <a:r>
              <a:rPr lang="en-US" sz="1100" dirty="0">
                <a:solidFill>
                  <a:srgbClr val="0A2540"/>
                </a:solidFill>
                <a:latin typeface="Calibri" pitchFamily="34" charset="0"/>
                <a:ea typeface="Calibri" pitchFamily="34" charset="-122"/>
                <a:cs typeface="Calibri" pitchFamily="34" charset="-120"/>
              </a:rPr>
              <a:t>Tableau de bord revenus FCM consolidé</a:t>
            </a:r>
            <a:endParaRPr lang="en-US" sz="1100" dirty="0"/>
          </a:p>
          <a:p>
            <a:pPr marL="342900" indent="-342900">
              <a:spcAft>
                <a:spcPts val="800"/>
              </a:spcAft>
              <a:buSzPct val="100000"/>
              <a:buChar char="●"/>
            </a:pPr>
            <a:r>
              <a:rPr lang="en-US" sz="1100" dirty="0">
                <a:solidFill>
                  <a:srgbClr val="0A2540"/>
                </a:solidFill>
                <a:latin typeface="Calibri" pitchFamily="34" charset="0"/>
                <a:ea typeface="Calibri" pitchFamily="34" charset="-122"/>
                <a:cs typeface="Calibri" pitchFamily="34" charset="-120"/>
              </a:rPr>
              <a:t>Formation gratuite des membres</a:t>
            </a:r>
            <a:endParaRPr lang="en-US" sz="1100" dirty="0"/>
          </a:p>
        </p:txBody>
      </p:sp>
      <p:sp>
        <p:nvSpPr>
          <p:cNvPr id="8" name="Shape 6"/>
          <p:cNvSpPr/>
          <p:nvPr/>
        </p:nvSpPr>
        <p:spPr>
          <a:xfrm>
            <a:off x="6126480" y="3383280"/>
            <a:ext cx="5486400" cy="3017520"/>
          </a:xfrm>
          <a:prstGeom prst="rect">
            <a:avLst/>
          </a:prstGeom>
          <a:solidFill>
            <a:srgbClr val="0A2540"/>
          </a:solidFill>
          <a:ln/>
        </p:spPr>
      </p:sp>
      <p:sp>
        <p:nvSpPr>
          <p:cNvPr id="9" name="Text 7"/>
          <p:cNvSpPr/>
          <p:nvPr/>
        </p:nvSpPr>
        <p:spPr>
          <a:xfrm>
            <a:off x="6400800" y="3566160"/>
            <a:ext cx="5120640" cy="365760"/>
          </a:xfrm>
          <a:prstGeom prst="rect">
            <a:avLst/>
          </a:prstGeom>
          <a:noFill/>
          <a:ln/>
        </p:spPr>
        <p:txBody>
          <a:bodyPr wrap="square" rtlCol="0" anchor="ctr"/>
          <a:lstStyle/>
          <a:p>
            <a:pPr indent="0" marL="0">
              <a:buNone/>
            </a:pPr>
            <a:r>
              <a:rPr lang="en-US" sz="1000" b="1" spc="300" kern="0" dirty="0">
                <a:solidFill>
                  <a:srgbClr val="E5B85C"/>
                </a:solidFill>
                <a:latin typeface="Calibri" pitchFamily="34" charset="0"/>
                <a:ea typeface="Calibri" pitchFamily="34" charset="-122"/>
                <a:cs typeface="Calibri" pitchFamily="34" charset="-120"/>
              </a:rPr>
              <a:t>CE QU'ELLE NOUS APPORTE</a:t>
            </a:r>
            <a:endParaRPr lang="en-US" sz="1000" dirty="0"/>
          </a:p>
        </p:txBody>
      </p:sp>
      <p:sp>
        <p:nvSpPr>
          <p:cNvPr id="10" name="Text 8"/>
          <p:cNvSpPr/>
          <p:nvPr/>
        </p:nvSpPr>
        <p:spPr>
          <a:xfrm>
            <a:off x="6492240" y="4023360"/>
            <a:ext cx="4937760" cy="2286000"/>
          </a:xfrm>
          <a:prstGeom prst="rect">
            <a:avLst/>
          </a:prstGeom>
          <a:noFill/>
          <a:ln/>
        </p:spPr>
        <p:txBody>
          <a:bodyPr wrap="square" rtlCol="0" anchor="ctr"/>
          <a:lstStyle/>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Réseau de médias embarqués dès J1</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Crédibilité éditoriale auprès institutions</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Caution réglementaire CNPCI / HACA</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Exclusivité réseau médias CI sur 12 mois</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Participation gouvernance éditoriale</a:t>
            </a:r>
            <a:endParaRPr lang="en-US" sz="1100" dirty="0"/>
          </a:p>
        </p:txBody>
      </p:sp>
      <p:sp>
        <p:nvSpPr>
          <p:cNvPr id="11" name="Text 9"/>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14  ·  RISQUES</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Risques identifiés et parades activées.</a:t>
            </a:r>
            <a:endParaRPr lang="en-US" sz="3200" dirty="0"/>
          </a:p>
        </p:txBody>
      </p:sp>
      <p:sp>
        <p:nvSpPr>
          <p:cNvPr id="4" name="Shape 2"/>
          <p:cNvSpPr/>
          <p:nvPr/>
        </p:nvSpPr>
        <p:spPr>
          <a:xfrm>
            <a:off x="457200" y="2011680"/>
            <a:ext cx="4114800" cy="457200"/>
          </a:xfrm>
          <a:prstGeom prst="rect">
            <a:avLst/>
          </a:prstGeom>
          <a:solidFill>
            <a:srgbClr val="0A2540"/>
          </a:solidFill>
          <a:ln/>
        </p:spPr>
      </p:sp>
      <p:sp>
        <p:nvSpPr>
          <p:cNvPr id="5" name="Text 3"/>
          <p:cNvSpPr/>
          <p:nvPr/>
        </p:nvSpPr>
        <p:spPr>
          <a:xfrm>
            <a:off x="548640" y="2011680"/>
            <a:ext cx="3931920" cy="457200"/>
          </a:xfrm>
          <a:prstGeom prst="rect">
            <a:avLst/>
          </a:prstGeom>
          <a:noFill/>
          <a:ln/>
        </p:spPr>
        <p:txBody>
          <a:bodyPr wrap="square"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Risque</a:t>
            </a:r>
            <a:endParaRPr lang="en-US" sz="1000" dirty="0"/>
          </a:p>
        </p:txBody>
      </p:sp>
      <p:sp>
        <p:nvSpPr>
          <p:cNvPr id="6" name="Shape 4"/>
          <p:cNvSpPr/>
          <p:nvPr/>
        </p:nvSpPr>
        <p:spPr>
          <a:xfrm>
            <a:off x="4572000" y="2011680"/>
            <a:ext cx="1188720" cy="457200"/>
          </a:xfrm>
          <a:prstGeom prst="rect">
            <a:avLst/>
          </a:prstGeom>
          <a:solidFill>
            <a:srgbClr val="0A2540"/>
          </a:solidFill>
          <a:ln/>
        </p:spPr>
      </p:sp>
      <p:sp>
        <p:nvSpPr>
          <p:cNvPr id="7" name="Text 5"/>
          <p:cNvSpPr/>
          <p:nvPr/>
        </p:nvSpPr>
        <p:spPr>
          <a:xfrm>
            <a:off x="4663440" y="2011680"/>
            <a:ext cx="100584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Probabilité</a:t>
            </a:r>
            <a:endParaRPr lang="en-US" sz="1000" dirty="0"/>
          </a:p>
        </p:txBody>
      </p:sp>
      <p:sp>
        <p:nvSpPr>
          <p:cNvPr id="8" name="Shape 6"/>
          <p:cNvSpPr/>
          <p:nvPr/>
        </p:nvSpPr>
        <p:spPr>
          <a:xfrm>
            <a:off x="5760720" y="2011680"/>
            <a:ext cx="1188720" cy="457200"/>
          </a:xfrm>
          <a:prstGeom prst="rect">
            <a:avLst/>
          </a:prstGeom>
          <a:solidFill>
            <a:srgbClr val="0A2540"/>
          </a:solidFill>
          <a:ln/>
        </p:spPr>
      </p:sp>
      <p:sp>
        <p:nvSpPr>
          <p:cNvPr id="9" name="Text 7"/>
          <p:cNvSpPr/>
          <p:nvPr/>
        </p:nvSpPr>
        <p:spPr>
          <a:xfrm>
            <a:off x="5852160" y="2011680"/>
            <a:ext cx="100584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10" name="Shape 8"/>
          <p:cNvSpPr/>
          <p:nvPr/>
        </p:nvSpPr>
        <p:spPr>
          <a:xfrm>
            <a:off x="6949440" y="2011680"/>
            <a:ext cx="5212080" cy="457200"/>
          </a:xfrm>
          <a:prstGeom prst="rect">
            <a:avLst/>
          </a:prstGeom>
          <a:solidFill>
            <a:srgbClr val="0A2540"/>
          </a:solidFill>
          <a:ln/>
        </p:spPr>
      </p:sp>
      <p:sp>
        <p:nvSpPr>
          <p:cNvPr id="11" name="Text 9"/>
          <p:cNvSpPr/>
          <p:nvPr/>
        </p:nvSpPr>
        <p:spPr>
          <a:xfrm>
            <a:off x="7040880" y="2011680"/>
            <a:ext cx="5029200" cy="457200"/>
          </a:xfrm>
          <a:prstGeom prst="rect">
            <a:avLst/>
          </a:prstGeom>
          <a:noFill/>
          <a:ln/>
        </p:spPr>
        <p:txBody>
          <a:bodyPr wrap="square"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Parade activée</a:t>
            </a:r>
            <a:endParaRPr lang="en-US" sz="1000" dirty="0"/>
          </a:p>
        </p:txBody>
      </p:sp>
      <p:sp>
        <p:nvSpPr>
          <p:cNvPr id="12" name="Shape 10"/>
          <p:cNvSpPr/>
          <p:nvPr/>
        </p:nvSpPr>
        <p:spPr>
          <a:xfrm>
            <a:off x="457200" y="2468880"/>
            <a:ext cx="4114800" cy="594360"/>
          </a:xfrm>
          <a:prstGeom prst="rect">
            <a:avLst/>
          </a:prstGeom>
          <a:solidFill>
            <a:srgbClr val="F7F9FB"/>
          </a:solidFill>
          <a:ln/>
        </p:spPr>
      </p:sp>
      <p:sp>
        <p:nvSpPr>
          <p:cNvPr id="13" name="Text 11"/>
          <p:cNvSpPr/>
          <p:nvPr/>
        </p:nvSpPr>
        <p:spPr>
          <a:xfrm>
            <a:off x="548640" y="2468880"/>
            <a:ext cx="393192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Réseau médias insuffisant au démarrage</a:t>
            </a:r>
            <a:endParaRPr lang="en-US" sz="1000" dirty="0"/>
          </a:p>
        </p:txBody>
      </p:sp>
      <p:sp>
        <p:nvSpPr>
          <p:cNvPr id="14" name="Shape 12"/>
          <p:cNvSpPr/>
          <p:nvPr/>
        </p:nvSpPr>
        <p:spPr>
          <a:xfrm>
            <a:off x="4572000" y="2468880"/>
            <a:ext cx="1188720" cy="594360"/>
          </a:xfrm>
          <a:prstGeom prst="rect">
            <a:avLst/>
          </a:prstGeom>
          <a:solidFill>
            <a:srgbClr val="F7F9FB"/>
          </a:solidFill>
          <a:ln/>
        </p:spPr>
      </p:sp>
      <p:sp>
        <p:nvSpPr>
          <p:cNvPr id="15" name="Text 13"/>
          <p:cNvSpPr/>
          <p:nvPr/>
        </p:nvSpPr>
        <p:spPr>
          <a:xfrm>
            <a:off x="4663440" y="2468880"/>
            <a:ext cx="1005840" cy="594360"/>
          </a:xfrm>
          <a:prstGeom prst="rect">
            <a:avLst/>
          </a:prstGeom>
          <a:noFill/>
          <a:ln/>
        </p:spPr>
        <p:txBody>
          <a:bodyPr wrap="square" rtlCol="0" anchor="ctr"/>
          <a:lstStyle/>
          <a:p>
            <a:pPr algn="ctr" indent="0" marL="0">
              <a:buNone/>
            </a:pPr>
            <a:r>
              <a:rPr lang="en-US" sz="1100" b="1" dirty="0">
                <a:solidFill>
                  <a:srgbClr val="1E8449"/>
                </a:solidFill>
                <a:latin typeface="Calibri" pitchFamily="34" charset="0"/>
                <a:ea typeface="Calibri" pitchFamily="34" charset="-122"/>
                <a:cs typeface="Calibri" pitchFamily="34" charset="-120"/>
              </a:rPr>
              <a:t>Faible</a:t>
            </a:r>
            <a:endParaRPr lang="en-US" sz="1100" dirty="0"/>
          </a:p>
        </p:txBody>
      </p:sp>
      <p:sp>
        <p:nvSpPr>
          <p:cNvPr id="16" name="Shape 14"/>
          <p:cNvSpPr/>
          <p:nvPr/>
        </p:nvSpPr>
        <p:spPr>
          <a:xfrm>
            <a:off x="5760720" y="2468880"/>
            <a:ext cx="1188720" cy="594360"/>
          </a:xfrm>
          <a:prstGeom prst="rect">
            <a:avLst/>
          </a:prstGeom>
          <a:solidFill>
            <a:srgbClr val="F7F9FB"/>
          </a:solidFill>
          <a:ln/>
        </p:spPr>
      </p:sp>
      <p:sp>
        <p:nvSpPr>
          <p:cNvPr id="17" name="Text 15"/>
          <p:cNvSpPr/>
          <p:nvPr/>
        </p:nvSpPr>
        <p:spPr>
          <a:xfrm>
            <a:off x="5852160" y="2468880"/>
            <a:ext cx="1005840" cy="59436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Fort</a:t>
            </a:r>
            <a:endParaRPr lang="en-US" sz="1100" dirty="0"/>
          </a:p>
        </p:txBody>
      </p:sp>
      <p:sp>
        <p:nvSpPr>
          <p:cNvPr id="18" name="Shape 16"/>
          <p:cNvSpPr/>
          <p:nvPr/>
        </p:nvSpPr>
        <p:spPr>
          <a:xfrm>
            <a:off x="6949440" y="2468880"/>
            <a:ext cx="5212080" cy="594360"/>
          </a:xfrm>
          <a:prstGeom prst="rect">
            <a:avLst/>
          </a:prstGeom>
          <a:solidFill>
            <a:srgbClr val="F7F9FB"/>
          </a:solidFill>
          <a:ln/>
        </p:spPr>
      </p:sp>
      <p:sp>
        <p:nvSpPr>
          <p:cNvPr id="19" name="Text 17"/>
          <p:cNvSpPr/>
          <p:nvPr/>
        </p:nvSpPr>
        <p:spPr>
          <a:xfrm>
            <a:off x="7040880" y="2468880"/>
            <a:ext cx="502920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Partenariat fondateur Association — réseau opérationnel J1</a:t>
            </a:r>
            <a:endParaRPr lang="en-US" sz="1000" dirty="0"/>
          </a:p>
        </p:txBody>
      </p:sp>
      <p:sp>
        <p:nvSpPr>
          <p:cNvPr id="20" name="Text 18"/>
          <p:cNvSpPr/>
          <p:nvPr/>
        </p:nvSpPr>
        <p:spPr>
          <a:xfrm>
            <a:off x="548640" y="3063240"/>
            <a:ext cx="393192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Confusion publireportage / information</a:t>
            </a:r>
            <a:endParaRPr lang="en-US" sz="1000" dirty="0"/>
          </a:p>
        </p:txBody>
      </p:sp>
      <p:sp>
        <p:nvSpPr>
          <p:cNvPr id="21" name="Text 19"/>
          <p:cNvSpPr/>
          <p:nvPr/>
        </p:nvSpPr>
        <p:spPr>
          <a:xfrm>
            <a:off x="4663440" y="3063240"/>
            <a:ext cx="1005840" cy="594360"/>
          </a:xfrm>
          <a:prstGeom prst="rect">
            <a:avLst/>
          </a:prstGeom>
          <a:noFill/>
          <a:ln/>
        </p:spPr>
        <p:txBody>
          <a:bodyPr wrap="square" rtlCol="0" anchor="ctr"/>
          <a:lstStyle/>
          <a:p>
            <a:pPr algn="ctr" indent="0" marL="0">
              <a:buNone/>
            </a:pPr>
            <a:r>
              <a:rPr lang="en-US" sz="1100" b="1" dirty="0">
                <a:solidFill>
                  <a:srgbClr val="D68910"/>
                </a:solidFill>
                <a:latin typeface="Calibri" pitchFamily="34" charset="0"/>
                <a:ea typeface="Calibri" pitchFamily="34" charset="-122"/>
                <a:cs typeface="Calibri" pitchFamily="34" charset="-120"/>
              </a:rPr>
              <a:t>Moyen</a:t>
            </a:r>
            <a:endParaRPr lang="en-US" sz="1100" dirty="0"/>
          </a:p>
        </p:txBody>
      </p:sp>
      <p:sp>
        <p:nvSpPr>
          <p:cNvPr id="22" name="Text 20"/>
          <p:cNvSpPr/>
          <p:nvPr/>
        </p:nvSpPr>
        <p:spPr>
          <a:xfrm>
            <a:off x="5852160" y="3063240"/>
            <a:ext cx="1005840" cy="59436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Fort</a:t>
            </a:r>
            <a:endParaRPr lang="en-US" sz="1100" dirty="0"/>
          </a:p>
        </p:txBody>
      </p:sp>
      <p:sp>
        <p:nvSpPr>
          <p:cNvPr id="23" name="Text 21"/>
          <p:cNvSpPr/>
          <p:nvPr/>
        </p:nvSpPr>
        <p:spPr>
          <a:xfrm>
            <a:off x="7040880" y="3063240"/>
            <a:ext cx="502920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Charte éditoriale + mention obligatoire FCM + comité paritaire</a:t>
            </a:r>
            <a:endParaRPr lang="en-US" sz="1000" dirty="0"/>
          </a:p>
        </p:txBody>
      </p:sp>
      <p:sp>
        <p:nvSpPr>
          <p:cNvPr id="24" name="Shape 22"/>
          <p:cNvSpPr/>
          <p:nvPr/>
        </p:nvSpPr>
        <p:spPr>
          <a:xfrm>
            <a:off x="457200" y="3657600"/>
            <a:ext cx="4114800" cy="594360"/>
          </a:xfrm>
          <a:prstGeom prst="rect">
            <a:avLst/>
          </a:prstGeom>
          <a:solidFill>
            <a:srgbClr val="F7F9FB"/>
          </a:solidFill>
          <a:ln/>
        </p:spPr>
      </p:sp>
      <p:sp>
        <p:nvSpPr>
          <p:cNvPr id="25" name="Text 23"/>
          <p:cNvSpPr/>
          <p:nvPr/>
        </p:nvSpPr>
        <p:spPr>
          <a:xfrm>
            <a:off x="548640" y="3657600"/>
            <a:ext cx="393192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Résistance des élus au changement</a:t>
            </a:r>
            <a:endParaRPr lang="en-US" sz="1000" dirty="0"/>
          </a:p>
        </p:txBody>
      </p:sp>
      <p:sp>
        <p:nvSpPr>
          <p:cNvPr id="26" name="Shape 24"/>
          <p:cNvSpPr/>
          <p:nvPr/>
        </p:nvSpPr>
        <p:spPr>
          <a:xfrm>
            <a:off x="4572000" y="3657600"/>
            <a:ext cx="1188720" cy="594360"/>
          </a:xfrm>
          <a:prstGeom prst="rect">
            <a:avLst/>
          </a:prstGeom>
          <a:solidFill>
            <a:srgbClr val="F7F9FB"/>
          </a:solidFill>
          <a:ln/>
        </p:spPr>
      </p:sp>
      <p:sp>
        <p:nvSpPr>
          <p:cNvPr id="27" name="Text 25"/>
          <p:cNvSpPr/>
          <p:nvPr/>
        </p:nvSpPr>
        <p:spPr>
          <a:xfrm>
            <a:off x="4663440" y="3657600"/>
            <a:ext cx="1005840" cy="594360"/>
          </a:xfrm>
          <a:prstGeom prst="rect">
            <a:avLst/>
          </a:prstGeom>
          <a:noFill/>
          <a:ln/>
        </p:spPr>
        <p:txBody>
          <a:bodyPr wrap="square" rtlCol="0" anchor="ctr"/>
          <a:lstStyle/>
          <a:p>
            <a:pPr algn="ctr" indent="0" marL="0">
              <a:buNone/>
            </a:pPr>
            <a:r>
              <a:rPr lang="en-US" sz="1100" b="1" dirty="0">
                <a:solidFill>
                  <a:srgbClr val="D68910"/>
                </a:solidFill>
                <a:latin typeface="Calibri" pitchFamily="34" charset="0"/>
                <a:ea typeface="Calibri" pitchFamily="34" charset="-122"/>
                <a:cs typeface="Calibri" pitchFamily="34" charset="-120"/>
              </a:rPr>
              <a:t>Moyen</a:t>
            </a:r>
            <a:endParaRPr lang="en-US" sz="1100" dirty="0"/>
          </a:p>
        </p:txBody>
      </p:sp>
      <p:sp>
        <p:nvSpPr>
          <p:cNvPr id="28" name="Shape 26"/>
          <p:cNvSpPr/>
          <p:nvPr/>
        </p:nvSpPr>
        <p:spPr>
          <a:xfrm>
            <a:off x="5760720" y="3657600"/>
            <a:ext cx="1188720" cy="594360"/>
          </a:xfrm>
          <a:prstGeom prst="rect">
            <a:avLst/>
          </a:prstGeom>
          <a:solidFill>
            <a:srgbClr val="F7F9FB"/>
          </a:solidFill>
          <a:ln/>
        </p:spPr>
      </p:sp>
      <p:sp>
        <p:nvSpPr>
          <p:cNvPr id="29" name="Text 27"/>
          <p:cNvSpPr/>
          <p:nvPr/>
        </p:nvSpPr>
        <p:spPr>
          <a:xfrm>
            <a:off x="5852160" y="3657600"/>
            <a:ext cx="1005840" cy="594360"/>
          </a:xfrm>
          <a:prstGeom prst="rect">
            <a:avLst/>
          </a:prstGeom>
          <a:noFill/>
          <a:ln/>
        </p:spPr>
        <p:txBody>
          <a:bodyPr wrap="square" rtlCol="0" anchor="ctr"/>
          <a:lstStyle/>
          <a:p>
            <a:pPr algn="ctr" indent="0" marL="0">
              <a:buNone/>
            </a:pPr>
            <a:r>
              <a:rPr lang="en-US" sz="1100" b="1" dirty="0">
                <a:solidFill>
                  <a:srgbClr val="D68910"/>
                </a:solidFill>
                <a:latin typeface="Calibri" pitchFamily="34" charset="0"/>
                <a:ea typeface="Calibri" pitchFamily="34" charset="-122"/>
                <a:cs typeface="Calibri" pitchFamily="34" charset="-120"/>
              </a:rPr>
              <a:t>Moyen</a:t>
            </a:r>
            <a:endParaRPr lang="en-US" sz="1100" dirty="0"/>
          </a:p>
        </p:txBody>
      </p:sp>
      <p:sp>
        <p:nvSpPr>
          <p:cNvPr id="30" name="Shape 28"/>
          <p:cNvSpPr/>
          <p:nvPr/>
        </p:nvSpPr>
        <p:spPr>
          <a:xfrm>
            <a:off x="6949440" y="3657600"/>
            <a:ext cx="5212080" cy="594360"/>
          </a:xfrm>
          <a:prstGeom prst="rect">
            <a:avLst/>
          </a:prstGeom>
          <a:solidFill>
            <a:srgbClr val="F7F9FB"/>
          </a:solidFill>
          <a:ln/>
        </p:spPr>
      </p:sp>
      <p:sp>
        <p:nvSpPr>
          <p:cNvPr id="31" name="Text 29"/>
          <p:cNvSpPr/>
          <p:nvPr/>
        </p:nvSpPr>
        <p:spPr>
          <a:xfrm>
            <a:off x="7040880" y="3657600"/>
            <a:ext cx="502920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Démo gratuite 30 jours + premier événement offert + ROI mesurable</a:t>
            </a:r>
            <a:endParaRPr lang="en-US" sz="1000" dirty="0"/>
          </a:p>
        </p:txBody>
      </p:sp>
      <p:sp>
        <p:nvSpPr>
          <p:cNvPr id="32" name="Text 30"/>
          <p:cNvSpPr/>
          <p:nvPr/>
        </p:nvSpPr>
        <p:spPr>
          <a:xfrm>
            <a:off x="548640" y="4251960"/>
            <a:ext cx="393192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Problèmes réglementaires CNPCI / HACA</a:t>
            </a:r>
            <a:endParaRPr lang="en-US" sz="1000" dirty="0"/>
          </a:p>
        </p:txBody>
      </p:sp>
      <p:sp>
        <p:nvSpPr>
          <p:cNvPr id="33" name="Text 31"/>
          <p:cNvSpPr/>
          <p:nvPr/>
        </p:nvSpPr>
        <p:spPr>
          <a:xfrm>
            <a:off x="4663440" y="4251960"/>
            <a:ext cx="1005840" cy="594360"/>
          </a:xfrm>
          <a:prstGeom prst="rect">
            <a:avLst/>
          </a:prstGeom>
          <a:noFill/>
          <a:ln/>
        </p:spPr>
        <p:txBody>
          <a:bodyPr wrap="square" rtlCol="0" anchor="ctr"/>
          <a:lstStyle/>
          <a:p>
            <a:pPr algn="ctr" indent="0" marL="0">
              <a:buNone/>
            </a:pPr>
            <a:r>
              <a:rPr lang="en-US" sz="1100" b="1" dirty="0">
                <a:solidFill>
                  <a:srgbClr val="1E8449"/>
                </a:solidFill>
                <a:latin typeface="Calibri" pitchFamily="34" charset="0"/>
                <a:ea typeface="Calibri" pitchFamily="34" charset="-122"/>
                <a:cs typeface="Calibri" pitchFamily="34" charset="-120"/>
              </a:rPr>
              <a:t>Faible</a:t>
            </a:r>
            <a:endParaRPr lang="en-US" sz="1100" dirty="0"/>
          </a:p>
        </p:txBody>
      </p:sp>
      <p:sp>
        <p:nvSpPr>
          <p:cNvPr id="34" name="Text 32"/>
          <p:cNvSpPr/>
          <p:nvPr/>
        </p:nvSpPr>
        <p:spPr>
          <a:xfrm>
            <a:off x="5852160" y="4251960"/>
            <a:ext cx="1005840" cy="594360"/>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Fort</a:t>
            </a:r>
            <a:endParaRPr lang="en-US" sz="1100" dirty="0"/>
          </a:p>
        </p:txBody>
      </p:sp>
      <p:sp>
        <p:nvSpPr>
          <p:cNvPr id="35" name="Text 33"/>
          <p:cNvSpPr/>
          <p:nvPr/>
        </p:nvSpPr>
        <p:spPr>
          <a:xfrm>
            <a:off x="7040880" y="4251960"/>
            <a:ext cx="502920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Consultation juridique préalable + partenariat régulateurs</a:t>
            </a:r>
            <a:endParaRPr lang="en-US" sz="1000" dirty="0"/>
          </a:p>
        </p:txBody>
      </p:sp>
      <p:sp>
        <p:nvSpPr>
          <p:cNvPr id="36" name="Shape 34"/>
          <p:cNvSpPr/>
          <p:nvPr/>
        </p:nvSpPr>
        <p:spPr>
          <a:xfrm>
            <a:off x="457200" y="4846320"/>
            <a:ext cx="4114800" cy="594360"/>
          </a:xfrm>
          <a:prstGeom prst="rect">
            <a:avLst/>
          </a:prstGeom>
          <a:solidFill>
            <a:srgbClr val="F7F9FB"/>
          </a:solidFill>
          <a:ln/>
        </p:spPr>
      </p:sp>
      <p:sp>
        <p:nvSpPr>
          <p:cNvPr id="37" name="Text 35"/>
          <p:cNvSpPr/>
          <p:nvPr/>
        </p:nvSpPr>
        <p:spPr>
          <a:xfrm>
            <a:off x="548640" y="4846320"/>
            <a:ext cx="393192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Difficulté pénétration UEMOA</a:t>
            </a:r>
            <a:endParaRPr lang="en-US" sz="1000" dirty="0"/>
          </a:p>
        </p:txBody>
      </p:sp>
      <p:sp>
        <p:nvSpPr>
          <p:cNvPr id="38" name="Shape 36"/>
          <p:cNvSpPr/>
          <p:nvPr/>
        </p:nvSpPr>
        <p:spPr>
          <a:xfrm>
            <a:off x="4572000" y="4846320"/>
            <a:ext cx="1188720" cy="594360"/>
          </a:xfrm>
          <a:prstGeom prst="rect">
            <a:avLst/>
          </a:prstGeom>
          <a:solidFill>
            <a:srgbClr val="F7F9FB"/>
          </a:solidFill>
          <a:ln/>
        </p:spPr>
      </p:sp>
      <p:sp>
        <p:nvSpPr>
          <p:cNvPr id="39" name="Text 37"/>
          <p:cNvSpPr/>
          <p:nvPr/>
        </p:nvSpPr>
        <p:spPr>
          <a:xfrm>
            <a:off x="4663440" y="4846320"/>
            <a:ext cx="1005840" cy="594360"/>
          </a:xfrm>
          <a:prstGeom prst="rect">
            <a:avLst/>
          </a:prstGeom>
          <a:noFill/>
          <a:ln/>
        </p:spPr>
        <p:txBody>
          <a:bodyPr wrap="square" rtlCol="0" anchor="ctr"/>
          <a:lstStyle/>
          <a:p>
            <a:pPr algn="ctr" indent="0" marL="0">
              <a:buNone/>
            </a:pPr>
            <a:r>
              <a:rPr lang="en-US" sz="1100" b="1" dirty="0">
                <a:solidFill>
                  <a:srgbClr val="D68910"/>
                </a:solidFill>
                <a:latin typeface="Calibri" pitchFamily="34" charset="0"/>
                <a:ea typeface="Calibri" pitchFamily="34" charset="-122"/>
                <a:cs typeface="Calibri" pitchFamily="34" charset="-120"/>
              </a:rPr>
              <a:t>Moyen</a:t>
            </a:r>
            <a:endParaRPr lang="en-US" sz="1100" dirty="0"/>
          </a:p>
        </p:txBody>
      </p:sp>
      <p:sp>
        <p:nvSpPr>
          <p:cNvPr id="40" name="Shape 38"/>
          <p:cNvSpPr/>
          <p:nvPr/>
        </p:nvSpPr>
        <p:spPr>
          <a:xfrm>
            <a:off x="5760720" y="4846320"/>
            <a:ext cx="1188720" cy="594360"/>
          </a:xfrm>
          <a:prstGeom prst="rect">
            <a:avLst/>
          </a:prstGeom>
          <a:solidFill>
            <a:srgbClr val="F7F9FB"/>
          </a:solidFill>
          <a:ln/>
        </p:spPr>
      </p:sp>
      <p:sp>
        <p:nvSpPr>
          <p:cNvPr id="41" name="Text 39"/>
          <p:cNvSpPr/>
          <p:nvPr/>
        </p:nvSpPr>
        <p:spPr>
          <a:xfrm>
            <a:off x="5852160" y="4846320"/>
            <a:ext cx="1005840" cy="594360"/>
          </a:xfrm>
          <a:prstGeom prst="rect">
            <a:avLst/>
          </a:prstGeom>
          <a:noFill/>
          <a:ln/>
        </p:spPr>
        <p:txBody>
          <a:bodyPr wrap="square" rtlCol="0" anchor="ctr"/>
          <a:lstStyle/>
          <a:p>
            <a:pPr algn="ctr" indent="0" marL="0">
              <a:buNone/>
            </a:pPr>
            <a:r>
              <a:rPr lang="en-US" sz="1100" b="1" dirty="0">
                <a:solidFill>
                  <a:srgbClr val="D68910"/>
                </a:solidFill>
                <a:latin typeface="Calibri" pitchFamily="34" charset="0"/>
                <a:ea typeface="Calibri" pitchFamily="34" charset="-122"/>
                <a:cs typeface="Calibri" pitchFamily="34" charset="-120"/>
              </a:rPr>
              <a:t>Moyen</a:t>
            </a:r>
            <a:endParaRPr lang="en-US" sz="1100" dirty="0"/>
          </a:p>
        </p:txBody>
      </p:sp>
      <p:sp>
        <p:nvSpPr>
          <p:cNvPr id="42" name="Shape 40"/>
          <p:cNvSpPr/>
          <p:nvPr/>
        </p:nvSpPr>
        <p:spPr>
          <a:xfrm>
            <a:off x="6949440" y="4846320"/>
            <a:ext cx="5212080" cy="594360"/>
          </a:xfrm>
          <a:prstGeom prst="rect">
            <a:avLst/>
          </a:prstGeom>
          <a:solidFill>
            <a:srgbClr val="F7F9FB"/>
          </a:solidFill>
          <a:ln/>
        </p:spPr>
      </p:sp>
      <p:sp>
        <p:nvSpPr>
          <p:cNvPr id="43" name="Text 41"/>
          <p:cNvSpPr/>
          <p:nvPr/>
        </p:nvSpPr>
        <p:spPr>
          <a:xfrm>
            <a:off x="7040880" y="4846320"/>
            <a:ext cx="502920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CI d'abord, partenaires locaux avant chaque marché</a:t>
            </a:r>
            <a:endParaRPr lang="en-US" sz="1000" dirty="0"/>
          </a:p>
        </p:txBody>
      </p:sp>
      <p:sp>
        <p:nvSpPr>
          <p:cNvPr id="44" name="Text 42"/>
          <p:cNvSpPr/>
          <p:nvPr/>
        </p:nvSpPr>
        <p:spPr>
          <a:xfrm>
            <a:off x="548640" y="5440680"/>
            <a:ext cx="393192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Copie par acteur étranger mieux financé</a:t>
            </a:r>
            <a:endParaRPr lang="en-US" sz="1000" dirty="0"/>
          </a:p>
        </p:txBody>
      </p:sp>
      <p:sp>
        <p:nvSpPr>
          <p:cNvPr id="45" name="Text 43"/>
          <p:cNvSpPr/>
          <p:nvPr/>
        </p:nvSpPr>
        <p:spPr>
          <a:xfrm>
            <a:off x="4663440" y="5440680"/>
            <a:ext cx="1005840" cy="594360"/>
          </a:xfrm>
          <a:prstGeom prst="rect">
            <a:avLst/>
          </a:prstGeom>
          <a:noFill/>
          <a:ln/>
        </p:spPr>
        <p:txBody>
          <a:bodyPr wrap="square" rtlCol="0" anchor="ctr"/>
          <a:lstStyle/>
          <a:p>
            <a:pPr algn="ctr" indent="0" marL="0">
              <a:buNone/>
            </a:pPr>
            <a:r>
              <a:rPr lang="en-US" sz="1100" b="1" dirty="0">
                <a:solidFill>
                  <a:srgbClr val="1E8449"/>
                </a:solidFill>
                <a:latin typeface="Calibri" pitchFamily="34" charset="0"/>
                <a:ea typeface="Calibri" pitchFamily="34" charset="-122"/>
                <a:cs typeface="Calibri" pitchFamily="34" charset="-120"/>
              </a:rPr>
              <a:t>Faible</a:t>
            </a:r>
            <a:endParaRPr lang="en-US" sz="1100" dirty="0"/>
          </a:p>
        </p:txBody>
      </p:sp>
      <p:sp>
        <p:nvSpPr>
          <p:cNvPr id="46" name="Text 44"/>
          <p:cNvSpPr/>
          <p:nvPr/>
        </p:nvSpPr>
        <p:spPr>
          <a:xfrm>
            <a:off x="5852160" y="5440680"/>
            <a:ext cx="1005840" cy="594360"/>
          </a:xfrm>
          <a:prstGeom prst="rect">
            <a:avLst/>
          </a:prstGeom>
          <a:noFill/>
          <a:ln/>
        </p:spPr>
        <p:txBody>
          <a:bodyPr wrap="square" rtlCol="0" anchor="ctr"/>
          <a:lstStyle/>
          <a:p>
            <a:pPr algn="ctr" indent="0" marL="0">
              <a:buNone/>
            </a:pPr>
            <a:r>
              <a:rPr lang="en-US" sz="1100" b="1" dirty="0">
                <a:solidFill>
                  <a:srgbClr val="D68910"/>
                </a:solidFill>
                <a:latin typeface="Calibri" pitchFamily="34" charset="0"/>
                <a:ea typeface="Calibri" pitchFamily="34" charset="-122"/>
                <a:cs typeface="Calibri" pitchFamily="34" charset="-120"/>
              </a:rPr>
              <a:t>Moyen</a:t>
            </a:r>
            <a:endParaRPr lang="en-US" sz="1100" dirty="0"/>
          </a:p>
        </p:txBody>
      </p:sp>
      <p:sp>
        <p:nvSpPr>
          <p:cNvPr id="47" name="Text 45"/>
          <p:cNvSpPr/>
          <p:nvPr/>
        </p:nvSpPr>
        <p:spPr>
          <a:xfrm>
            <a:off x="7040880" y="5440680"/>
            <a:ext cx="5029200" cy="594360"/>
          </a:xfrm>
          <a:prstGeom prst="rect">
            <a:avLst/>
          </a:prstGeom>
          <a:noFill/>
          <a:ln/>
        </p:spPr>
        <p:txBody>
          <a:bodyPr wrap="square" rtlCol="0" anchor="ctr"/>
          <a:lstStyle/>
          <a:p>
            <a:pPr algn="l" indent="0" marL="0">
              <a:buNone/>
            </a:pPr>
            <a:r>
              <a:rPr lang="en-US" sz="1000" dirty="0">
                <a:solidFill>
                  <a:srgbClr val="5A6470"/>
                </a:solidFill>
                <a:latin typeface="Calibri" pitchFamily="34" charset="0"/>
                <a:ea typeface="Calibri" pitchFamily="34" charset="-122"/>
                <a:cs typeface="Calibri" pitchFamily="34" charset="-120"/>
              </a:rPr>
              <a:t>Partenariat Association incopiable + base RÉSEAU = barrière</a:t>
            </a:r>
            <a:endParaRPr lang="en-US" sz="1000" dirty="0"/>
          </a:p>
        </p:txBody>
      </p:sp>
      <p:sp>
        <p:nvSpPr>
          <p:cNvPr id="48" name="Text 46"/>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E5B85C"/>
                </a:solidFill>
                <a:latin typeface="Calibri" pitchFamily="34" charset="0"/>
                <a:ea typeface="Calibri" pitchFamily="34" charset="-122"/>
                <a:cs typeface="Calibri" pitchFamily="34" charset="-120"/>
              </a:rPr>
              <a:t>15  ·  L'INVESTISSEMENT</a:t>
            </a:r>
            <a:endParaRPr lang="en-US" sz="1000" dirty="0"/>
          </a:p>
        </p:txBody>
      </p:sp>
      <p:sp>
        <p:nvSpPr>
          <p:cNvPr id="3" name="Text 1"/>
          <p:cNvSpPr/>
          <p:nvPr/>
        </p:nvSpPr>
        <p:spPr>
          <a:xfrm>
            <a:off x="457200" y="868680"/>
            <a:ext cx="10972800" cy="1280160"/>
          </a:xfrm>
          <a:prstGeom prst="rect">
            <a:avLst/>
          </a:prstGeom>
          <a:noFill/>
          <a:ln/>
        </p:spPr>
        <p:txBody>
          <a:bodyPr wrap="square" rtlCol="0" anchor="ctr"/>
          <a:lstStyle/>
          <a:p>
            <a:pPr indent="0" marL="0">
              <a:lnSpc>
                <a:spcPct val="110000"/>
              </a:lnSpc>
              <a:buNone/>
            </a:pPr>
            <a:r>
              <a:rPr lang="en-US" sz="3000" b="1" dirty="0">
                <a:solidFill>
                  <a:srgbClr val="FFFFFF"/>
                </a:solidFill>
                <a:latin typeface="Georgia" pitchFamily="34" charset="0"/>
                <a:ea typeface="Georgia" pitchFamily="34" charset="-122"/>
                <a:cs typeface="Georgia" pitchFamily="34" charset="-120"/>
              </a:rPr>
              <a:t>18 millions de FCFA pour bâtir le standard</a:t>
            </a:r>
            <a:endParaRPr lang="en-US" sz="3000" dirty="0"/>
          </a:p>
          <a:p>
            <a:pPr indent="0" marL="0">
              <a:lnSpc>
                <a:spcPct val="110000"/>
              </a:lnSpc>
              <a:buNone/>
            </a:pPr>
            <a:r>
              <a:rPr lang="en-US" sz="3000" b="1" dirty="0">
                <a:solidFill>
                  <a:srgbClr val="FFFFFF"/>
                </a:solidFill>
                <a:latin typeface="Georgia" pitchFamily="34" charset="0"/>
                <a:ea typeface="Georgia" pitchFamily="34" charset="-122"/>
                <a:cs typeface="Georgia" pitchFamily="34" charset="-120"/>
              </a:rPr>
              <a:t>de la communication institutionnelle UEMOA.</a:t>
            </a:r>
            <a:endParaRPr lang="en-US" sz="3000" dirty="0"/>
          </a:p>
        </p:txBody>
      </p:sp>
      <p:sp>
        <p:nvSpPr>
          <p:cNvPr id="4" name="Text 2"/>
          <p:cNvSpPr/>
          <p:nvPr/>
        </p:nvSpPr>
        <p:spPr>
          <a:xfrm>
            <a:off x="457200" y="2468880"/>
            <a:ext cx="5486400" cy="365760"/>
          </a:xfrm>
          <a:prstGeom prst="rect">
            <a:avLst/>
          </a:prstGeom>
          <a:noFill/>
          <a:ln/>
        </p:spPr>
        <p:txBody>
          <a:bodyPr wrap="square" rtlCol="0" anchor="ctr"/>
          <a:lstStyle/>
          <a:p>
            <a:pPr indent="0" marL="0">
              <a:buNone/>
            </a:pPr>
            <a:r>
              <a:rPr lang="en-US" sz="1100" b="1" spc="300" kern="0" dirty="0">
                <a:solidFill>
                  <a:srgbClr val="E5B85C"/>
                </a:solidFill>
                <a:latin typeface="Calibri" pitchFamily="34" charset="0"/>
                <a:ea typeface="Calibri" pitchFamily="34" charset="-122"/>
                <a:cs typeface="Calibri" pitchFamily="34" charset="-120"/>
              </a:rPr>
              <a:t>ALLOCATION DES FONDS</a:t>
            </a:r>
            <a:endParaRPr lang="en-US" sz="1100" dirty="0"/>
          </a:p>
        </p:txBody>
      </p:sp>
      <p:sp>
        <p:nvSpPr>
          <p:cNvPr id="5" name="Shape 3"/>
          <p:cNvSpPr/>
          <p:nvPr/>
        </p:nvSpPr>
        <p:spPr>
          <a:xfrm>
            <a:off x="457200" y="2926080"/>
            <a:ext cx="5486400" cy="411480"/>
          </a:xfrm>
          <a:prstGeom prst="rect">
            <a:avLst/>
          </a:prstGeom>
          <a:solidFill>
            <a:srgbClr val="071A2E"/>
          </a:solidFill>
          <a:ln/>
        </p:spPr>
      </p:sp>
      <p:sp>
        <p:nvSpPr>
          <p:cNvPr id="6" name="Shape 4"/>
          <p:cNvSpPr/>
          <p:nvPr/>
        </p:nvSpPr>
        <p:spPr>
          <a:xfrm>
            <a:off x="457200" y="2926080"/>
            <a:ext cx="4828032" cy="411480"/>
          </a:xfrm>
          <a:prstGeom prst="rect">
            <a:avLst/>
          </a:prstGeom>
          <a:solidFill>
            <a:srgbClr val="B8862E"/>
          </a:solidFill>
          <a:ln/>
        </p:spPr>
      </p:sp>
      <p:sp>
        <p:nvSpPr>
          <p:cNvPr id="7" name="Text 5"/>
          <p:cNvSpPr/>
          <p:nvPr/>
        </p:nvSpPr>
        <p:spPr>
          <a:xfrm>
            <a:off x="548640" y="2926080"/>
            <a:ext cx="3657600" cy="4114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Développement plateforme MVP</a:t>
            </a:r>
            <a:endParaRPr lang="en-US" sz="1000" dirty="0"/>
          </a:p>
        </p:txBody>
      </p:sp>
      <p:sp>
        <p:nvSpPr>
          <p:cNvPr id="8" name="Text 6"/>
          <p:cNvSpPr/>
          <p:nvPr/>
        </p:nvSpPr>
        <p:spPr>
          <a:xfrm>
            <a:off x="4206240" y="2926080"/>
            <a:ext cx="1645920" cy="41148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8,0 M FCFA</a:t>
            </a:r>
            <a:endParaRPr lang="en-US" sz="1100" dirty="0"/>
          </a:p>
        </p:txBody>
      </p:sp>
      <p:sp>
        <p:nvSpPr>
          <p:cNvPr id="9" name="Shape 7"/>
          <p:cNvSpPr/>
          <p:nvPr/>
        </p:nvSpPr>
        <p:spPr>
          <a:xfrm>
            <a:off x="457200" y="3429000"/>
            <a:ext cx="5486400" cy="411480"/>
          </a:xfrm>
          <a:prstGeom prst="rect">
            <a:avLst/>
          </a:prstGeom>
          <a:solidFill>
            <a:srgbClr val="071A2E"/>
          </a:solidFill>
          <a:ln/>
        </p:spPr>
      </p:sp>
      <p:sp>
        <p:nvSpPr>
          <p:cNvPr id="10" name="Shape 8"/>
          <p:cNvSpPr/>
          <p:nvPr/>
        </p:nvSpPr>
        <p:spPr>
          <a:xfrm>
            <a:off x="457200" y="3429000"/>
            <a:ext cx="2743200" cy="411480"/>
          </a:xfrm>
          <a:prstGeom prst="rect">
            <a:avLst/>
          </a:prstGeom>
          <a:solidFill>
            <a:srgbClr val="B8862E"/>
          </a:solidFill>
          <a:ln/>
        </p:spPr>
      </p:sp>
      <p:sp>
        <p:nvSpPr>
          <p:cNvPr id="11" name="Text 9"/>
          <p:cNvSpPr/>
          <p:nvPr/>
        </p:nvSpPr>
        <p:spPr>
          <a:xfrm>
            <a:off x="548640" y="3429000"/>
            <a:ext cx="3657600" cy="4114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Fonds de roulement 6 mois</a:t>
            </a:r>
            <a:endParaRPr lang="en-US" sz="1000" dirty="0"/>
          </a:p>
        </p:txBody>
      </p:sp>
      <p:sp>
        <p:nvSpPr>
          <p:cNvPr id="12" name="Text 10"/>
          <p:cNvSpPr/>
          <p:nvPr/>
        </p:nvSpPr>
        <p:spPr>
          <a:xfrm>
            <a:off x="4206240" y="3429000"/>
            <a:ext cx="1645920" cy="41148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4,5 M FCFA</a:t>
            </a:r>
            <a:endParaRPr lang="en-US" sz="1100" dirty="0"/>
          </a:p>
        </p:txBody>
      </p:sp>
      <p:sp>
        <p:nvSpPr>
          <p:cNvPr id="13" name="Shape 11"/>
          <p:cNvSpPr/>
          <p:nvPr/>
        </p:nvSpPr>
        <p:spPr>
          <a:xfrm>
            <a:off x="457200" y="3931920"/>
            <a:ext cx="5486400" cy="411480"/>
          </a:xfrm>
          <a:prstGeom prst="rect">
            <a:avLst/>
          </a:prstGeom>
          <a:solidFill>
            <a:srgbClr val="071A2E"/>
          </a:solidFill>
          <a:ln/>
        </p:spPr>
      </p:sp>
      <p:sp>
        <p:nvSpPr>
          <p:cNvPr id="14" name="Shape 12"/>
          <p:cNvSpPr/>
          <p:nvPr/>
        </p:nvSpPr>
        <p:spPr>
          <a:xfrm>
            <a:off x="457200" y="3931920"/>
            <a:ext cx="1207008" cy="411480"/>
          </a:xfrm>
          <a:prstGeom prst="rect">
            <a:avLst/>
          </a:prstGeom>
          <a:solidFill>
            <a:srgbClr val="B8862E"/>
          </a:solidFill>
          <a:ln/>
        </p:spPr>
      </p:sp>
      <p:sp>
        <p:nvSpPr>
          <p:cNvPr id="15" name="Text 13"/>
          <p:cNvSpPr/>
          <p:nvPr/>
        </p:nvSpPr>
        <p:spPr>
          <a:xfrm>
            <a:off x="548640" y="3931920"/>
            <a:ext cx="3657600" cy="4114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Commercial et partenariats</a:t>
            </a:r>
            <a:endParaRPr lang="en-US" sz="1000" dirty="0"/>
          </a:p>
        </p:txBody>
      </p:sp>
      <p:sp>
        <p:nvSpPr>
          <p:cNvPr id="16" name="Text 14"/>
          <p:cNvSpPr/>
          <p:nvPr/>
        </p:nvSpPr>
        <p:spPr>
          <a:xfrm>
            <a:off x="4206240" y="3931920"/>
            <a:ext cx="1645920" cy="41148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2,0 M FCFA</a:t>
            </a:r>
            <a:endParaRPr lang="en-US" sz="1100" dirty="0"/>
          </a:p>
        </p:txBody>
      </p:sp>
      <p:sp>
        <p:nvSpPr>
          <p:cNvPr id="17" name="Shape 15"/>
          <p:cNvSpPr/>
          <p:nvPr/>
        </p:nvSpPr>
        <p:spPr>
          <a:xfrm>
            <a:off x="457200" y="4434840"/>
            <a:ext cx="5486400" cy="411480"/>
          </a:xfrm>
          <a:prstGeom prst="rect">
            <a:avLst/>
          </a:prstGeom>
          <a:solidFill>
            <a:srgbClr val="071A2E"/>
          </a:solidFill>
          <a:ln/>
        </p:spPr>
      </p:sp>
      <p:sp>
        <p:nvSpPr>
          <p:cNvPr id="18" name="Shape 16"/>
          <p:cNvSpPr/>
          <p:nvPr/>
        </p:nvSpPr>
        <p:spPr>
          <a:xfrm>
            <a:off x="457200" y="4434840"/>
            <a:ext cx="877824" cy="411480"/>
          </a:xfrm>
          <a:prstGeom prst="rect">
            <a:avLst/>
          </a:prstGeom>
          <a:solidFill>
            <a:srgbClr val="B8862E"/>
          </a:solidFill>
          <a:ln/>
        </p:spPr>
      </p:sp>
      <p:sp>
        <p:nvSpPr>
          <p:cNvPr id="19" name="Text 17"/>
          <p:cNvSpPr/>
          <p:nvPr/>
        </p:nvSpPr>
        <p:spPr>
          <a:xfrm>
            <a:off x="548640" y="4434840"/>
            <a:ext cx="3657600" cy="4114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Infrastructure 12 mois</a:t>
            </a:r>
            <a:endParaRPr lang="en-US" sz="1000" dirty="0"/>
          </a:p>
        </p:txBody>
      </p:sp>
      <p:sp>
        <p:nvSpPr>
          <p:cNvPr id="20" name="Text 18"/>
          <p:cNvSpPr/>
          <p:nvPr/>
        </p:nvSpPr>
        <p:spPr>
          <a:xfrm>
            <a:off x="4206240" y="4434840"/>
            <a:ext cx="1645920" cy="41148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1,5 M FCFA</a:t>
            </a:r>
            <a:endParaRPr lang="en-US" sz="1100" dirty="0"/>
          </a:p>
        </p:txBody>
      </p:sp>
      <p:sp>
        <p:nvSpPr>
          <p:cNvPr id="21" name="Shape 19"/>
          <p:cNvSpPr/>
          <p:nvPr/>
        </p:nvSpPr>
        <p:spPr>
          <a:xfrm>
            <a:off x="457200" y="4937760"/>
            <a:ext cx="5486400" cy="411480"/>
          </a:xfrm>
          <a:prstGeom prst="rect">
            <a:avLst/>
          </a:prstGeom>
          <a:solidFill>
            <a:srgbClr val="071A2E"/>
          </a:solidFill>
          <a:ln/>
        </p:spPr>
      </p:sp>
      <p:sp>
        <p:nvSpPr>
          <p:cNvPr id="22" name="Shape 20"/>
          <p:cNvSpPr/>
          <p:nvPr/>
        </p:nvSpPr>
        <p:spPr>
          <a:xfrm>
            <a:off x="457200" y="4937760"/>
            <a:ext cx="768096" cy="411480"/>
          </a:xfrm>
          <a:prstGeom prst="rect">
            <a:avLst/>
          </a:prstGeom>
          <a:solidFill>
            <a:srgbClr val="B8862E"/>
          </a:solidFill>
          <a:ln/>
        </p:spPr>
      </p:sp>
      <p:sp>
        <p:nvSpPr>
          <p:cNvPr id="23" name="Text 21"/>
          <p:cNvSpPr/>
          <p:nvPr/>
        </p:nvSpPr>
        <p:spPr>
          <a:xfrm>
            <a:off x="548640" y="4937760"/>
            <a:ext cx="3657600" cy="4114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Réserve stratégique</a:t>
            </a:r>
            <a:endParaRPr lang="en-US" sz="1000" dirty="0"/>
          </a:p>
        </p:txBody>
      </p:sp>
      <p:sp>
        <p:nvSpPr>
          <p:cNvPr id="24" name="Text 22"/>
          <p:cNvSpPr/>
          <p:nvPr/>
        </p:nvSpPr>
        <p:spPr>
          <a:xfrm>
            <a:off x="4206240" y="4937760"/>
            <a:ext cx="1645920" cy="41148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1,2 M FCFA</a:t>
            </a:r>
            <a:endParaRPr lang="en-US" sz="1100" dirty="0"/>
          </a:p>
        </p:txBody>
      </p:sp>
      <p:sp>
        <p:nvSpPr>
          <p:cNvPr id="25" name="Shape 23"/>
          <p:cNvSpPr/>
          <p:nvPr/>
        </p:nvSpPr>
        <p:spPr>
          <a:xfrm>
            <a:off x="457200" y="5440680"/>
            <a:ext cx="5486400" cy="411480"/>
          </a:xfrm>
          <a:prstGeom prst="rect">
            <a:avLst/>
          </a:prstGeom>
          <a:solidFill>
            <a:srgbClr val="071A2E"/>
          </a:solidFill>
          <a:ln/>
        </p:spPr>
      </p:sp>
      <p:sp>
        <p:nvSpPr>
          <p:cNvPr id="26" name="Shape 24"/>
          <p:cNvSpPr/>
          <p:nvPr/>
        </p:nvSpPr>
        <p:spPr>
          <a:xfrm>
            <a:off x="457200" y="5440680"/>
            <a:ext cx="548640" cy="411480"/>
          </a:xfrm>
          <a:prstGeom prst="rect">
            <a:avLst/>
          </a:prstGeom>
          <a:solidFill>
            <a:srgbClr val="B8862E"/>
          </a:solidFill>
          <a:ln/>
        </p:spPr>
      </p:sp>
      <p:sp>
        <p:nvSpPr>
          <p:cNvPr id="27" name="Text 25"/>
          <p:cNvSpPr/>
          <p:nvPr/>
        </p:nvSpPr>
        <p:spPr>
          <a:xfrm>
            <a:off x="548640" y="5440680"/>
            <a:ext cx="3657600" cy="4114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Constitution juridique</a:t>
            </a:r>
            <a:endParaRPr lang="en-US" sz="1000" dirty="0"/>
          </a:p>
        </p:txBody>
      </p:sp>
      <p:sp>
        <p:nvSpPr>
          <p:cNvPr id="28" name="Text 26"/>
          <p:cNvSpPr/>
          <p:nvPr/>
        </p:nvSpPr>
        <p:spPr>
          <a:xfrm>
            <a:off x="4206240" y="5440680"/>
            <a:ext cx="1645920" cy="41148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0,8 M FCFA</a:t>
            </a:r>
            <a:endParaRPr lang="en-US" sz="1100" dirty="0"/>
          </a:p>
        </p:txBody>
      </p:sp>
      <p:sp>
        <p:nvSpPr>
          <p:cNvPr id="29" name="Text 27"/>
          <p:cNvSpPr/>
          <p:nvPr/>
        </p:nvSpPr>
        <p:spPr>
          <a:xfrm>
            <a:off x="6400800" y="2468880"/>
            <a:ext cx="5486400" cy="365760"/>
          </a:xfrm>
          <a:prstGeom prst="rect">
            <a:avLst/>
          </a:prstGeom>
          <a:noFill/>
          <a:ln/>
        </p:spPr>
        <p:txBody>
          <a:bodyPr wrap="square" rtlCol="0" anchor="ctr"/>
          <a:lstStyle/>
          <a:p>
            <a:pPr indent="0" marL="0">
              <a:buNone/>
            </a:pPr>
            <a:r>
              <a:rPr lang="en-US" sz="1100" b="1" spc="300" kern="0" dirty="0">
                <a:solidFill>
                  <a:srgbClr val="E5B85C"/>
                </a:solidFill>
                <a:latin typeface="Calibri" pitchFamily="34" charset="0"/>
                <a:ea typeface="Calibri" pitchFamily="34" charset="-122"/>
                <a:cs typeface="Calibri" pitchFamily="34" charset="-120"/>
              </a:rPr>
              <a:t>SOURCES DE FINANCEMENT</a:t>
            </a:r>
            <a:endParaRPr lang="en-US" sz="1100" dirty="0"/>
          </a:p>
        </p:txBody>
      </p:sp>
      <p:sp>
        <p:nvSpPr>
          <p:cNvPr id="30" name="Shape 28"/>
          <p:cNvSpPr/>
          <p:nvPr/>
        </p:nvSpPr>
        <p:spPr>
          <a:xfrm>
            <a:off x="6400800" y="2926080"/>
            <a:ext cx="5303520" cy="502920"/>
          </a:xfrm>
          <a:prstGeom prst="rect">
            <a:avLst/>
          </a:prstGeom>
          <a:solidFill>
            <a:srgbClr val="071A2E"/>
          </a:solidFill>
          <a:ln/>
        </p:spPr>
      </p:sp>
      <p:sp>
        <p:nvSpPr>
          <p:cNvPr id="31" name="Text 29"/>
          <p:cNvSpPr/>
          <p:nvPr/>
        </p:nvSpPr>
        <p:spPr>
          <a:xfrm>
            <a:off x="6537960" y="2926080"/>
            <a:ext cx="36576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Apport fondateur + associé technique</a:t>
            </a:r>
            <a:endParaRPr lang="en-US" sz="1100" dirty="0"/>
          </a:p>
        </p:txBody>
      </p:sp>
      <p:sp>
        <p:nvSpPr>
          <p:cNvPr id="32" name="Text 30"/>
          <p:cNvSpPr/>
          <p:nvPr/>
        </p:nvSpPr>
        <p:spPr>
          <a:xfrm>
            <a:off x="10195560" y="2926080"/>
            <a:ext cx="1371600" cy="502920"/>
          </a:xfrm>
          <a:prstGeom prst="rect">
            <a:avLst/>
          </a:prstGeom>
          <a:noFill/>
          <a:ln/>
        </p:spPr>
        <p:txBody>
          <a:bodyPr wrap="square" rtlCol="0" anchor="ctr"/>
          <a:lstStyle/>
          <a:p>
            <a:pPr algn="r" indent="0" marL="0">
              <a:buNone/>
            </a:pPr>
            <a:r>
              <a:rPr lang="en-US" sz="1200" b="1" dirty="0">
                <a:solidFill>
                  <a:srgbClr val="E5B85C"/>
                </a:solidFill>
                <a:latin typeface="Calibri" pitchFamily="34" charset="0"/>
                <a:ea typeface="Calibri" pitchFamily="34" charset="-122"/>
                <a:cs typeface="Calibri" pitchFamily="34" charset="-120"/>
              </a:rPr>
              <a:t>5,5 M FCFA</a:t>
            </a:r>
            <a:endParaRPr lang="en-US" sz="1200" dirty="0"/>
          </a:p>
        </p:txBody>
      </p:sp>
      <p:sp>
        <p:nvSpPr>
          <p:cNvPr id="33" name="Shape 31"/>
          <p:cNvSpPr/>
          <p:nvPr/>
        </p:nvSpPr>
        <p:spPr>
          <a:xfrm>
            <a:off x="6400800" y="3566160"/>
            <a:ext cx="5303520" cy="502920"/>
          </a:xfrm>
          <a:prstGeom prst="rect">
            <a:avLst/>
          </a:prstGeom>
          <a:solidFill>
            <a:srgbClr val="071A2E"/>
          </a:solidFill>
          <a:ln/>
        </p:spPr>
      </p:sp>
      <p:sp>
        <p:nvSpPr>
          <p:cNvPr id="34" name="Text 32"/>
          <p:cNvSpPr/>
          <p:nvPr/>
        </p:nvSpPr>
        <p:spPr>
          <a:xfrm>
            <a:off x="6537960" y="3566160"/>
            <a:ext cx="36576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Investisseur(s) / business angel(s)</a:t>
            </a:r>
            <a:endParaRPr lang="en-US" sz="1100" dirty="0"/>
          </a:p>
        </p:txBody>
      </p:sp>
      <p:sp>
        <p:nvSpPr>
          <p:cNvPr id="35" name="Text 33"/>
          <p:cNvSpPr/>
          <p:nvPr/>
        </p:nvSpPr>
        <p:spPr>
          <a:xfrm>
            <a:off x="10195560" y="3566160"/>
            <a:ext cx="1371600" cy="502920"/>
          </a:xfrm>
          <a:prstGeom prst="rect">
            <a:avLst/>
          </a:prstGeom>
          <a:noFill/>
          <a:ln/>
        </p:spPr>
        <p:txBody>
          <a:bodyPr wrap="square" rtlCol="0" anchor="ctr"/>
          <a:lstStyle/>
          <a:p>
            <a:pPr algn="r" indent="0" marL="0">
              <a:buNone/>
            </a:pPr>
            <a:r>
              <a:rPr lang="en-US" sz="1200" b="1" dirty="0">
                <a:solidFill>
                  <a:srgbClr val="E5B85C"/>
                </a:solidFill>
                <a:latin typeface="Calibri" pitchFamily="34" charset="0"/>
                <a:ea typeface="Calibri" pitchFamily="34" charset="-122"/>
                <a:cs typeface="Calibri" pitchFamily="34" charset="-120"/>
              </a:rPr>
              <a:t>8,0 M FCFA</a:t>
            </a:r>
            <a:endParaRPr lang="en-US" sz="1200" dirty="0"/>
          </a:p>
        </p:txBody>
      </p:sp>
      <p:sp>
        <p:nvSpPr>
          <p:cNvPr id="36" name="Shape 34"/>
          <p:cNvSpPr/>
          <p:nvPr/>
        </p:nvSpPr>
        <p:spPr>
          <a:xfrm>
            <a:off x="6400800" y="4206240"/>
            <a:ext cx="5303520" cy="502920"/>
          </a:xfrm>
          <a:prstGeom prst="rect">
            <a:avLst/>
          </a:prstGeom>
          <a:solidFill>
            <a:srgbClr val="071A2E"/>
          </a:solidFill>
          <a:ln/>
        </p:spPr>
      </p:sp>
      <p:sp>
        <p:nvSpPr>
          <p:cNvPr id="37" name="Text 35"/>
          <p:cNvSpPr/>
          <p:nvPr/>
        </p:nvSpPr>
        <p:spPr>
          <a:xfrm>
            <a:off x="6537960" y="4206240"/>
            <a:ext cx="36576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Subvention ou prêt amorçage</a:t>
            </a:r>
            <a:endParaRPr lang="en-US" sz="1100" dirty="0"/>
          </a:p>
        </p:txBody>
      </p:sp>
      <p:sp>
        <p:nvSpPr>
          <p:cNvPr id="38" name="Text 36"/>
          <p:cNvSpPr/>
          <p:nvPr/>
        </p:nvSpPr>
        <p:spPr>
          <a:xfrm>
            <a:off x="10195560" y="4206240"/>
            <a:ext cx="1371600" cy="502920"/>
          </a:xfrm>
          <a:prstGeom prst="rect">
            <a:avLst/>
          </a:prstGeom>
          <a:noFill/>
          <a:ln/>
        </p:spPr>
        <p:txBody>
          <a:bodyPr wrap="square" rtlCol="0" anchor="ctr"/>
          <a:lstStyle/>
          <a:p>
            <a:pPr algn="r" indent="0" marL="0">
              <a:buNone/>
            </a:pPr>
            <a:r>
              <a:rPr lang="en-US" sz="1200" b="1" dirty="0">
                <a:solidFill>
                  <a:srgbClr val="E5B85C"/>
                </a:solidFill>
                <a:latin typeface="Calibri" pitchFamily="34" charset="0"/>
                <a:ea typeface="Calibri" pitchFamily="34" charset="-122"/>
                <a:cs typeface="Calibri" pitchFamily="34" charset="-120"/>
              </a:rPr>
              <a:t>4,5 M FCFA</a:t>
            </a:r>
            <a:endParaRPr lang="en-US" sz="1200" dirty="0"/>
          </a:p>
        </p:txBody>
      </p:sp>
      <p:sp>
        <p:nvSpPr>
          <p:cNvPr id="39" name="Shape 37"/>
          <p:cNvSpPr/>
          <p:nvPr/>
        </p:nvSpPr>
        <p:spPr>
          <a:xfrm>
            <a:off x="6400800" y="5212080"/>
            <a:ext cx="5303520" cy="1188720"/>
          </a:xfrm>
          <a:prstGeom prst="rect">
            <a:avLst/>
          </a:prstGeom>
          <a:solidFill>
            <a:srgbClr val="B8862E"/>
          </a:solidFill>
          <a:ln/>
        </p:spPr>
      </p:sp>
      <p:sp>
        <p:nvSpPr>
          <p:cNvPr id="40" name="Text 38"/>
          <p:cNvSpPr/>
          <p:nvPr/>
        </p:nvSpPr>
        <p:spPr>
          <a:xfrm>
            <a:off x="6583680" y="5303520"/>
            <a:ext cx="4937760" cy="365760"/>
          </a:xfrm>
          <a:prstGeom prst="rect">
            <a:avLst/>
          </a:prstGeom>
          <a:noFill/>
          <a:ln/>
        </p:spPr>
        <p:txBody>
          <a:bodyPr wrap="square" rtlCol="0" anchor="ctr"/>
          <a:lstStyle/>
          <a:p>
            <a:pPr indent="0" marL="0">
              <a:buNone/>
            </a:pPr>
            <a:r>
              <a:rPr lang="en-US" sz="1000" b="1" spc="200" kern="0" dirty="0">
                <a:solidFill>
                  <a:srgbClr val="0A2540"/>
                </a:solidFill>
                <a:latin typeface="Calibri" pitchFamily="34" charset="0"/>
                <a:ea typeface="Calibri" pitchFamily="34" charset="-122"/>
                <a:cs typeface="Calibri" pitchFamily="34" charset="-120"/>
              </a:rPr>
              <a:t>Multiple de retour projeté</a:t>
            </a:r>
            <a:endParaRPr lang="en-US" sz="1000" dirty="0"/>
          </a:p>
        </p:txBody>
      </p:sp>
      <p:sp>
        <p:nvSpPr>
          <p:cNvPr id="41" name="Text 39"/>
          <p:cNvSpPr/>
          <p:nvPr/>
        </p:nvSpPr>
        <p:spPr>
          <a:xfrm>
            <a:off x="6583680" y="5623560"/>
            <a:ext cx="4937760" cy="50292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 6,1</a:t>
            </a:r>
            <a:endParaRPr lang="en-US" sz="3200" dirty="0"/>
          </a:p>
        </p:txBody>
      </p:sp>
      <p:sp>
        <p:nvSpPr>
          <p:cNvPr id="42" name="Text 40"/>
          <p:cNvSpPr/>
          <p:nvPr/>
        </p:nvSpPr>
        <p:spPr>
          <a:xfrm>
            <a:off x="6583680" y="6126480"/>
            <a:ext cx="4937760" cy="274320"/>
          </a:xfrm>
          <a:prstGeom prst="rect">
            <a:avLst/>
          </a:prstGeom>
          <a:noFill/>
          <a:ln/>
        </p:spPr>
        <p:txBody>
          <a:bodyPr wrap="square" rtlCol="0" anchor="ctr"/>
          <a:lstStyle/>
          <a:p>
            <a:pPr indent="0" marL="0">
              <a:buNone/>
            </a:pPr>
            <a:r>
              <a:rPr lang="en-US" sz="900" i="1" dirty="0">
                <a:solidFill>
                  <a:srgbClr val="0A2540"/>
                </a:solidFill>
                <a:latin typeface="Calibri" pitchFamily="34" charset="0"/>
                <a:ea typeface="Calibri" pitchFamily="34" charset="-122"/>
                <a:cs typeface="Calibri" pitchFamily="34" charset="-120"/>
              </a:rPr>
              <a:t>sur valorisation An 3 estimée à 109 M FCFA</a:t>
            </a:r>
            <a:endParaRPr lang="en-US" sz="900" dirty="0"/>
          </a:p>
        </p:txBody>
      </p:sp>
      <p:sp>
        <p:nvSpPr>
          <p:cNvPr id="43" name="Text 41"/>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B8862E"/>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86400" cy="274320"/>
          </a:xfrm>
          <a:prstGeom prst="rect">
            <a:avLst/>
          </a:prstGeom>
          <a:noFill/>
          <a:ln/>
        </p:spPr>
        <p:txBody>
          <a:bodyPr wrap="square" rtlCol="0" anchor="ctr"/>
          <a:lstStyle/>
          <a:p>
            <a:pPr indent="0" marL="0">
              <a:buNone/>
            </a:pPr>
            <a:r>
              <a:rPr lang="en-US" sz="1000" b="1" spc="500" kern="0" dirty="0">
                <a:solidFill>
                  <a:srgbClr val="B8862E"/>
                </a:solidFill>
                <a:latin typeface="Calibri" pitchFamily="34" charset="0"/>
                <a:ea typeface="Calibri" pitchFamily="34" charset="-122"/>
                <a:cs typeface="Calibri" pitchFamily="34" charset="-120"/>
              </a:rPr>
              <a:t>16  ·  POURQUOI NOUS</a:t>
            </a:r>
            <a:endParaRPr lang="en-US" sz="1000" dirty="0"/>
          </a:p>
        </p:txBody>
      </p:sp>
      <p:sp>
        <p:nvSpPr>
          <p:cNvPr id="3" name="Text 1"/>
          <p:cNvSpPr/>
          <p:nvPr/>
        </p:nvSpPr>
        <p:spPr>
          <a:xfrm>
            <a:off x="457200" y="868680"/>
            <a:ext cx="10972800" cy="822960"/>
          </a:xfrm>
          <a:prstGeom prst="rect">
            <a:avLst/>
          </a:prstGeom>
          <a:noFill/>
          <a:ln/>
        </p:spPr>
        <p:txBody>
          <a:bodyPr wrap="square"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Cinq raisons d'investir maintenant.</a:t>
            </a:r>
            <a:endParaRPr lang="en-US" sz="3200" dirty="0"/>
          </a:p>
        </p:txBody>
      </p:sp>
      <p:sp>
        <p:nvSpPr>
          <p:cNvPr id="4" name="Shape 2"/>
          <p:cNvSpPr/>
          <p:nvPr/>
        </p:nvSpPr>
        <p:spPr>
          <a:xfrm>
            <a:off x="457200" y="2194560"/>
            <a:ext cx="3657600" cy="1828800"/>
          </a:xfrm>
          <a:prstGeom prst="rect">
            <a:avLst/>
          </a:prstGeom>
          <a:solidFill>
            <a:srgbClr val="F7F9FB"/>
          </a:solidFill>
          <a:ln/>
        </p:spPr>
      </p:sp>
      <p:sp>
        <p:nvSpPr>
          <p:cNvPr id="5" name="Text 3"/>
          <p:cNvSpPr/>
          <p:nvPr/>
        </p:nvSpPr>
        <p:spPr>
          <a:xfrm>
            <a:off x="685800" y="2331720"/>
            <a:ext cx="914400" cy="548640"/>
          </a:xfrm>
          <a:prstGeom prst="rect">
            <a:avLst/>
          </a:prstGeom>
          <a:noFill/>
          <a:ln/>
        </p:spPr>
        <p:txBody>
          <a:bodyPr wrap="square" rtlCol="0" anchor="ctr"/>
          <a:lstStyle/>
          <a:p>
            <a:pPr indent="0" marL="0">
              <a:buNone/>
            </a:pPr>
            <a:r>
              <a:rPr lang="en-US" sz="2800" b="1" dirty="0">
                <a:solidFill>
                  <a:srgbClr val="B8862E"/>
                </a:solidFill>
                <a:latin typeface="Georgia" pitchFamily="34" charset="0"/>
                <a:ea typeface="Georgia" pitchFamily="34" charset="-122"/>
                <a:cs typeface="Georgia" pitchFamily="34" charset="-120"/>
              </a:rPr>
              <a:t>01</a:t>
            </a:r>
            <a:endParaRPr lang="en-US" sz="2800" dirty="0"/>
          </a:p>
        </p:txBody>
      </p:sp>
      <p:sp>
        <p:nvSpPr>
          <p:cNvPr id="6" name="Text 4"/>
          <p:cNvSpPr/>
          <p:nvPr/>
        </p:nvSpPr>
        <p:spPr>
          <a:xfrm>
            <a:off x="685800" y="2880360"/>
            <a:ext cx="320040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Marché vierge</a:t>
            </a:r>
            <a:endParaRPr lang="en-US" sz="1400" dirty="0"/>
          </a:p>
        </p:txBody>
      </p:sp>
      <p:sp>
        <p:nvSpPr>
          <p:cNvPr id="7" name="Text 5"/>
          <p:cNvSpPr/>
          <p:nvPr/>
        </p:nvSpPr>
        <p:spPr>
          <a:xfrm>
            <a:off x="685800" y="3246120"/>
            <a:ext cx="3200400" cy="77724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Aucune plateforme structurée n'existe en CI sur ce segment. La fenêtre d'avantage compétitif est ouverte mais limitée.</a:t>
            </a:r>
            <a:endParaRPr lang="en-US" sz="1000" dirty="0"/>
          </a:p>
        </p:txBody>
      </p:sp>
      <p:sp>
        <p:nvSpPr>
          <p:cNvPr id="8" name="Shape 6"/>
          <p:cNvSpPr/>
          <p:nvPr/>
        </p:nvSpPr>
        <p:spPr>
          <a:xfrm>
            <a:off x="4297680" y="2194560"/>
            <a:ext cx="3657600" cy="1828800"/>
          </a:xfrm>
          <a:prstGeom prst="rect">
            <a:avLst/>
          </a:prstGeom>
          <a:solidFill>
            <a:srgbClr val="F7F9FB"/>
          </a:solidFill>
          <a:ln/>
        </p:spPr>
      </p:sp>
      <p:sp>
        <p:nvSpPr>
          <p:cNvPr id="9" name="Text 7"/>
          <p:cNvSpPr/>
          <p:nvPr/>
        </p:nvSpPr>
        <p:spPr>
          <a:xfrm>
            <a:off x="4526280" y="2331720"/>
            <a:ext cx="914400" cy="548640"/>
          </a:xfrm>
          <a:prstGeom prst="rect">
            <a:avLst/>
          </a:prstGeom>
          <a:noFill/>
          <a:ln/>
        </p:spPr>
        <p:txBody>
          <a:bodyPr wrap="square" rtlCol="0" anchor="ctr"/>
          <a:lstStyle/>
          <a:p>
            <a:pPr indent="0" marL="0">
              <a:buNone/>
            </a:pPr>
            <a:r>
              <a:rPr lang="en-US" sz="2800" b="1" dirty="0">
                <a:solidFill>
                  <a:srgbClr val="B8862E"/>
                </a:solidFill>
                <a:latin typeface="Georgia" pitchFamily="34" charset="0"/>
                <a:ea typeface="Georgia" pitchFamily="34" charset="-122"/>
                <a:cs typeface="Georgia" pitchFamily="34" charset="-120"/>
              </a:rPr>
              <a:t>02</a:t>
            </a:r>
            <a:endParaRPr lang="en-US" sz="2800" dirty="0"/>
          </a:p>
        </p:txBody>
      </p:sp>
      <p:sp>
        <p:nvSpPr>
          <p:cNvPr id="10" name="Text 8"/>
          <p:cNvSpPr/>
          <p:nvPr/>
        </p:nvSpPr>
        <p:spPr>
          <a:xfrm>
            <a:off x="4526280" y="2880360"/>
            <a:ext cx="320040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Verrou stratégique</a:t>
            </a:r>
            <a:endParaRPr lang="en-US" sz="1400" dirty="0"/>
          </a:p>
        </p:txBody>
      </p:sp>
      <p:sp>
        <p:nvSpPr>
          <p:cNvPr id="11" name="Text 9"/>
          <p:cNvSpPr/>
          <p:nvPr/>
        </p:nvSpPr>
        <p:spPr>
          <a:xfrm>
            <a:off x="4526280" y="3246120"/>
            <a:ext cx="3200400" cy="77724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Partenariat fondateur avec l'Association des Directeurs de Publications — incopiable et structurant.</a:t>
            </a:r>
            <a:endParaRPr lang="en-US" sz="1000" dirty="0"/>
          </a:p>
        </p:txBody>
      </p:sp>
      <p:sp>
        <p:nvSpPr>
          <p:cNvPr id="12" name="Shape 10"/>
          <p:cNvSpPr/>
          <p:nvPr/>
        </p:nvSpPr>
        <p:spPr>
          <a:xfrm>
            <a:off x="8138160" y="2194560"/>
            <a:ext cx="3657600" cy="1828800"/>
          </a:xfrm>
          <a:prstGeom prst="rect">
            <a:avLst/>
          </a:prstGeom>
          <a:solidFill>
            <a:srgbClr val="F7F9FB"/>
          </a:solidFill>
          <a:ln/>
        </p:spPr>
      </p:sp>
      <p:sp>
        <p:nvSpPr>
          <p:cNvPr id="13" name="Text 11"/>
          <p:cNvSpPr/>
          <p:nvPr/>
        </p:nvSpPr>
        <p:spPr>
          <a:xfrm>
            <a:off x="8366760" y="2331720"/>
            <a:ext cx="914400" cy="548640"/>
          </a:xfrm>
          <a:prstGeom prst="rect">
            <a:avLst/>
          </a:prstGeom>
          <a:noFill/>
          <a:ln/>
        </p:spPr>
        <p:txBody>
          <a:bodyPr wrap="square" rtlCol="0" anchor="ctr"/>
          <a:lstStyle/>
          <a:p>
            <a:pPr indent="0" marL="0">
              <a:buNone/>
            </a:pPr>
            <a:r>
              <a:rPr lang="en-US" sz="2800" b="1" dirty="0">
                <a:solidFill>
                  <a:srgbClr val="B8862E"/>
                </a:solidFill>
                <a:latin typeface="Georgia" pitchFamily="34" charset="0"/>
                <a:ea typeface="Georgia" pitchFamily="34" charset="-122"/>
                <a:cs typeface="Georgia" pitchFamily="34" charset="-120"/>
              </a:rPr>
              <a:t>03</a:t>
            </a:r>
            <a:endParaRPr lang="en-US" sz="2800" dirty="0"/>
          </a:p>
        </p:txBody>
      </p:sp>
      <p:sp>
        <p:nvSpPr>
          <p:cNvPr id="14" name="Text 12"/>
          <p:cNvSpPr/>
          <p:nvPr/>
        </p:nvSpPr>
        <p:spPr>
          <a:xfrm>
            <a:off x="8366760" y="2880360"/>
            <a:ext cx="320040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Innovation FCM</a:t>
            </a:r>
            <a:endParaRPr lang="en-US" sz="1400" dirty="0"/>
          </a:p>
        </p:txBody>
      </p:sp>
      <p:sp>
        <p:nvSpPr>
          <p:cNvPr id="15" name="Text 13"/>
          <p:cNvSpPr/>
          <p:nvPr/>
        </p:nvSpPr>
        <p:spPr>
          <a:xfrm>
            <a:off x="8366760" y="3246120"/>
            <a:ext cx="3200400" cy="77724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Premier mécanisme au monde adapté à l'écosystème médiatique ouest-africain. Brevet d'usage de fait.</a:t>
            </a:r>
            <a:endParaRPr lang="en-US" sz="1000" dirty="0"/>
          </a:p>
        </p:txBody>
      </p:sp>
      <p:sp>
        <p:nvSpPr>
          <p:cNvPr id="16" name="Shape 14"/>
          <p:cNvSpPr/>
          <p:nvPr/>
        </p:nvSpPr>
        <p:spPr>
          <a:xfrm>
            <a:off x="457200" y="4297680"/>
            <a:ext cx="3657600" cy="1828800"/>
          </a:xfrm>
          <a:prstGeom prst="rect">
            <a:avLst/>
          </a:prstGeom>
          <a:solidFill>
            <a:srgbClr val="F7F9FB"/>
          </a:solidFill>
          <a:ln/>
        </p:spPr>
      </p:sp>
      <p:sp>
        <p:nvSpPr>
          <p:cNvPr id="17" name="Text 15"/>
          <p:cNvSpPr/>
          <p:nvPr/>
        </p:nvSpPr>
        <p:spPr>
          <a:xfrm>
            <a:off x="685800" y="4434840"/>
            <a:ext cx="914400" cy="548640"/>
          </a:xfrm>
          <a:prstGeom prst="rect">
            <a:avLst/>
          </a:prstGeom>
          <a:noFill/>
          <a:ln/>
        </p:spPr>
        <p:txBody>
          <a:bodyPr wrap="square" rtlCol="0" anchor="ctr"/>
          <a:lstStyle/>
          <a:p>
            <a:pPr indent="0" marL="0">
              <a:buNone/>
            </a:pPr>
            <a:r>
              <a:rPr lang="en-US" sz="2800" b="1" dirty="0">
                <a:solidFill>
                  <a:srgbClr val="B8862E"/>
                </a:solidFill>
                <a:latin typeface="Georgia" pitchFamily="34" charset="0"/>
                <a:ea typeface="Georgia" pitchFamily="34" charset="-122"/>
                <a:cs typeface="Georgia" pitchFamily="34" charset="-120"/>
              </a:rPr>
              <a:t>04</a:t>
            </a:r>
            <a:endParaRPr lang="en-US" sz="2800" dirty="0"/>
          </a:p>
        </p:txBody>
      </p:sp>
      <p:sp>
        <p:nvSpPr>
          <p:cNvPr id="18" name="Text 16"/>
          <p:cNvSpPr/>
          <p:nvPr/>
        </p:nvSpPr>
        <p:spPr>
          <a:xfrm>
            <a:off x="685800" y="4983480"/>
            <a:ext cx="320040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Modèle rentable</a:t>
            </a:r>
            <a:endParaRPr lang="en-US" sz="1400" dirty="0"/>
          </a:p>
        </p:txBody>
      </p:sp>
      <p:sp>
        <p:nvSpPr>
          <p:cNvPr id="19" name="Text 17"/>
          <p:cNvSpPr/>
          <p:nvPr/>
        </p:nvSpPr>
        <p:spPr>
          <a:xfrm>
            <a:off x="685800" y="5349240"/>
            <a:ext cx="3200400" cy="77724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Cash-positive dès le 1er encaissement (abonnement annuel). Rentable dès l'année 1 sur hypothèses conservatrices.</a:t>
            </a:r>
            <a:endParaRPr lang="en-US" sz="1000" dirty="0"/>
          </a:p>
        </p:txBody>
      </p:sp>
      <p:sp>
        <p:nvSpPr>
          <p:cNvPr id="20" name="Shape 18"/>
          <p:cNvSpPr/>
          <p:nvPr/>
        </p:nvSpPr>
        <p:spPr>
          <a:xfrm>
            <a:off x="4297680" y="4297680"/>
            <a:ext cx="3657600" cy="1828800"/>
          </a:xfrm>
          <a:prstGeom prst="rect">
            <a:avLst/>
          </a:prstGeom>
          <a:solidFill>
            <a:srgbClr val="F7F9FB"/>
          </a:solidFill>
          <a:ln/>
        </p:spPr>
      </p:sp>
      <p:sp>
        <p:nvSpPr>
          <p:cNvPr id="21" name="Text 19"/>
          <p:cNvSpPr/>
          <p:nvPr/>
        </p:nvSpPr>
        <p:spPr>
          <a:xfrm>
            <a:off x="4526280" y="4434840"/>
            <a:ext cx="914400" cy="548640"/>
          </a:xfrm>
          <a:prstGeom prst="rect">
            <a:avLst/>
          </a:prstGeom>
          <a:noFill/>
          <a:ln/>
        </p:spPr>
        <p:txBody>
          <a:bodyPr wrap="square" rtlCol="0" anchor="ctr"/>
          <a:lstStyle/>
          <a:p>
            <a:pPr indent="0" marL="0">
              <a:buNone/>
            </a:pPr>
            <a:r>
              <a:rPr lang="en-US" sz="2800" b="1" dirty="0">
                <a:solidFill>
                  <a:srgbClr val="B8862E"/>
                </a:solidFill>
                <a:latin typeface="Georgia" pitchFamily="34" charset="0"/>
                <a:ea typeface="Georgia" pitchFamily="34" charset="-122"/>
                <a:cs typeface="Georgia" pitchFamily="34" charset="-120"/>
              </a:rPr>
              <a:t>05</a:t>
            </a:r>
            <a:endParaRPr lang="en-US" sz="2800" dirty="0"/>
          </a:p>
        </p:txBody>
      </p:sp>
      <p:sp>
        <p:nvSpPr>
          <p:cNvPr id="22" name="Text 20"/>
          <p:cNvSpPr/>
          <p:nvPr/>
        </p:nvSpPr>
        <p:spPr>
          <a:xfrm>
            <a:off x="4526280" y="4983480"/>
            <a:ext cx="320040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Scalabilité régionale</a:t>
            </a:r>
            <a:endParaRPr lang="en-US" sz="1400" dirty="0"/>
          </a:p>
        </p:txBody>
      </p:sp>
      <p:sp>
        <p:nvSpPr>
          <p:cNvPr id="23" name="Text 21"/>
          <p:cNvSpPr/>
          <p:nvPr/>
        </p:nvSpPr>
        <p:spPr>
          <a:xfrm>
            <a:off x="4526280" y="5349240"/>
            <a:ext cx="3200400" cy="777240"/>
          </a:xfrm>
          <a:prstGeom prst="rect">
            <a:avLst/>
          </a:prstGeom>
          <a:noFill/>
          <a:ln/>
        </p:spPr>
        <p:txBody>
          <a:bodyPr wrap="square" rtlCol="0" anchor="ctr"/>
          <a:lstStyle/>
          <a:p>
            <a:pPr indent="0" marL="0">
              <a:buNone/>
            </a:pPr>
            <a:r>
              <a:rPr lang="en-US" sz="1000" dirty="0">
                <a:solidFill>
                  <a:srgbClr val="5A6470"/>
                </a:solidFill>
                <a:latin typeface="Calibri" pitchFamily="34" charset="0"/>
                <a:ea typeface="Calibri" pitchFamily="34" charset="-122"/>
                <a:cs typeface="Calibri" pitchFamily="34" charset="-120"/>
              </a:rPr>
              <a:t>Marché initial CI = 221 M FCFA/an. Extension UEMOA = 1 884 communes adressables. Marque AFRICA à 24 mois.</a:t>
            </a:r>
            <a:endParaRPr lang="en-US" sz="1000" dirty="0"/>
          </a:p>
        </p:txBody>
      </p:sp>
      <p:sp>
        <p:nvSpPr>
          <p:cNvPr id="24" name="Text 22"/>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5A6470"/>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B8862E"/>
          </a:solidFill>
          <a:ln/>
        </p:spPr>
      </p:sp>
      <p:pic>
        <p:nvPicPr>
          <p:cNvPr id="3" name="Image 0" descr="/home/claude/heraldo/logo_embleme.png">    </p:cNvPr>
          <p:cNvPicPr>
            <a:picLocks noChangeAspect="1"/>
          </p:cNvPicPr>
          <p:nvPr/>
        </p:nvPicPr>
        <p:blipFill>
          <a:blip r:embed="rId1"/>
          <a:stretch>
            <a:fillRect/>
          </a:stretch>
        </p:blipFill>
        <p:spPr>
          <a:xfrm>
            <a:off x="1371600" y="548640"/>
            <a:ext cx="1188720" cy="1188720"/>
          </a:xfrm>
          <a:prstGeom prst="rect">
            <a:avLst/>
          </a:prstGeom>
        </p:spPr>
      </p:pic>
      <p:sp>
        <p:nvSpPr>
          <p:cNvPr id="4" name="Text 1"/>
          <p:cNvSpPr/>
          <p:nvPr/>
        </p:nvSpPr>
        <p:spPr>
          <a:xfrm>
            <a:off x="1371600" y="2103120"/>
            <a:ext cx="10058400" cy="1097280"/>
          </a:xfrm>
          <a:prstGeom prst="rect">
            <a:avLst/>
          </a:prstGeom>
          <a:noFill/>
          <a:ln/>
        </p:spPr>
        <p:txBody>
          <a:bodyPr wrap="square"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Rejoignez-nous.</a:t>
            </a:r>
            <a:endParaRPr lang="en-US" sz="6400" dirty="0"/>
          </a:p>
        </p:txBody>
      </p:sp>
      <p:sp>
        <p:nvSpPr>
          <p:cNvPr id="5" name="Text 2"/>
          <p:cNvSpPr/>
          <p:nvPr/>
        </p:nvSpPr>
        <p:spPr>
          <a:xfrm>
            <a:off x="1371600" y="3383280"/>
            <a:ext cx="10058400" cy="914400"/>
          </a:xfrm>
          <a:prstGeom prst="rect">
            <a:avLst/>
          </a:prstGeom>
          <a:noFill/>
          <a:ln/>
        </p:spPr>
        <p:txBody>
          <a:bodyPr wrap="square" rtlCol="0" anchor="ctr"/>
          <a:lstStyle/>
          <a:p>
            <a:pPr indent="0" marL="0">
              <a:lnSpc>
                <a:spcPct val="130000"/>
              </a:lnSpc>
              <a:buNone/>
            </a:pPr>
            <a:r>
              <a:rPr lang="en-US" sz="1800" i="1" dirty="0">
                <a:solidFill>
                  <a:srgbClr val="E5B85C"/>
                </a:solidFill>
                <a:latin typeface="Georgia" pitchFamily="34" charset="0"/>
                <a:ea typeface="Georgia" pitchFamily="34" charset="-122"/>
                <a:cs typeface="Georgia" pitchFamily="34" charset="-120"/>
              </a:rPr>
              <a:t>Devenez le partenaire qui aura vu, dès le premier jour,</a:t>
            </a:r>
            <a:endParaRPr lang="en-US" sz="1800" dirty="0"/>
          </a:p>
          <a:p>
            <a:pPr indent="0" marL="0">
              <a:lnSpc>
                <a:spcPct val="130000"/>
              </a:lnSpc>
              <a:buNone/>
            </a:pPr>
            <a:r>
              <a:rPr lang="en-US" sz="1800" i="1" dirty="0">
                <a:solidFill>
                  <a:srgbClr val="E5B85C"/>
                </a:solidFill>
                <a:latin typeface="Georgia" pitchFamily="34" charset="0"/>
                <a:ea typeface="Georgia" pitchFamily="34" charset="-122"/>
                <a:cs typeface="Georgia" pitchFamily="34" charset="-120"/>
              </a:rPr>
              <a:t>le standard de la communication ouest-africaine se construire.</a:t>
            </a:r>
            <a:endParaRPr lang="en-US" sz="1800" dirty="0"/>
          </a:p>
        </p:txBody>
      </p:sp>
      <p:sp>
        <p:nvSpPr>
          <p:cNvPr id="6" name="Shape 3"/>
          <p:cNvSpPr/>
          <p:nvPr/>
        </p:nvSpPr>
        <p:spPr>
          <a:xfrm>
            <a:off x="1371600" y="4572000"/>
            <a:ext cx="2743200" cy="0"/>
          </a:xfrm>
          <a:prstGeom prst="line">
            <a:avLst/>
          </a:prstGeom>
          <a:noFill/>
          <a:ln w="12700">
            <a:solidFill>
              <a:srgbClr val="B8862E"/>
            </a:solidFill>
            <a:prstDash val="solid"/>
          </a:ln>
        </p:spPr>
      </p:sp>
      <p:sp>
        <p:nvSpPr>
          <p:cNvPr id="7" name="Text 4"/>
          <p:cNvSpPr/>
          <p:nvPr/>
        </p:nvSpPr>
        <p:spPr>
          <a:xfrm>
            <a:off x="1371600" y="4846320"/>
            <a:ext cx="3657600" cy="365760"/>
          </a:xfrm>
          <a:prstGeom prst="rect">
            <a:avLst/>
          </a:prstGeom>
          <a:noFill/>
          <a:ln/>
        </p:spPr>
        <p:txBody>
          <a:bodyPr wrap="square" rtlCol="0" anchor="ctr"/>
          <a:lstStyle/>
          <a:p>
            <a:pPr indent="0" marL="0">
              <a:buNone/>
            </a:pPr>
            <a:r>
              <a:rPr lang="en-US" sz="1100" b="1" spc="400" kern="0" dirty="0">
                <a:solidFill>
                  <a:srgbClr val="B8862E"/>
                </a:solidFill>
                <a:latin typeface="Calibri" pitchFamily="34" charset="0"/>
                <a:ea typeface="Calibri" pitchFamily="34" charset="-122"/>
                <a:cs typeface="Calibri" pitchFamily="34" charset="-120"/>
              </a:rPr>
              <a:t>CONTACT</a:t>
            </a:r>
            <a:endParaRPr lang="en-US" sz="1100" dirty="0"/>
          </a:p>
        </p:txBody>
      </p:sp>
      <p:sp>
        <p:nvSpPr>
          <p:cNvPr id="8" name="Text 5"/>
          <p:cNvSpPr/>
          <p:nvPr/>
        </p:nvSpPr>
        <p:spPr>
          <a:xfrm>
            <a:off x="1371600" y="5212080"/>
            <a:ext cx="73152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[Prénom NOM] — Directeur Général</a:t>
            </a:r>
            <a:endParaRPr lang="en-US" sz="1400" dirty="0"/>
          </a:p>
        </p:txBody>
      </p:sp>
      <p:sp>
        <p:nvSpPr>
          <p:cNvPr id="9" name="Text 6"/>
          <p:cNvSpPr/>
          <p:nvPr/>
        </p:nvSpPr>
        <p:spPr>
          <a:xfrm>
            <a:off x="1371600" y="5577840"/>
            <a:ext cx="73152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dg@heraldo-press.ci  ·  +225 XX XX XX XX XX</a:t>
            </a:r>
            <a:endParaRPr lang="en-US" sz="1200" dirty="0"/>
          </a:p>
        </p:txBody>
      </p:sp>
      <p:sp>
        <p:nvSpPr>
          <p:cNvPr id="10" name="Text 7"/>
          <p:cNvSpPr/>
          <p:nvPr/>
        </p:nvSpPr>
        <p:spPr>
          <a:xfrm>
            <a:off x="1371600" y="5943600"/>
            <a:ext cx="9144000" cy="365760"/>
          </a:xfrm>
          <a:prstGeom prst="rect">
            <a:avLst/>
          </a:prstGeom>
          <a:noFill/>
          <a:ln/>
        </p:spPr>
        <p:txBody>
          <a:bodyPr wrap="square" rtlCol="0" anchor="ctr"/>
          <a:lstStyle/>
          <a:p>
            <a:pPr indent="0" marL="0">
              <a:buNone/>
            </a:pPr>
            <a:r>
              <a:rPr lang="en-US" sz="1100" dirty="0">
                <a:solidFill>
                  <a:srgbClr val="C5CDD5"/>
                </a:solidFill>
                <a:latin typeface="Calibri" pitchFamily="34" charset="0"/>
                <a:ea typeface="Calibri" pitchFamily="34" charset="-122"/>
                <a:cs typeface="Calibri" pitchFamily="34" charset="-120"/>
              </a:rPr>
              <a:t>www.heraldo-press.ci  ·  2 Plateaux Vallon, Cocody — Abidjan</a:t>
            </a:r>
            <a:endParaRPr lang="en-US" sz="1100" dirty="0"/>
          </a:p>
        </p:txBody>
      </p:sp>
      <p:sp>
        <p:nvSpPr>
          <p:cNvPr id="11" name="Text 8"/>
          <p:cNvSpPr/>
          <p:nvPr/>
        </p:nvSpPr>
        <p:spPr>
          <a:xfrm>
            <a:off x="1371600" y="6400800"/>
            <a:ext cx="10058400" cy="365760"/>
          </a:xfrm>
          <a:prstGeom prst="rect">
            <a:avLst/>
          </a:prstGeom>
          <a:noFill/>
          <a:ln/>
        </p:spPr>
        <p:txBody>
          <a:bodyPr wrap="square" rtlCol="0" anchor="ctr"/>
          <a:lstStyle/>
          <a:p>
            <a:pPr indent="0" marL="0">
              <a:buNone/>
            </a:pPr>
            <a:r>
              <a:rPr lang="en-US" sz="1100" i="1" dirty="0">
                <a:solidFill>
                  <a:srgbClr val="E5B85C"/>
                </a:solidFill>
                <a:latin typeface="Calibri" pitchFamily="34" charset="0"/>
                <a:ea typeface="Calibri" pitchFamily="34" charset="-122"/>
                <a:cs typeface="Calibri" pitchFamily="34" charset="-120"/>
              </a:rPr>
              <a:t>« Votre message, notre mission. »</a:t>
            </a:r>
            <a:endParaRPr lang="en-US" sz="1100" dirty="0"/>
          </a:p>
        </p:txBody>
      </p:sp>
      <p:sp>
        <p:nvSpPr>
          <p:cNvPr id="12" name="Text 9"/>
          <p:cNvSpPr/>
          <p:nvPr/>
        </p:nvSpPr>
        <p:spPr>
          <a:xfrm>
            <a:off x="11247120" y="6400800"/>
            <a:ext cx="822960" cy="274320"/>
          </a:xfrm>
          <a:prstGeom prst="rect">
            <a:avLst/>
          </a:prstGeom>
          <a:noFill/>
          <a:ln/>
        </p:spPr>
        <p:txBody>
          <a:bodyPr wrap="square" rtlCol="0" anchor="ctr"/>
          <a:lstStyle/>
          <a:p>
            <a:pPr algn="r" indent="0" marL="0">
              <a:buNone/>
            </a:pPr>
            <a:r>
              <a:rPr lang="en-US" sz="900" dirty="0">
                <a:solidFill>
                  <a:srgbClr val="B8862E"/>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HERALDO PRESS - Pitch Deck Investisseurs</dc:title>
  <dc:subject>PptxGenJS Presentation</dc:subject>
  <dc:creator>HERALDO PRESS</dc:creator>
  <cp:lastModifiedBy>HERALDO PRESS</cp:lastModifiedBy>
  <cp:revision>1</cp:revision>
  <dcterms:created xsi:type="dcterms:W3CDTF">2026-04-13T17:36:19Z</dcterms:created>
  <dcterms:modified xsi:type="dcterms:W3CDTF">2026-04-13T17:36:19Z</dcterms:modified>
</cp:coreProperties>
</file>